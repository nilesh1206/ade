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39" r:id="rId18"/>
    <p:sldId id="272" r:id="rId19"/>
    <p:sldId id="273" r:id="rId20"/>
    <p:sldId id="274" r:id="rId21"/>
    <p:sldId id="341" r:id="rId22"/>
    <p:sldId id="342" r:id="rId23"/>
    <p:sldId id="34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45" r:id="rId40"/>
    <p:sldId id="346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47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9F7BA-4EF1-4F2C-A186-B9AFEDEEE2B8}" type="datetimeFigureOut">
              <a:rPr lang="en-US" smtClean="0"/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3F0E2-B144-4601-9CBB-20E5EFD4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9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8050" y="2301062"/>
            <a:ext cx="2247900" cy="788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7949" y="687231"/>
            <a:ext cx="7911423" cy="5612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5902" y="26923"/>
            <a:ext cx="409219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712" y="3257486"/>
            <a:ext cx="7205980" cy="301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7861" y="6273190"/>
            <a:ext cx="22085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Courtesy: R. </a:t>
            </a:r>
            <a:r>
              <a:rPr sz="1400" spc="-90" dirty="0">
                <a:latin typeface="Arial"/>
                <a:cs typeface="Arial"/>
              </a:rPr>
              <a:t>P.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Jain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(Modern Digital</a:t>
            </a:r>
            <a:r>
              <a:rPr sz="1400" spc="-1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Electronics)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8341" y="628167"/>
            <a:ext cx="174434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20100"/>
              </a:lnSpc>
              <a:spcBef>
                <a:spcPts val="100"/>
              </a:spcBef>
            </a:pPr>
            <a:r>
              <a:rPr spc="-5" dirty="0"/>
              <a:t>An</a:t>
            </a:r>
            <a:r>
              <a:rPr spc="-20" dirty="0"/>
              <a:t>a</a:t>
            </a:r>
            <a:r>
              <a:rPr spc="-5" dirty="0"/>
              <a:t>log  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5736" y="2214498"/>
            <a:ext cx="5326380" cy="341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Arial"/>
                <a:cs typeface="Arial"/>
              </a:rPr>
              <a:t>Digital</a:t>
            </a:r>
            <a:r>
              <a:rPr sz="4000" b="1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Electronics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0">
              <a:latin typeface="Arial"/>
              <a:cs typeface="Arial"/>
            </a:endParaRPr>
          </a:p>
          <a:p>
            <a:pPr marL="12700" marR="5080" algn="ctr">
              <a:lnSpc>
                <a:spcPct val="120000"/>
              </a:lnSpc>
              <a:spcBef>
                <a:spcPts val="5"/>
              </a:spcBef>
            </a:pPr>
            <a:r>
              <a:rPr sz="2800" b="1" spc="-5" dirty="0">
                <a:latin typeface="Arial"/>
                <a:cs typeface="Arial"/>
              </a:rPr>
              <a:t>(Second </a:t>
            </a:r>
            <a:r>
              <a:rPr sz="2800" b="1" spc="-45" dirty="0">
                <a:latin typeface="Arial"/>
                <a:cs typeface="Arial"/>
              </a:rPr>
              <a:t>Year BTech </a:t>
            </a:r>
            <a:r>
              <a:rPr sz="2800" b="1" spc="-5" dirty="0">
                <a:latin typeface="Arial"/>
                <a:cs typeface="Arial"/>
              </a:rPr>
              <a:t>Computer)  (2019-20)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latin typeface="Arial"/>
                <a:cs typeface="Arial"/>
              </a:rPr>
              <a:t>(Faculty: </a:t>
            </a:r>
            <a:r>
              <a:rPr sz="2800" b="1" spc="-55" dirty="0">
                <a:latin typeface="Arial"/>
                <a:cs typeface="Arial"/>
              </a:rPr>
              <a:t>Mr. </a:t>
            </a:r>
            <a:r>
              <a:rPr sz="2800" b="1" spc="-160" dirty="0">
                <a:latin typeface="Arial"/>
                <a:cs typeface="Arial"/>
              </a:rPr>
              <a:t>Y. </a:t>
            </a:r>
            <a:r>
              <a:rPr sz="2800" b="1" spc="-5" dirty="0">
                <a:latin typeface="Arial"/>
                <a:cs typeface="Arial"/>
              </a:rPr>
              <a:t>K.</a:t>
            </a:r>
            <a:r>
              <a:rPr sz="2800" b="1" spc="204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Sharma)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7550" y="6273190"/>
            <a:ext cx="26295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Courtesy: R. </a:t>
            </a:r>
            <a:r>
              <a:rPr sz="1400" spc="-90" dirty="0">
                <a:latin typeface="Arial"/>
                <a:cs typeface="Arial"/>
              </a:rPr>
              <a:t>P. </a:t>
            </a:r>
            <a:r>
              <a:rPr sz="1400" dirty="0">
                <a:latin typeface="Arial"/>
                <a:cs typeface="Arial"/>
              </a:rPr>
              <a:t>Jain &amp; J. S.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Katre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UNIT-</a:t>
            </a:r>
            <a:r>
              <a:rPr spc="-105" dirty="0"/>
              <a:t> </a:t>
            </a:r>
            <a:r>
              <a:rPr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31770" y="3831412"/>
            <a:ext cx="36817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/>
                <a:cs typeface="Arial"/>
              </a:rPr>
              <a:t>Sequential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Logic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83234"/>
            <a:ext cx="4499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Sequential</a:t>
            </a:r>
            <a:r>
              <a:rPr sz="4400" spc="-55" dirty="0"/>
              <a:t> </a:t>
            </a:r>
            <a:r>
              <a:rPr sz="4400" spc="-5" dirty="0"/>
              <a:t>Logic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44500" y="1621663"/>
            <a:ext cx="8317230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b="1" spc="-5" dirty="0">
                <a:latin typeface="Arial"/>
                <a:cs typeface="Arial"/>
              </a:rPr>
              <a:t>Flip-flop: </a:t>
            </a:r>
            <a:r>
              <a:rPr sz="3200" dirty="0">
                <a:latin typeface="Arial"/>
                <a:cs typeface="Arial"/>
              </a:rPr>
              <a:t>SR, JK, D, </a:t>
            </a:r>
            <a:r>
              <a:rPr sz="3200" spc="-5" dirty="0">
                <a:latin typeface="Arial"/>
                <a:cs typeface="Arial"/>
              </a:rPr>
              <a:t>T; Preset </a:t>
            </a:r>
            <a:r>
              <a:rPr sz="3200" dirty="0">
                <a:latin typeface="Arial"/>
                <a:cs typeface="Arial"/>
              </a:rPr>
              <a:t>&amp; </a:t>
            </a:r>
            <a:r>
              <a:rPr sz="3200" spc="-5" dirty="0">
                <a:latin typeface="Arial"/>
                <a:cs typeface="Arial"/>
              </a:rPr>
              <a:t>Clear,  </a:t>
            </a:r>
            <a:r>
              <a:rPr sz="3200" dirty="0">
                <a:latin typeface="Arial"/>
                <a:cs typeface="Arial"/>
              </a:rPr>
              <a:t>Master </a:t>
            </a:r>
            <a:r>
              <a:rPr sz="3200" spc="-5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Slave Flip Flops, </a:t>
            </a:r>
            <a:r>
              <a:rPr sz="3200" spc="-5" dirty="0">
                <a:latin typeface="Arial"/>
                <a:cs typeface="Arial"/>
              </a:rPr>
              <a:t>Truth Tables  and Excitation tables, Conversion </a:t>
            </a:r>
            <a:r>
              <a:rPr sz="3200" dirty="0">
                <a:latin typeface="Arial"/>
                <a:cs typeface="Arial"/>
              </a:rPr>
              <a:t>from </a:t>
            </a:r>
            <a:r>
              <a:rPr sz="3200" spc="-10" dirty="0">
                <a:latin typeface="Arial"/>
                <a:cs typeface="Arial"/>
              </a:rPr>
              <a:t>one  </a:t>
            </a:r>
            <a:r>
              <a:rPr sz="3200" dirty="0">
                <a:latin typeface="Arial"/>
                <a:cs typeface="Arial"/>
              </a:rPr>
              <a:t>type </a:t>
            </a:r>
            <a:r>
              <a:rPr sz="3200" spc="-5" dirty="0">
                <a:latin typeface="Arial"/>
                <a:cs typeface="Arial"/>
              </a:rPr>
              <a:t>to another </a:t>
            </a:r>
            <a:r>
              <a:rPr sz="3200" dirty="0">
                <a:latin typeface="Arial"/>
                <a:cs typeface="Arial"/>
              </a:rPr>
              <a:t>type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dirty="0">
                <a:latin typeface="Arial"/>
                <a:cs typeface="Arial"/>
              </a:rPr>
              <a:t>Flip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Flop.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"/>
            </a:pPr>
            <a:endParaRPr sz="465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3200" b="1" spc="-5" dirty="0">
                <a:latin typeface="Arial"/>
                <a:cs typeface="Arial"/>
              </a:rPr>
              <a:t>Registers: </a:t>
            </a:r>
            <a:r>
              <a:rPr sz="3200" spc="-5" dirty="0">
                <a:latin typeface="Arial"/>
                <a:cs typeface="Arial"/>
              </a:rPr>
              <a:t>Buffer register, shift register  </a:t>
            </a:r>
            <a:r>
              <a:rPr sz="3200" dirty="0">
                <a:latin typeface="Arial"/>
                <a:cs typeface="Arial"/>
              </a:rPr>
              <a:t>(SISO, SIPO, PISO &amp; PIPO), </a:t>
            </a:r>
            <a:r>
              <a:rPr sz="3200" spc="-5" dirty="0">
                <a:latin typeface="Arial"/>
                <a:cs typeface="Arial"/>
              </a:rPr>
              <a:t>Applications  of </a:t>
            </a:r>
            <a:r>
              <a:rPr sz="3200" dirty="0">
                <a:latin typeface="Arial"/>
                <a:cs typeface="Arial"/>
              </a:rPr>
              <a:t>shift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registers.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063" y="1090929"/>
            <a:ext cx="8853170" cy="5210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/>
                <a:cs typeface="Arial"/>
              </a:rPr>
              <a:t>Introduction: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Arial"/>
              <a:cs typeface="Arial"/>
            </a:endParaRPr>
          </a:p>
          <a:p>
            <a:pPr marL="425450" indent="-41338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Timing </a:t>
            </a:r>
            <a:r>
              <a:rPr sz="2000" b="1" dirty="0">
                <a:latin typeface="Arial"/>
                <a:cs typeface="Arial"/>
              </a:rPr>
              <a:t>parameter comes into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picture.</a:t>
            </a:r>
            <a:endParaRPr sz="2000">
              <a:latin typeface="Arial"/>
              <a:cs typeface="Arial"/>
            </a:endParaRPr>
          </a:p>
          <a:p>
            <a:pPr marL="431800" marR="463550" indent="-419734">
              <a:lnSpc>
                <a:spcPct val="120000"/>
              </a:lnSpc>
              <a:buFont typeface="Wingdings"/>
              <a:buChar char=""/>
              <a:tabLst>
                <a:tab pos="425450" algn="l"/>
                <a:tab pos="426084" algn="l"/>
              </a:tabLst>
            </a:pPr>
            <a:r>
              <a:rPr sz="2000" b="1" dirty="0">
                <a:latin typeface="Arial"/>
                <a:cs typeface="Arial"/>
              </a:rPr>
              <a:t>Output depends on present time inputs, the </a:t>
            </a:r>
            <a:r>
              <a:rPr sz="2000" b="1" spc="-5" dirty="0">
                <a:latin typeface="Arial"/>
                <a:cs typeface="Arial"/>
              </a:rPr>
              <a:t>previous </a:t>
            </a:r>
            <a:r>
              <a:rPr sz="2000" b="1" dirty="0">
                <a:latin typeface="Arial"/>
                <a:cs typeface="Arial"/>
              </a:rPr>
              <a:t>output &amp;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  sequence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which the inputs are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applied.</a:t>
            </a:r>
            <a:endParaRPr sz="2000">
              <a:latin typeface="Arial"/>
              <a:cs typeface="Arial"/>
            </a:endParaRPr>
          </a:p>
          <a:p>
            <a:pPr marL="425450" indent="-413384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425450" algn="l"/>
                <a:tab pos="426084" algn="l"/>
              </a:tabLst>
            </a:pPr>
            <a:r>
              <a:rPr sz="2000" b="1" dirty="0">
                <a:latin typeface="Arial"/>
                <a:cs typeface="Arial"/>
              </a:rPr>
              <a:t>To store a </a:t>
            </a:r>
            <a:r>
              <a:rPr sz="2000" b="1" spc="-5" dirty="0">
                <a:latin typeface="Arial"/>
                <a:cs typeface="Arial"/>
              </a:rPr>
              <a:t>previous </a:t>
            </a:r>
            <a:r>
              <a:rPr sz="2000" b="1" dirty="0">
                <a:latin typeface="Arial"/>
                <a:cs typeface="Arial"/>
              </a:rPr>
              <a:t>input or output, a memory element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required.</a:t>
            </a:r>
            <a:endParaRPr sz="2000">
              <a:latin typeface="Arial"/>
              <a:cs typeface="Arial"/>
            </a:endParaRPr>
          </a:p>
          <a:p>
            <a:pPr marL="431800" marR="5080" indent="-419734">
              <a:lnSpc>
                <a:spcPct val="120000"/>
              </a:lnSpc>
              <a:buFont typeface="Wingdings"/>
              <a:buChar char="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data stored </a:t>
            </a:r>
            <a:r>
              <a:rPr sz="2000" b="1" spc="-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the memory element at any </a:t>
            </a:r>
            <a:r>
              <a:rPr sz="2000" b="1" spc="-5" dirty="0">
                <a:latin typeface="Arial"/>
                <a:cs typeface="Arial"/>
              </a:rPr>
              <a:t>given </a:t>
            </a:r>
            <a:r>
              <a:rPr sz="2000" b="1" dirty="0">
                <a:latin typeface="Arial"/>
                <a:cs typeface="Arial"/>
              </a:rPr>
              <a:t>instant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time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called as the present state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sequential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circuit.</a:t>
            </a:r>
            <a:endParaRPr sz="2000">
              <a:latin typeface="Arial"/>
              <a:cs typeface="Arial"/>
            </a:endParaRPr>
          </a:p>
          <a:p>
            <a:pPr marL="425450" indent="-413384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425450" algn="l"/>
                <a:tab pos="426084" algn="l"/>
              </a:tabLst>
            </a:pPr>
            <a:r>
              <a:rPr sz="2000" b="1" dirty="0">
                <a:latin typeface="Arial"/>
                <a:cs typeface="Arial"/>
              </a:rPr>
              <a:t>Combinational circuit operates on the external inputs and the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present</a:t>
            </a:r>
            <a:endParaRPr sz="2000">
              <a:latin typeface="Arial"/>
              <a:cs typeface="Arial"/>
            </a:endParaRPr>
          </a:p>
          <a:p>
            <a:pPr marL="431800" marR="132080" algn="just">
              <a:lnSpc>
                <a:spcPct val="12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state to produce </a:t>
            </a:r>
            <a:r>
              <a:rPr sz="2000" b="1" spc="-5" dirty="0">
                <a:latin typeface="Arial"/>
                <a:cs typeface="Arial"/>
              </a:rPr>
              <a:t>new </a:t>
            </a:r>
            <a:r>
              <a:rPr sz="2000" b="1" dirty="0">
                <a:latin typeface="Arial"/>
                <a:cs typeface="Arial"/>
              </a:rPr>
              <a:t>outputs. Some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these </a:t>
            </a:r>
            <a:r>
              <a:rPr sz="2000" b="1" spc="-5" dirty="0">
                <a:latin typeface="Arial"/>
                <a:cs typeface="Arial"/>
              </a:rPr>
              <a:t>new </a:t>
            </a:r>
            <a:r>
              <a:rPr sz="2000" b="1" dirty="0">
                <a:latin typeface="Arial"/>
                <a:cs typeface="Arial"/>
              </a:rPr>
              <a:t>outputs are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stored 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the memory element and called as the next state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sequential  circuit.</a:t>
            </a:r>
            <a:endParaRPr sz="2000">
              <a:latin typeface="Arial"/>
              <a:cs typeface="Arial"/>
            </a:endParaRPr>
          </a:p>
          <a:p>
            <a:pPr marL="425450" indent="-413384" algn="just">
              <a:lnSpc>
                <a:spcPct val="100000"/>
              </a:lnSpc>
              <a:spcBef>
                <a:spcPts val="475"/>
              </a:spcBef>
              <a:buFont typeface="Wingdings"/>
              <a:buChar char=""/>
              <a:tabLst>
                <a:tab pos="426084" algn="l"/>
              </a:tabLst>
            </a:pPr>
            <a:r>
              <a:rPr sz="2000" b="1" dirty="0">
                <a:latin typeface="Arial"/>
                <a:cs typeface="Arial"/>
              </a:rPr>
              <a:t>Memory element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the most important part of sequential circuits</a:t>
            </a:r>
            <a:r>
              <a:rPr sz="2000" b="1" spc="-2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431800" algn="just">
              <a:lnSpc>
                <a:spcPct val="100000"/>
              </a:lnSpc>
              <a:spcBef>
                <a:spcPts val="484"/>
              </a:spcBef>
            </a:pP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 flip flop (FF). </a:t>
            </a:r>
            <a:r>
              <a:rPr sz="2000" b="1" spc="-5" dirty="0">
                <a:latin typeface="Arial"/>
                <a:cs typeface="Arial"/>
              </a:rPr>
              <a:t>It is </a:t>
            </a:r>
            <a:r>
              <a:rPr sz="2000" b="1" dirty="0">
                <a:latin typeface="Arial"/>
                <a:cs typeface="Arial"/>
              </a:rPr>
              <a:t>the basic memory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element.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727303"/>
            <a:ext cx="8760460" cy="28879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Clock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Signal: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is timing signal. Every </a:t>
            </a:r>
            <a:r>
              <a:rPr sz="2000" b="1" dirty="0">
                <a:latin typeface="Arial"/>
                <a:cs typeface="Arial"/>
              </a:rPr>
              <a:t>sequential </a:t>
            </a:r>
            <a:r>
              <a:rPr sz="2000" b="1" spc="-5" dirty="0">
                <a:latin typeface="Arial"/>
                <a:cs typeface="Arial"/>
              </a:rPr>
              <a:t>signal </a:t>
            </a:r>
            <a:r>
              <a:rPr sz="2000" b="1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have </a:t>
            </a:r>
            <a:r>
              <a:rPr sz="2000" b="1" dirty="0">
                <a:latin typeface="Arial"/>
                <a:cs typeface="Arial"/>
              </a:rPr>
              <a:t>this </a:t>
            </a:r>
            <a:r>
              <a:rPr sz="2000" b="1" spc="-5" dirty="0">
                <a:latin typeface="Arial"/>
                <a:cs typeface="Arial"/>
              </a:rPr>
              <a:t>timing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signal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applied.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is </a:t>
            </a:r>
            <a:r>
              <a:rPr sz="2000" b="1" dirty="0">
                <a:latin typeface="Arial"/>
                <a:cs typeface="Arial"/>
              </a:rPr>
              <a:t>rectangular signal, </a:t>
            </a:r>
            <a:r>
              <a:rPr sz="2000" b="1" spc="5" dirty="0">
                <a:latin typeface="Arial"/>
                <a:cs typeface="Arial"/>
              </a:rPr>
              <a:t>with </a:t>
            </a:r>
            <a:r>
              <a:rPr sz="2000" b="1" dirty="0">
                <a:latin typeface="Arial"/>
                <a:cs typeface="Arial"/>
              </a:rPr>
              <a:t>a duty </a:t>
            </a:r>
            <a:r>
              <a:rPr sz="2000" b="1" spc="-10" dirty="0">
                <a:latin typeface="Arial"/>
                <a:cs typeface="Arial"/>
              </a:rPr>
              <a:t>cycle </a:t>
            </a:r>
            <a:r>
              <a:rPr sz="2000" b="1" dirty="0">
                <a:latin typeface="Arial"/>
                <a:cs typeface="Arial"/>
              </a:rPr>
              <a:t>equal to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50%.</a:t>
            </a:r>
            <a:endParaRPr sz="20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Clock </a:t>
            </a:r>
            <a:r>
              <a:rPr sz="2000" b="1" spc="-5" dirty="0">
                <a:latin typeface="Arial"/>
                <a:cs typeface="Arial"/>
              </a:rPr>
              <a:t>signal </a:t>
            </a:r>
            <a:r>
              <a:rPr sz="2000" b="1" dirty="0">
                <a:latin typeface="Arial"/>
                <a:cs typeface="Arial"/>
              </a:rPr>
              <a:t>repeats </a:t>
            </a:r>
            <a:r>
              <a:rPr sz="2000" b="1" spc="-5" dirty="0">
                <a:latin typeface="Arial"/>
                <a:cs typeface="Arial"/>
              </a:rPr>
              <a:t>itself after every </a:t>
            </a:r>
            <a:r>
              <a:rPr sz="2000" b="1" dirty="0">
                <a:latin typeface="Arial"/>
                <a:cs typeface="Arial"/>
              </a:rPr>
              <a:t>T seconds. Hence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clock  frequency </a:t>
            </a: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b="1" dirty="0">
                <a:latin typeface="Arial"/>
                <a:cs typeface="Arial"/>
              </a:rPr>
              <a:t>f = 1 /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2413000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latin typeface="Arial"/>
                <a:cs typeface="Arial"/>
              </a:rPr>
              <a:t>High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6562" y="3628644"/>
            <a:ext cx="7239000" cy="1633855"/>
            <a:chOff x="686562" y="3628644"/>
            <a:chExt cx="7239000" cy="1633855"/>
          </a:xfrm>
        </p:grpSpPr>
        <p:sp>
          <p:nvSpPr>
            <p:cNvPr id="5" name="object 5"/>
            <p:cNvSpPr/>
            <p:nvPr/>
          </p:nvSpPr>
          <p:spPr>
            <a:xfrm>
              <a:off x="686562" y="3643122"/>
              <a:ext cx="7239000" cy="1234440"/>
            </a:xfrm>
            <a:custGeom>
              <a:avLst/>
              <a:gdLst/>
              <a:ahLst/>
              <a:cxnLst/>
              <a:rect l="l" t="t" r="r" b="b"/>
              <a:pathLst>
                <a:path w="7239000" h="1234439">
                  <a:moveTo>
                    <a:pt x="0" y="1234439"/>
                  </a:moveTo>
                  <a:lnTo>
                    <a:pt x="1447800" y="1234439"/>
                  </a:lnTo>
                </a:path>
                <a:path w="7239000" h="1234439">
                  <a:moveTo>
                    <a:pt x="1447800" y="1234439"/>
                  </a:moveTo>
                  <a:lnTo>
                    <a:pt x="1447800" y="15239"/>
                  </a:lnTo>
                </a:path>
                <a:path w="7239000" h="1234439">
                  <a:moveTo>
                    <a:pt x="1447800" y="0"/>
                  </a:moveTo>
                  <a:lnTo>
                    <a:pt x="2895600" y="0"/>
                  </a:lnTo>
                </a:path>
                <a:path w="7239000" h="1234439">
                  <a:moveTo>
                    <a:pt x="2895600" y="1234439"/>
                  </a:moveTo>
                  <a:lnTo>
                    <a:pt x="2895600" y="15239"/>
                  </a:lnTo>
                </a:path>
                <a:path w="7239000" h="1234439">
                  <a:moveTo>
                    <a:pt x="4343400" y="1219200"/>
                  </a:moveTo>
                  <a:lnTo>
                    <a:pt x="4343400" y="0"/>
                  </a:lnTo>
                </a:path>
                <a:path w="7239000" h="1234439">
                  <a:moveTo>
                    <a:pt x="2895600" y="1234439"/>
                  </a:moveTo>
                  <a:lnTo>
                    <a:pt x="4343400" y="1234439"/>
                  </a:lnTo>
                </a:path>
                <a:path w="7239000" h="1234439">
                  <a:moveTo>
                    <a:pt x="4343400" y="0"/>
                  </a:moveTo>
                  <a:lnTo>
                    <a:pt x="5791200" y="0"/>
                  </a:lnTo>
                </a:path>
                <a:path w="7239000" h="1234439">
                  <a:moveTo>
                    <a:pt x="5791200" y="1234439"/>
                  </a:moveTo>
                  <a:lnTo>
                    <a:pt x="5791200" y="15239"/>
                  </a:lnTo>
                </a:path>
                <a:path w="7239000" h="1234439">
                  <a:moveTo>
                    <a:pt x="5791200" y="1234439"/>
                  </a:moveTo>
                  <a:lnTo>
                    <a:pt x="7239000" y="123443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2304" y="4038599"/>
              <a:ext cx="3667125" cy="1223645"/>
            </a:xfrm>
            <a:custGeom>
              <a:avLst/>
              <a:gdLst/>
              <a:ahLst/>
              <a:cxnLst/>
              <a:rect l="l" t="t" r="r" b="b"/>
              <a:pathLst>
                <a:path w="3667125" h="1223645">
                  <a:moveTo>
                    <a:pt x="995095" y="228600"/>
                  </a:moveTo>
                  <a:lnTo>
                    <a:pt x="914323" y="255524"/>
                  </a:lnTo>
                  <a:lnTo>
                    <a:pt x="936739" y="277952"/>
                  </a:lnTo>
                  <a:lnTo>
                    <a:pt x="0" y="1214755"/>
                  </a:lnTo>
                  <a:lnTo>
                    <a:pt x="8991" y="1223645"/>
                  </a:lnTo>
                  <a:lnTo>
                    <a:pt x="945743" y="286956"/>
                  </a:lnTo>
                  <a:lnTo>
                    <a:pt x="968171" y="309372"/>
                  </a:lnTo>
                  <a:lnTo>
                    <a:pt x="981633" y="268986"/>
                  </a:lnTo>
                  <a:lnTo>
                    <a:pt x="995095" y="228600"/>
                  </a:lnTo>
                  <a:close/>
                </a:path>
                <a:path w="3667125" h="1223645">
                  <a:moveTo>
                    <a:pt x="3666921" y="1215009"/>
                  </a:moveTo>
                  <a:lnTo>
                    <a:pt x="2650274" y="53136"/>
                  </a:lnTo>
                  <a:lnTo>
                    <a:pt x="2661221" y="43561"/>
                  </a:lnTo>
                  <a:lnTo>
                    <a:pt x="2674162" y="32258"/>
                  </a:lnTo>
                  <a:lnTo>
                    <a:pt x="2595295" y="0"/>
                  </a:lnTo>
                  <a:lnTo>
                    <a:pt x="2616758" y="82423"/>
                  </a:lnTo>
                  <a:lnTo>
                    <a:pt x="2640723" y="61480"/>
                  </a:lnTo>
                  <a:lnTo>
                    <a:pt x="3657269" y="1223391"/>
                  </a:lnTo>
                  <a:lnTo>
                    <a:pt x="3666921" y="1215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792" y="4636084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490" y="5246370"/>
            <a:ext cx="149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Leading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4752" y="5209794"/>
            <a:ext cx="1358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Falling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77961" y="4820411"/>
            <a:ext cx="304800" cy="114300"/>
          </a:xfrm>
          <a:custGeom>
            <a:avLst/>
            <a:gdLst/>
            <a:ahLst/>
            <a:cxnLst/>
            <a:rect l="l" t="t" r="r" b="b"/>
            <a:pathLst>
              <a:path w="304800" h="114300">
                <a:moveTo>
                  <a:pt x="190500" y="0"/>
                </a:moveTo>
                <a:lnTo>
                  <a:pt x="190500" y="114300"/>
                </a:lnTo>
                <a:lnTo>
                  <a:pt x="266700" y="76200"/>
                </a:lnTo>
                <a:lnTo>
                  <a:pt x="209550" y="76200"/>
                </a:lnTo>
                <a:lnTo>
                  <a:pt x="209550" y="38100"/>
                </a:lnTo>
                <a:lnTo>
                  <a:pt x="266700" y="38100"/>
                </a:lnTo>
                <a:lnTo>
                  <a:pt x="190500" y="0"/>
                </a:lnTo>
                <a:close/>
              </a:path>
              <a:path w="304800" h="114300">
                <a:moveTo>
                  <a:pt x="190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304800" h="114300">
                <a:moveTo>
                  <a:pt x="266700" y="38100"/>
                </a:moveTo>
                <a:lnTo>
                  <a:pt x="209550" y="38100"/>
                </a:lnTo>
                <a:lnTo>
                  <a:pt x="209550" y="76200"/>
                </a:lnTo>
                <a:lnTo>
                  <a:pt x="266700" y="76200"/>
                </a:lnTo>
                <a:lnTo>
                  <a:pt x="304800" y="57150"/>
                </a:lnTo>
                <a:lnTo>
                  <a:pt x="2667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46134" y="4712970"/>
            <a:ext cx="554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57400" y="563880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144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9200" y="563880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144">
            <a:solidFill>
              <a:srgbClr val="0000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09800" y="59055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219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219200" h="76200">
                <a:moveTo>
                  <a:pt x="12192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7600" y="5905500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0"/>
                </a:moveTo>
                <a:lnTo>
                  <a:pt x="1219200" y="76200"/>
                </a:lnTo>
                <a:lnTo>
                  <a:pt x="1282700" y="44450"/>
                </a:lnTo>
                <a:lnTo>
                  <a:pt x="1231900" y="44450"/>
                </a:lnTo>
                <a:lnTo>
                  <a:pt x="1231900" y="31750"/>
                </a:lnTo>
                <a:lnTo>
                  <a:pt x="1282700" y="31750"/>
                </a:lnTo>
                <a:lnTo>
                  <a:pt x="1219200" y="0"/>
                </a:lnTo>
                <a:close/>
              </a:path>
              <a:path w="1295400" h="76200">
                <a:moveTo>
                  <a:pt x="1219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  <a:path w="1295400" h="76200">
                <a:moveTo>
                  <a:pt x="1282700" y="31750"/>
                </a:moveTo>
                <a:lnTo>
                  <a:pt x="1231900" y="31750"/>
                </a:lnTo>
                <a:lnTo>
                  <a:pt x="1231900" y="44450"/>
                </a:lnTo>
                <a:lnTo>
                  <a:pt x="1282700" y="44450"/>
                </a:lnTo>
                <a:lnTo>
                  <a:pt x="1295400" y="38100"/>
                </a:lnTo>
                <a:lnTo>
                  <a:pt x="1282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4045" y="5719368"/>
            <a:ext cx="17907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2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920"/>
              </a:lnSpc>
            </a:pPr>
            <a:r>
              <a:rPr sz="1800" b="1" dirty="0">
                <a:latin typeface="Arial"/>
                <a:cs typeface="Arial"/>
              </a:rPr>
              <a:t>(One </a:t>
            </a:r>
            <a:r>
              <a:rPr sz="1800" b="1" spc="-10" dirty="0">
                <a:latin typeface="Arial"/>
                <a:cs typeface="Arial"/>
              </a:rPr>
              <a:t>cycle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time)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470" y="1283244"/>
            <a:ext cx="8740588" cy="5189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1101" y="141223"/>
            <a:ext cx="5243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High </a:t>
            </a:r>
            <a:r>
              <a:rPr spc="-10" dirty="0"/>
              <a:t>Level</a:t>
            </a:r>
            <a:r>
              <a:rPr spc="-15" dirty="0"/>
              <a:t> </a:t>
            </a:r>
            <a:r>
              <a:rPr spc="-5" dirty="0"/>
              <a:t>Triggering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489" y="141223"/>
            <a:ext cx="5130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Low Level</a:t>
            </a:r>
            <a:r>
              <a:rPr spc="-45" dirty="0"/>
              <a:t> </a:t>
            </a:r>
            <a:r>
              <a:rPr spc="-5" dirty="0"/>
              <a:t>Triggering</a:t>
            </a:r>
          </a:p>
        </p:txBody>
      </p:sp>
      <p:sp>
        <p:nvSpPr>
          <p:cNvPr id="3" name="object 3"/>
          <p:cNvSpPr/>
          <p:nvPr/>
        </p:nvSpPr>
        <p:spPr>
          <a:xfrm>
            <a:off x="255776" y="1219199"/>
            <a:ext cx="8696391" cy="5480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100" y="141223"/>
            <a:ext cx="6004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Positive </a:t>
            </a:r>
            <a:r>
              <a:rPr spc="-10" dirty="0"/>
              <a:t>Edge</a:t>
            </a:r>
            <a:r>
              <a:rPr spc="-20" dirty="0"/>
              <a:t> </a:t>
            </a:r>
            <a:r>
              <a:rPr spc="-5" dirty="0"/>
              <a:t>Triggering</a:t>
            </a:r>
          </a:p>
        </p:txBody>
      </p:sp>
      <p:sp>
        <p:nvSpPr>
          <p:cNvPr id="3" name="object 3"/>
          <p:cNvSpPr/>
          <p:nvPr/>
        </p:nvSpPr>
        <p:spPr>
          <a:xfrm>
            <a:off x="266007" y="1285874"/>
            <a:ext cx="8645236" cy="5286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568" y="1262206"/>
            <a:ext cx="8815078" cy="5347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8472" y="141223"/>
            <a:ext cx="6147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Negative </a:t>
            </a:r>
            <a:r>
              <a:rPr spc="-10" dirty="0"/>
              <a:t>Edge</a:t>
            </a:r>
            <a:r>
              <a:rPr spc="-25" dirty="0"/>
              <a:t> Triggering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03503"/>
            <a:ext cx="8989060" cy="54292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Clock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Skew: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defined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as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difference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time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between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clock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edges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arriving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at a pair of clock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inputs.</a:t>
            </a:r>
            <a:endParaRPr sz="2000">
              <a:latin typeface="Arial"/>
              <a:cs typeface="Arial"/>
            </a:endParaRPr>
          </a:p>
          <a:p>
            <a:pPr marL="355600" marR="6985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  <a:tab pos="6376035" algn="l"/>
                <a:tab pos="7293609" algn="l"/>
              </a:tabLst>
            </a:pPr>
            <a:r>
              <a:rPr sz="2000" b="1" spc="-5" dirty="0">
                <a:latin typeface="Arial"/>
                <a:cs typeface="Arial"/>
              </a:rPr>
              <a:t>In  </a:t>
            </a:r>
            <a:r>
              <a:rPr sz="2000" b="1" dirty="0">
                <a:latin typeface="Arial"/>
                <a:cs typeface="Arial"/>
              </a:rPr>
              <a:t>a  </a:t>
            </a:r>
            <a:r>
              <a:rPr sz="2000" b="1" spc="-5" dirty="0">
                <a:latin typeface="Arial"/>
                <a:cs typeface="Arial"/>
              </a:rPr>
              <a:t>perfect  system,  </a:t>
            </a:r>
            <a:r>
              <a:rPr sz="2000" b="1" dirty="0">
                <a:latin typeface="Arial"/>
                <a:cs typeface="Arial"/>
              </a:rPr>
              <a:t>all  clock  </a:t>
            </a:r>
            <a:r>
              <a:rPr sz="2000" b="1" spc="-5" dirty="0">
                <a:latin typeface="Arial"/>
                <a:cs typeface="Arial"/>
              </a:rPr>
              <a:t>signals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arrive</a:t>
            </a:r>
            <a:r>
              <a:rPr sz="2000" b="1" spc="4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	all</a:t>
            </a:r>
            <a:r>
              <a:rPr sz="2000" b="1" spc="4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	</a:t>
            </a:r>
            <a:r>
              <a:rPr sz="2000" b="1" spc="-5" dirty="0">
                <a:latin typeface="Arial"/>
                <a:cs typeface="Arial"/>
              </a:rPr>
              <a:t>various </a:t>
            </a:r>
            <a:r>
              <a:rPr sz="2000" b="1" dirty="0">
                <a:latin typeface="Arial"/>
                <a:cs typeface="Arial"/>
              </a:rPr>
              <a:t>clock  input pins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system </a:t>
            </a:r>
            <a:r>
              <a:rPr sz="2000" b="1" dirty="0">
                <a:latin typeface="Arial"/>
                <a:cs typeface="Arial"/>
              </a:rPr>
              <a:t>at exactly the same time &amp; the </a:t>
            </a:r>
            <a:r>
              <a:rPr sz="2000" b="1" spc="-5" dirty="0">
                <a:latin typeface="Arial"/>
                <a:cs typeface="Arial"/>
              </a:rPr>
              <a:t>skew is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zero.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real </a:t>
            </a:r>
            <a:r>
              <a:rPr sz="2000" b="1" spc="-5" dirty="0">
                <a:latin typeface="Arial"/>
                <a:cs typeface="Arial"/>
              </a:rPr>
              <a:t>time systems, </a:t>
            </a:r>
            <a:r>
              <a:rPr sz="2000" b="1" dirty="0">
                <a:latin typeface="Arial"/>
                <a:cs typeface="Arial"/>
              </a:rPr>
              <a:t>the edges do </a:t>
            </a:r>
            <a:r>
              <a:rPr sz="2000" b="1" spc="-5" dirty="0">
                <a:latin typeface="Arial"/>
                <a:cs typeface="Arial"/>
              </a:rPr>
              <a:t>not </a:t>
            </a:r>
            <a:r>
              <a:rPr sz="2000" b="1" spc="-10" dirty="0">
                <a:latin typeface="Arial"/>
                <a:cs typeface="Arial"/>
              </a:rPr>
              <a:t>arrive </a:t>
            </a:r>
            <a:r>
              <a:rPr sz="2000" b="1" dirty="0">
                <a:latin typeface="Arial"/>
                <a:cs typeface="Arial"/>
              </a:rPr>
              <a:t>at </a:t>
            </a:r>
            <a:r>
              <a:rPr sz="2000" b="1" spc="-5" dirty="0">
                <a:latin typeface="Arial"/>
                <a:cs typeface="Arial"/>
              </a:rPr>
              <a:t>exactly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same time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&amp;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there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some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skew.</a:t>
            </a:r>
            <a:endParaRPr sz="2000">
              <a:latin typeface="Arial"/>
              <a:cs typeface="Arial"/>
            </a:endParaRPr>
          </a:p>
          <a:p>
            <a:pPr marL="355600" marR="635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4965" algn="l"/>
                <a:tab pos="355600" algn="l"/>
                <a:tab pos="1708785" algn="l"/>
                <a:tab pos="3032125" algn="l"/>
                <a:tab pos="3862704" algn="l"/>
                <a:tab pos="4665980" algn="l"/>
                <a:tab pos="5185410" algn="l"/>
                <a:tab pos="5749290" algn="l"/>
                <a:tab pos="6804659" algn="l"/>
                <a:tab pos="7197725" algn="l"/>
                <a:tab pos="7761605" algn="l"/>
              </a:tabLst>
            </a:pPr>
            <a:r>
              <a:rPr sz="2000" b="1" dirty="0">
                <a:latin typeface="Arial"/>
                <a:cs typeface="Arial"/>
              </a:rPr>
              <a:t>Maxi</a:t>
            </a:r>
            <a:r>
              <a:rPr sz="2000" b="1" spc="-10" dirty="0">
                <a:latin typeface="Arial"/>
                <a:cs typeface="Arial"/>
              </a:rPr>
              <a:t>m</a:t>
            </a:r>
            <a:r>
              <a:rPr sz="2000" b="1" dirty="0">
                <a:latin typeface="Arial"/>
                <a:cs typeface="Arial"/>
              </a:rPr>
              <a:t>um	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dirty="0">
                <a:latin typeface="Arial"/>
                <a:cs typeface="Arial"/>
              </a:rPr>
              <a:t>l</a:t>
            </a:r>
            <a:r>
              <a:rPr sz="2000" b="1" spc="-10" dirty="0">
                <a:latin typeface="Arial"/>
                <a:cs typeface="Arial"/>
              </a:rPr>
              <a:t>l</a:t>
            </a:r>
            <a:r>
              <a:rPr sz="2000" b="1" spc="-40" dirty="0">
                <a:latin typeface="Arial"/>
                <a:cs typeface="Arial"/>
              </a:rPr>
              <a:t>o</a:t>
            </a:r>
            <a:r>
              <a:rPr sz="2000" b="1" spc="45" dirty="0">
                <a:latin typeface="Arial"/>
                <a:cs typeface="Arial"/>
              </a:rPr>
              <a:t>w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dirty="0">
                <a:latin typeface="Arial"/>
                <a:cs typeface="Arial"/>
              </a:rPr>
              <a:t>b</a:t>
            </a:r>
            <a:r>
              <a:rPr sz="2000" b="1" spc="-20" dirty="0">
                <a:latin typeface="Arial"/>
                <a:cs typeface="Arial"/>
              </a:rPr>
              <a:t>l</a:t>
            </a:r>
            <a:r>
              <a:rPr sz="2000" b="1" dirty="0">
                <a:latin typeface="Arial"/>
                <a:cs typeface="Arial"/>
              </a:rPr>
              <a:t>e	cl</a:t>
            </a:r>
            <a:r>
              <a:rPr sz="2000" b="1" spc="-20" dirty="0">
                <a:latin typeface="Arial"/>
                <a:cs typeface="Arial"/>
              </a:rPr>
              <a:t>o</a:t>
            </a:r>
            <a:r>
              <a:rPr sz="2000" b="1" dirty="0">
                <a:latin typeface="Arial"/>
                <a:cs typeface="Arial"/>
              </a:rPr>
              <a:t>ck	sk</a:t>
            </a:r>
            <a:r>
              <a:rPr sz="2000" b="1" spc="-35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w	f</a:t>
            </a:r>
            <a:r>
              <a:rPr sz="2000" b="1" spc="-10" dirty="0">
                <a:latin typeface="Arial"/>
                <a:cs typeface="Arial"/>
              </a:rPr>
              <a:t>o</a:t>
            </a:r>
            <a:r>
              <a:rPr sz="2000" b="1" dirty="0">
                <a:latin typeface="Arial"/>
                <a:cs typeface="Arial"/>
              </a:rPr>
              <a:t>r	the	</a:t>
            </a:r>
            <a:r>
              <a:rPr sz="2000" b="1" spc="10" dirty="0">
                <a:latin typeface="Arial"/>
                <a:cs typeface="Arial"/>
              </a:rPr>
              <a:t>s</a:t>
            </a:r>
            <a:r>
              <a:rPr sz="2000" b="1" spc="-35" dirty="0">
                <a:latin typeface="Arial"/>
                <a:cs typeface="Arial"/>
              </a:rPr>
              <a:t>y</a:t>
            </a:r>
            <a:r>
              <a:rPr sz="2000" b="1" dirty="0">
                <a:latin typeface="Arial"/>
                <a:cs typeface="Arial"/>
              </a:rPr>
              <a:t>st</a:t>
            </a:r>
            <a:r>
              <a:rPr sz="2000" b="1" spc="-10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m	</a:t>
            </a:r>
            <a:r>
              <a:rPr sz="2000" b="1" spc="-10" dirty="0">
                <a:latin typeface="Arial"/>
                <a:cs typeface="Arial"/>
              </a:rPr>
              <a:t>i</a:t>
            </a:r>
            <a:r>
              <a:rPr sz="2000" b="1" dirty="0">
                <a:latin typeface="Arial"/>
                <a:cs typeface="Arial"/>
              </a:rPr>
              <a:t>s	the	</a:t>
            </a:r>
            <a:r>
              <a:rPr sz="2000" b="1" spc="-15" dirty="0">
                <a:latin typeface="Arial"/>
                <a:cs typeface="Arial"/>
              </a:rPr>
              <a:t>d</a:t>
            </a:r>
            <a:r>
              <a:rPr sz="2000" b="1" dirty="0">
                <a:latin typeface="Arial"/>
                <a:cs typeface="Arial"/>
              </a:rPr>
              <a:t>i</a:t>
            </a:r>
            <a:r>
              <a:rPr sz="2000" b="1" spc="-15" dirty="0">
                <a:latin typeface="Arial"/>
                <a:cs typeface="Arial"/>
              </a:rPr>
              <a:t>f</a:t>
            </a:r>
            <a:r>
              <a:rPr sz="2000" b="1" dirty="0">
                <a:latin typeface="Arial"/>
                <a:cs typeface="Arial"/>
              </a:rPr>
              <a:t>fe</a:t>
            </a:r>
            <a:r>
              <a:rPr sz="2000" b="1" spc="-15" dirty="0">
                <a:latin typeface="Arial"/>
                <a:cs typeface="Arial"/>
              </a:rPr>
              <a:t>r</a:t>
            </a:r>
            <a:r>
              <a:rPr sz="2000" b="1" dirty="0">
                <a:latin typeface="Arial"/>
                <a:cs typeface="Arial"/>
              </a:rPr>
              <a:t>ence  between the shortest and longest path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delays.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is </a:t>
            </a:r>
            <a:r>
              <a:rPr sz="2000" b="1" dirty="0">
                <a:latin typeface="Arial"/>
                <a:cs typeface="Arial"/>
              </a:rPr>
              <a:t>an important design parameter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high-speed clock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systems.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  <a:tab pos="4742180" algn="l"/>
              </a:tabLst>
            </a:pPr>
            <a:r>
              <a:rPr sz="2000" b="1" spc="-5" dirty="0">
                <a:latin typeface="Arial"/>
                <a:cs typeface="Arial"/>
              </a:rPr>
              <a:t>It  </a:t>
            </a:r>
            <a:r>
              <a:rPr sz="2000" b="1" dirty="0">
                <a:latin typeface="Arial"/>
                <a:cs typeface="Arial"/>
              </a:rPr>
              <a:t>appears  </a:t>
            </a:r>
            <a:r>
              <a:rPr sz="2000" b="1" spc="-5" dirty="0">
                <a:latin typeface="Arial"/>
                <a:cs typeface="Arial"/>
              </a:rPr>
              <a:t>due 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1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different</a:t>
            </a:r>
            <a:r>
              <a:rPr sz="2000" b="1" spc="4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delays	</a:t>
            </a:r>
            <a:r>
              <a:rPr sz="2000" b="1" dirty="0">
                <a:latin typeface="Arial"/>
                <a:cs typeface="Arial"/>
              </a:rPr>
              <a:t>on </a:t>
            </a:r>
            <a:r>
              <a:rPr sz="2000" b="1" spc="-5" dirty="0">
                <a:latin typeface="Arial"/>
                <a:cs typeface="Arial"/>
              </a:rPr>
              <a:t>different </a:t>
            </a:r>
            <a:r>
              <a:rPr sz="2000" b="1" dirty="0">
                <a:latin typeface="Arial"/>
                <a:cs typeface="Arial"/>
              </a:rPr>
              <a:t>paths from the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clock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generator to </a:t>
            </a:r>
            <a:r>
              <a:rPr sz="2000" b="1" spc="-5" dirty="0">
                <a:latin typeface="Arial"/>
                <a:cs typeface="Arial"/>
              </a:rPr>
              <a:t>various </a:t>
            </a:r>
            <a:r>
              <a:rPr sz="2000" b="1" dirty="0">
                <a:latin typeface="Arial"/>
                <a:cs typeface="Arial"/>
              </a:rPr>
              <a:t>circuits.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major reasons for this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40"/>
              </a:spcBef>
              <a:buFont typeface="Wingdings"/>
              <a:buChar char=""/>
              <a:tabLst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Different length 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wires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Gates (buffers) </a:t>
            </a:r>
            <a:r>
              <a:rPr sz="1800" b="1" dirty="0">
                <a:latin typeface="Arial"/>
                <a:cs typeface="Arial"/>
              </a:rPr>
              <a:t>on 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paths.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Flip-flops that </a:t>
            </a:r>
            <a:r>
              <a:rPr sz="1800" b="1" spc="-5" dirty="0">
                <a:latin typeface="Arial"/>
                <a:cs typeface="Arial"/>
              </a:rPr>
              <a:t>clock </a:t>
            </a:r>
            <a:r>
              <a:rPr sz="1800" b="1" dirty="0">
                <a:latin typeface="Arial"/>
                <a:cs typeface="Arial"/>
              </a:rPr>
              <a:t>on </a:t>
            </a:r>
            <a:r>
              <a:rPr sz="1800" b="1" spc="-5" dirty="0">
                <a:latin typeface="Arial"/>
                <a:cs typeface="Arial"/>
              </a:rPr>
              <a:t>different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Gating the clock to control loading of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40053"/>
            <a:ext cx="7969250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Comparison of Combinational &amp; Sequential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927100" algn="l"/>
                <a:tab pos="3670300" algn="l"/>
                <a:tab pos="6414135" algn="l"/>
              </a:tabLst>
            </a:pPr>
            <a:r>
              <a:rPr sz="2400" b="1" dirty="0">
                <a:latin typeface="Arial"/>
                <a:cs typeface="Arial"/>
              </a:rPr>
              <a:t>N</a:t>
            </a:r>
            <a:r>
              <a:rPr sz="2400" b="1" spc="-10" dirty="0">
                <a:latin typeface="Arial"/>
                <a:cs typeface="Arial"/>
              </a:rPr>
              <a:t>o</a:t>
            </a:r>
            <a:r>
              <a:rPr sz="2400" b="1" dirty="0">
                <a:latin typeface="Arial"/>
                <a:cs typeface="Arial"/>
              </a:rPr>
              <a:t>.	</a:t>
            </a:r>
            <a:r>
              <a:rPr sz="2400" b="1" spc="-5" dirty="0">
                <a:latin typeface="Arial"/>
                <a:cs typeface="Arial"/>
              </a:rPr>
              <a:t>P</a:t>
            </a:r>
            <a:r>
              <a:rPr sz="2400" b="1" spc="-15" dirty="0"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rameter</a:t>
            </a:r>
            <a:r>
              <a:rPr sz="2400" b="1" dirty="0">
                <a:latin typeface="Arial"/>
                <a:cs typeface="Arial"/>
              </a:rPr>
              <a:t>	C</a:t>
            </a:r>
            <a:r>
              <a:rPr sz="2400" b="1" spc="-10" dirty="0">
                <a:latin typeface="Arial"/>
                <a:cs typeface="Arial"/>
              </a:rPr>
              <a:t>o</a:t>
            </a:r>
            <a:r>
              <a:rPr sz="2400" b="1" dirty="0">
                <a:latin typeface="Arial"/>
                <a:cs typeface="Arial"/>
              </a:rPr>
              <a:t>mbinat</a:t>
            </a:r>
            <a:r>
              <a:rPr sz="2400" b="1" spc="5" dirty="0">
                <a:latin typeface="Arial"/>
                <a:cs typeface="Arial"/>
              </a:rPr>
              <a:t>i</a:t>
            </a:r>
            <a:r>
              <a:rPr sz="2400" b="1" dirty="0">
                <a:latin typeface="Arial"/>
                <a:cs typeface="Arial"/>
              </a:rPr>
              <a:t>onal	Sequential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689" y="2586587"/>
          <a:ext cx="8483599" cy="2723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908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  <a:tabLst>
                          <a:tab pos="6407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1.	Output depend</a:t>
                      </a:r>
                      <a:r>
                        <a:rPr sz="20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Inputs present</a:t>
                      </a:r>
                      <a:r>
                        <a:rPr sz="20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at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Present inputs</a:t>
                      </a:r>
                      <a:r>
                        <a:rPr sz="20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&amp;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9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that instant of</a:t>
                      </a:r>
                      <a:r>
                        <a:rPr sz="20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past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inputs/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11303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outputs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6407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2.	Memory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necessary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Necessary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2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6407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3.	Clock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Input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necessary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Necessary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6407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4.	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Examples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Adders,</a:t>
                      </a:r>
                      <a:r>
                        <a:rPr sz="20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Subtractors,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Flip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flops,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shift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Code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 converters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13030" marR="8959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regist</a:t>
                      </a:r>
                      <a:r>
                        <a:rPr sz="2000" b="1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rs,  counters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61" y="228676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87653"/>
            <a:ext cx="853122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Sequential </a:t>
            </a:r>
            <a:r>
              <a:rPr sz="2000" b="1" spc="-5" dirty="0">
                <a:latin typeface="Arial"/>
                <a:cs typeface="Arial"/>
              </a:rPr>
              <a:t>circuit </a:t>
            </a:r>
            <a:r>
              <a:rPr sz="2000" b="1" dirty="0">
                <a:latin typeface="Arial"/>
                <a:cs typeface="Arial"/>
              </a:rPr>
              <a:t>consists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combinational </a:t>
            </a:r>
            <a:r>
              <a:rPr sz="2000" b="1" spc="-5" dirty="0">
                <a:latin typeface="Arial"/>
                <a:cs typeface="Arial"/>
              </a:rPr>
              <a:t>circuit </a:t>
            </a:r>
            <a:r>
              <a:rPr sz="2000" b="1" dirty="0">
                <a:latin typeface="Arial"/>
                <a:cs typeface="Arial"/>
              </a:rPr>
              <a:t>along </a:t>
            </a:r>
            <a:r>
              <a:rPr sz="2000" b="1" spc="-5" dirty="0">
                <a:latin typeface="Arial"/>
                <a:cs typeface="Arial"/>
              </a:rPr>
              <a:t>with the  </a:t>
            </a:r>
            <a:r>
              <a:rPr sz="2000" b="1" dirty="0">
                <a:latin typeface="Arial"/>
                <a:cs typeface="Arial"/>
              </a:rPr>
              <a:t>memory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element.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Memory element </a:t>
            </a:r>
            <a:r>
              <a:rPr sz="2000" b="1" spc="5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always </a:t>
            </a:r>
            <a:r>
              <a:rPr sz="2000" b="1" dirty="0">
                <a:latin typeface="Arial"/>
                <a:cs typeface="Arial"/>
              </a:rPr>
              <a:t>appear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the feedback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path.</a:t>
            </a:r>
            <a:endParaRPr sz="2000">
              <a:latin typeface="Arial"/>
              <a:cs typeface="Arial"/>
            </a:endParaRPr>
          </a:p>
          <a:p>
            <a:pPr marL="355600" marR="635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Output of </a:t>
            </a:r>
            <a:r>
              <a:rPr sz="2000" b="1" dirty="0">
                <a:latin typeface="Arial"/>
                <a:cs typeface="Arial"/>
              </a:rPr>
              <a:t>sequential </a:t>
            </a:r>
            <a:r>
              <a:rPr sz="2000" b="1" spc="-5" dirty="0">
                <a:latin typeface="Arial"/>
                <a:cs typeface="Arial"/>
              </a:rPr>
              <a:t>circuit </a:t>
            </a:r>
            <a:r>
              <a:rPr sz="2000" b="1" dirty="0">
                <a:latin typeface="Arial"/>
                <a:cs typeface="Arial"/>
              </a:rPr>
              <a:t>depends on the </a:t>
            </a:r>
            <a:r>
              <a:rPr sz="2000" b="1" spc="-5" dirty="0">
                <a:latin typeface="Arial"/>
                <a:cs typeface="Arial"/>
              </a:rPr>
              <a:t>present state </a:t>
            </a:r>
            <a:r>
              <a:rPr sz="2000" b="1" spc="-10" dirty="0">
                <a:latin typeface="Arial"/>
                <a:cs typeface="Arial"/>
              </a:rPr>
              <a:t>as </a:t>
            </a:r>
            <a:r>
              <a:rPr sz="2000" b="1" dirty="0">
                <a:latin typeface="Arial"/>
                <a:cs typeface="Arial"/>
              </a:rPr>
              <a:t>well </a:t>
            </a:r>
            <a:r>
              <a:rPr sz="2000" b="1" spc="-15" dirty="0">
                <a:latin typeface="Arial"/>
                <a:cs typeface="Arial"/>
              </a:rPr>
              <a:t>as  </a:t>
            </a:r>
            <a:r>
              <a:rPr sz="2000" b="1" dirty="0">
                <a:latin typeface="Arial"/>
                <a:cs typeface="Arial"/>
              </a:rPr>
              <a:t>the past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Present state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stored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the memory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elements.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Present</a:t>
            </a:r>
            <a:r>
              <a:rPr sz="2000" b="1" spc="2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states</a:t>
            </a:r>
            <a:r>
              <a:rPr sz="2000" b="1" spc="2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2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applied</a:t>
            </a:r>
            <a:r>
              <a:rPr sz="2000" b="1" spc="2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2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2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combinational</a:t>
            </a:r>
            <a:r>
              <a:rPr sz="2000" b="1" spc="2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circuit</a:t>
            </a:r>
            <a:r>
              <a:rPr sz="2000" b="1" spc="2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along</a:t>
            </a:r>
            <a:r>
              <a:rPr sz="2000" b="1" spc="22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the external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inputs.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Thus outputs </a:t>
            </a:r>
            <a:r>
              <a:rPr sz="2000" b="1" dirty="0">
                <a:latin typeface="Arial"/>
                <a:cs typeface="Arial"/>
              </a:rPr>
              <a:t>&amp; the </a:t>
            </a:r>
            <a:r>
              <a:rPr sz="2000" b="1" spc="-5" dirty="0">
                <a:latin typeface="Arial"/>
                <a:cs typeface="Arial"/>
              </a:rPr>
              <a:t>next state 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sequential circuit are </a:t>
            </a:r>
            <a:r>
              <a:rPr sz="2000" b="1" dirty="0">
                <a:latin typeface="Arial"/>
                <a:cs typeface="Arial"/>
              </a:rPr>
              <a:t>decided  </a:t>
            </a:r>
            <a:r>
              <a:rPr sz="2000" b="1" spc="-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the external inputs &amp; the present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000" y="4419600"/>
            <a:ext cx="2438400" cy="914400"/>
          </a:xfrm>
          <a:prstGeom prst="rect">
            <a:avLst/>
          </a:prstGeom>
          <a:solidFill>
            <a:srgbClr val="BADFE2"/>
          </a:solidFill>
          <a:ln w="9144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857250" marR="447040" indent="-464184">
              <a:lnSpc>
                <a:spcPct val="100000"/>
              </a:lnSpc>
              <a:spcBef>
                <a:spcPts val="1400"/>
              </a:spcBef>
            </a:pPr>
            <a:r>
              <a:rPr sz="1800" b="1" dirty="0">
                <a:latin typeface="Arial"/>
                <a:cs typeface="Arial"/>
              </a:rPr>
              <a:t>Combi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atio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al  </a:t>
            </a:r>
            <a:r>
              <a:rPr sz="1800" b="1" spc="-5" dirty="0">
                <a:latin typeface="Arial"/>
                <a:cs typeface="Arial"/>
              </a:rPr>
              <a:t>Circuit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4533900"/>
            <a:ext cx="2286000" cy="730250"/>
          </a:xfrm>
          <a:custGeom>
            <a:avLst/>
            <a:gdLst/>
            <a:ahLst/>
            <a:cxnLst/>
            <a:rect l="l" t="t" r="r" b="b"/>
            <a:pathLst>
              <a:path w="2286000" h="730250">
                <a:moveTo>
                  <a:pt x="2286000" y="691896"/>
                </a:moveTo>
                <a:lnTo>
                  <a:pt x="2273300" y="685546"/>
                </a:lnTo>
                <a:lnTo>
                  <a:pt x="2209800" y="653796"/>
                </a:lnTo>
                <a:lnTo>
                  <a:pt x="2209800" y="685546"/>
                </a:lnTo>
                <a:lnTo>
                  <a:pt x="0" y="685546"/>
                </a:lnTo>
                <a:lnTo>
                  <a:pt x="0" y="698246"/>
                </a:lnTo>
                <a:lnTo>
                  <a:pt x="2209800" y="698246"/>
                </a:lnTo>
                <a:lnTo>
                  <a:pt x="2209800" y="729996"/>
                </a:lnTo>
                <a:lnTo>
                  <a:pt x="2273300" y="698246"/>
                </a:lnTo>
                <a:lnTo>
                  <a:pt x="2286000" y="691896"/>
                </a:lnTo>
                <a:close/>
              </a:path>
              <a:path w="2286000" h="730250">
                <a:moveTo>
                  <a:pt x="2286000" y="190500"/>
                </a:moveTo>
                <a:lnTo>
                  <a:pt x="2273300" y="184150"/>
                </a:lnTo>
                <a:lnTo>
                  <a:pt x="2209800" y="152400"/>
                </a:lnTo>
                <a:lnTo>
                  <a:pt x="2209800" y="184150"/>
                </a:lnTo>
                <a:lnTo>
                  <a:pt x="0" y="184150"/>
                </a:lnTo>
                <a:lnTo>
                  <a:pt x="0" y="196850"/>
                </a:lnTo>
                <a:lnTo>
                  <a:pt x="2209800" y="196850"/>
                </a:lnTo>
                <a:lnTo>
                  <a:pt x="2209800" y="228600"/>
                </a:lnTo>
                <a:lnTo>
                  <a:pt x="2273300" y="196850"/>
                </a:lnTo>
                <a:lnTo>
                  <a:pt x="2286000" y="190500"/>
                </a:lnTo>
                <a:close/>
              </a:path>
              <a:path w="2286000" h="730250">
                <a:moveTo>
                  <a:pt x="2286000" y="38100"/>
                </a:moveTo>
                <a:lnTo>
                  <a:pt x="2273300" y="31750"/>
                </a:lnTo>
                <a:lnTo>
                  <a:pt x="2209800" y="0"/>
                </a:lnTo>
                <a:lnTo>
                  <a:pt x="2209800" y="31750"/>
                </a:ln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76200"/>
                </a:lnTo>
                <a:lnTo>
                  <a:pt x="2273300" y="44450"/>
                </a:lnTo>
                <a:lnTo>
                  <a:pt x="22860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0600" y="5943600"/>
            <a:ext cx="1676400" cy="685800"/>
          </a:xfrm>
          <a:prstGeom prst="rect">
            <a:avLst/>
          </a:prstGeom>
          <a:solidFill>
            <a:srgbClr val="BADFE2"/>
          </a:solidFill>
          <a:ln w="9144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30200" marR="321945" indent="38100">
              <a:lnSpc>
                <a:spcPct val="100000"/>
              </a:lnSpc>
              <a:spcBef>
                <a:spcPts val="505"/>
              </a:spcBef>
            </a:pPr>
            <a:r>
              <a:rPr sz="1800" b="1" spc="-5" dirty="0">
                <a:latin typeface="Arial"/>
                <a:cs typeface="Arial"/>
              </a:rPr>
              <a:t>Memory  Ele</a:t>
            </a:r>
            <a:r>
              <a:rPr sz="1800" b="1" spc="-15" dirty="0">
                <a:latin typeface="Arial"/>
                <a:cs typeface="Arial"/>
              </a:rPr>
              <a:t>m</a:t>
            </a:r>
            <a:r>
              <a:rPr sz="1800" b="1" spc="-5" dirty="0">
                <a:latin typeface="Arial"/>
                <a:cs typeface="Arial"/>
              </a:rPr>
              <a:t>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3000" y="44577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200"/>
                </a:lnTo>
                <a:lnTo>
                  <a:pt x="749300" y="44450"/>
                </a:lnTo>
                <a:lnTo>
                  <a:pt x="698500" y="44450"/>
                </a:lnTo>
                <a:lnTo>
                  <a:pt x="698500" y="31750"/>
                </a:lnTo>
                <a:lnTo>
                  <a:pt x="749300" y="3175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762000" h="76200">
                <a:moveTo>
                  <a:pt x="749300" y="31750"/>
                </a:moveTo>
                <a:lnTo>
                  <a:pt x="698500" y="31750"/>
                </a:lnTo>
                <a:lnTo>
                  <a:pt x="698500" y="44450"/>
                </a:lnTo>
                <a:lnTo>
                  <a:pt x="749300" y="44450"/>
                </a:lnTo>
                <a:lnTo>
                  <a:pt x="762000" y="38100"/>
                </a:lnTo>
                <a:lnTo>
                  <a:pt x="749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000" y="46101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200"/>
                </a:lnTo>
                <a:lnTo>
                  <a:pt x="749300" y="44450"/>
                </a:lnTo>
                <a:lnTo>
                  <a:pt x="698500" y="44450"/>
                </a:lnTo>
                <a:lnTo>
                  <a:pt x="698500" y="31750"/>
                </a:lnTo>
                <a:lnTo>
                  <a:pt x="749300" y="3175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762000" h="76200">
                <a:moveTo>
                  <a:pt x="749300" y="31750"/>
                </a:moveTo>
                <a:lnTo>
                  <a:pt x="698500" y="31750"/>
                </a:lnTo>
                <a:lnTo>
                  <a:pt x="698500" y="44450"/>
                </a:lnTo>
                <a:lnTo>
                  <a:pt x="749300" y="44450"/>
                </a:lnTo>
                <a:lnTo>
                  <a:pt x="762000" y="38100"/>
                </a:lnTo>
                <a:lnTo>
                  <a:pt x="749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000" y="5172455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200"/>
                </a:lnTo>
                <a:lnTo>
                  <a:pt x="749300" y="44450"/>
                </a:lnTo>
                <a:lnTo>
                  <a:pt x="698500" y="44450"/>
                </a:lnTo>
                <a:lnTo>
                  <a:pt x="698500" y="31750"/>
                </a:lnTo>
                <a:lnTo>
                  <a:pt x="749300" y="3175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762000" h="76200">
                <a:moveTo>
                  <a:pt x="749300" y="31750"/>
                </a:moveTo>
                <a:lnTo>
                  <a:pt x="698500" y="31750"/>
                </a:lnTo>
                <a:lnTo>
                  <a:pt x="698500" y="44450"/>
                </a:lnTo>
                <a:lnTo>
                  <a:pt x="749300" y="44450"/>
                </a:lnTo>
                <a:lnTo>
                  <a:pt x="762000" y="38100"/>
                </a:lnTo>
                <a:lnTo>
                  <a:pt x="749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91100" y="4405884"/>
            <a:ext cx="1882139" cy="1537970"/>
            <a:chOff x="4991100" y="4405884"/>
            <a:chExt cx="1882139" cy="1537970"/>
          </a:xfrm>
        </p:grpSpPr>
        <p:sp>
          <p:nvSpPr>
            <p:cNvPr id="11" name="object 11"/>
            <p:cNvSpPr/>
            <p:nvPr/>
          </p:nvSpPr>
          <p:spPr>
            <a:xfrm>
              <a:off x="4991100" y="4572000"/>
              <a:ext cx="1143000" cy="1371600"/>
            </a:xfrm>
            <a:custGeom>
              <a:avLst/>
              <a:gdLst/>
              <a:ahLst/>
              <a:cxnLst/>
              <a:rect l="l" t="t" r="r" b="b"/>
              <a:pathLst>
                <a:path w="1143000" h="1371600">
                  <a:moveTo>
                    <a:pt x="76200" y="1295400"/>
                  </a:moveTo>
                  <a:lnTo>
                    <a:pt x="44450" y="129540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1295400"/>
                  </a:lnTo>
                  <a:lnTo>
                    <a:pt x="0" y="1295400"/>
                  </a:lnTo>
                  <a:lnTo>
                    <a:pt x="38100" y="1371600"/>
                  </a:lnTo>
                  <a:lnTo>
                    <a:pt x="69850" y="1308100"/>
                  </a:lnTo>
                  <a:lnTo>
                    <a:pt x="76200" y="1295400"/>
                  </a:lnTo>
                  <a:close/>
                </a:path>
                <a:path w="1143000" h="1371600">
                  <a:moveTo>
                    <a:pt x="304800" y="1295400"/>
                  </a:moveTo>
                  <a:lnTo>
                    <a:pt x="273050" y="1295400"/>
                  </a:lnTo>
                  <a:lnTo>
                    <a:pt x="273050" y="152400"/>
                  </a:lnTo>
                  <a:lnTo>
                    <a:pt x="260350" y="152400"/>
                  </a:lnTo>
                  <a:lnTo>
                    <a:pt x="260350" y="1295400"/>
                  </a:lnTo>
                  <a:lnTo>
                    <a:pt x="228600" y="1295400"/>
                  </a:lnTo>
                  <a:lnTo>
                    <a:pt x="266700" y="1371600"/>
                  </a:lnTo>
                  <a:lnTo>
                    <a:pt x="298450" y="1308100"/>
                  </a:lnTo>
                  <a:lnTo>
                    <a:pt x="304800" y="1295400"/>
                  </a:lnTo>
                  <a:close/>
                </a:path>
                <a:path w="1143000" h="1371600">
                  <a:moveTo>
                    <a:pt x="1143000" y="1295400"/>
                  </a:moveTo>
                  <a:lnTo>
                    <a:pt x="1111250" y="1295400"/>
                  </a:lnTo>
                  <a:lnTo>
                    <a:pt x="1111250" y="685800"/>
                  </a:lnTo>
                  <a:lnTo>
                    <a:pt x="1098550" y="685800"/>
                  </a:lnTo>
                  <a:lnTo>
                    <a:pt x="1098550" y="1295400"/>
                  </a:lnTo>
                  <a:lnTo>
                    <a:pt x="1066800" y="1295400"/>
                  </a:lnTo>
                  <a:lnTo>
                    <a:pt x="1104900" y="1371600"/>
                  </a:lnTo>
                  <a:lnTo>
                    <a:pt x="1136650" y="1308100"/>
                  </a:lnTo>
                  <a:lnTo>
                    <a:pt x="1143000" y="129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30161" y="4420362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0" y="0"/>
                  </a:moveTo>
                  <a:lnTo>
                    <a:pt x="44487" y="5484"/>
                  </a:lnTo>
                  <a:lnTo>
                    <a:pt x="80819" y="20446"/>
                  </a:lnTo>
                  <a:lnTo>
                    <a:pt x="105316" y="42648"/>
                  </a:lnTo>
                  <a:lnTo>
                    <a:pt x="114300" y="69850"/>
                  </a:lnTo>
                  <a:lnTo>
                    <a:pt x="114300" y="349250"/>
                  </a:lnTo>
                  <a:lnTo>
                    <a:pt x="123283" y="376451"/>
                  </a:lnTo>
                  <a:lnTo>
                    <a:pt x="147780" y="398652"/>
                  </a:lnTo>
                  <a:lnTo>
                    <a:pt x="184112" y="413615"/>
                  </a:lnTo>
                  <a:lnTo>
                    <a:pt x="228600" y="419100"/>
                  </a:lnTo>
                  <a:lnTo>
                    <a:pt x="184112" y="424584"/>
                  </a:lnTo>
                  <a:lnTo>
                    <a:pt x="147780" y="439546"/>
                  </a:lnTo>
                  <a:lnTo>
                    <a:pt x="123283" y="461748"/>
                  </a:lnTo>
                  <a:lnTo>
                    <a:pt x="114300" y="488950"/>
                  </a:lnTo>
                  <a:lnTo>
                    <a:pt x="114300" y="768350"/>
                  </a:lnTo>
                  <a:lnTo>
                    <a:pt x="105316" y="795551"/>
                  </a:lnTo>
                  <a:lnTo>
                    <a:pt x="80819" y="817753"/>
                  </a:lnTo>
                  <a:lnTo>
                    <a:pt x="44487" y="832715"/>
                  </a:lnTo>
                  <a:lnTo>
                    <a:pt x="0" y="8382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9641" y="4636084"/>
            <a:ext cx="713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Inputs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5161" y="4420361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914400"/>
                </a:moveTo>
                <a:lnTo>
                  <a:pt x="122737" y="908405"/>
                </a:lnTo>
                <a:lnTo>
                  <a:pt x="98517" y="892063"/>
                </a:lnTo>
                <a:lnTo>
                  <a:pt x="82187" y="867840"/>
                </a:lnTo>
                <a:lnTo>
                  <a:pt x="76200" y="838200"/>
                </a:lnTo>
                <a:lnTo>
                  <a:pt x="76200" y="533400"/>
                </a:lnTo>
                <a:lnTo>
                  <a:pt x="70212" y="503759"/>
                </a:lnTo>
                <a:lnTo>
                  <a:pt x="53882" y="479536"/>
                </a:lnTo>
                <a:lnTo>
                  <a:pt x="29662" y="463194"/>
                </a:lnTo>
                <a:lnTo>
                  <a:pt x="0" y="457200"/>
                </a:lnTo>
                <a:lnTo>
                  <a:pt x="29662" y="451205"/>
                </a:lnTo>
                <a:lnTo>
                  <a:pt x="53882" y="434863"/>
                </a:lnTo>
                <a:lnTo>
                  <a:pt x="70212" y="410640"/>
                </a:lnTo>
                <a:lnTo>
                  <a:pt x="76200" y="381000"/>
                </a:lnTo>
                <a:lnTo>
                  <a:pt x="76200" y="76200"/>
                </a:lnTo>
                <a:lnTo>
                  <a:pt x="82187" y="46559"/>
                </a:lnTo>
                <a:lnTo>
                  <a:pt x="98517" y="22336"/>
                </a:lnTo>
                <a:lnTo>
                  <a:pt x="122737" y="5994"/>
                </a:ln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50734" y="4636084"/>
            <a:ext cx="90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</a:t>
            </a:r>
            <a:r>
              <a:rPr sz="1800" b="1" spc="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uts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37460" y="5334000"/>
            <a:ext cx="2268220" cy="1198245"/>
            <a:chOff x="2537460" y="5334000"/>
            <a:chExt cx="2268220" cy="1198245"/>
          </a:xfrm>
        </p:grpSpPr>
        <p:sp>
          <p:nvSpPr>
            <p:cNvPr id="17" name="object 17"/>
            <p:cNvSpPr/>
            <p:nvPr/>
          </p:nvSpPr>
          <p:spPr>
            <a:xfrm>
              <a:off x="2537460" y="5346191"/>
              <a:ext cx="1310640" cy="1175385"/>
            </a:xfrm>
            <a:custGeom>
              <a:avLst/>
              <a:gdLst/>
              <a:ahLst/>
              <a:cxnLst/>
              <a:rect l="l" t="t" r="r" b="b"/>
              <a:pathLst>
                <a:path w="1310639" h="1175384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175016"/>
                  </a:lnTo>
                  <a:lnTo>
                    <a:pt x="44450" y="1175004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1310639" h="1175384">
                  <a:moveTo>
                    <a:pt x="1310640" y="76200"/>
                  </a:moveTo>
                  <a:lnTo>
                    <a:pt x="1304290" y="63500"/>
                  </a:lnTo>
                  <a:lnTo>
                    <a:pt x="1272540" y="0"/>
                  </a:lnTo>
                  <a:lnTo>
                    <a:pt x="1234440" y="76200"/>
                  </a:lnTo>
                  <a:lnTo>
                    <a:pt x="1266190" y="76200"/>
                  </a:lnTo>
                  <a:lnTo>
                    <a:pt x="1266190" y="749808"/>
                  </a:lnTo>
                  <a:lnTo>
                    <a:pt x="1278890" y="749808"/>
                  </a:lnTo>
                  <a:lnTo>
                    <a:pt x="1278890" y="76200"/>
                  </a:lnTo>
                  <a:lnTo>
                    <a:pt x="131064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75560" y="6080759"/>
              <a:ext cx="2225040" cy="447040"/>
            </a:xfrm>
            <a:custGeom>
              <a:avLst/>
              <a:gdLst/>
              <a:ahLst/>
              <a:cxnLst/>
              <a:rect l="l" t="t" r="r" b="b"/>
              <a:pathLst>
                <a:path w="2225040" h="447040">
                  <a:moveTo>
                    <a:pt x="0" y="446531"/>
                  </a:moveTo>
                  <a:lnTo>
                    <a:pt x="2209800" y="446531"/>
                  </a:lnTo>
                </a:path>
                <a:path w="2225040" h="447040">
                  <a:moveTo>
                    <a:pt x="1234439" y="0"/>
                  </a:moveTo>
                  <a:lnTo>
                    <a:pt x="222504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2300" y="5334000"/>
              <a:ext cx="76200" cy="914400"/>
            </a:xfrm>
            <a:custGeom>
              <a:avLst/>
              <a:gdLst/>
              <a:ahLst/>
              <a:cxnLst/>
              <a:rect l="l" t="t" r="r" b="b"/>
              <a:pathLst>
                <a:path w="76200" h="9144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914400"/>
                  </a:lnTo>
                  <a:lnTo>
                    <a:pt x="44450" y="914400"/>
                  </a:lnTo>
                  <a:lnTo>
                    <a:pt x="44450" y="63500"/>
                  </a:lnTo>
                  <a:close/>
                </a:path>
                <a:path w="76200" h="9144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9144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0" y="6248400"/>
              <a:ext cx="1600200" cy="15240"/>
            </a:xfrm>
            <a:custGeom>
              <a:avLst/>
              <a:gdLst/>
              <a:ahLst/>
              <a:cxnLst/>
              <a:rect l="l" t="t" r="r" b="b"/>
              <a:pathLst>
                <a:path w="1600200" h="15239">
                  <a:moveTo>
                    <a:pt x="0" y="0"/>
                  </a:moveTo>
                  <a:lnTo>
                    <a:pt x="1600200" y="152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51103"/>
            <a:ext cx="8759825" cy="48425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1-Bit Memory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Cell: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Basic </a:t>
            </a:r>
            <a:r>
              <a:rPr sz="2000" b="1" spc="-5" dirty="0">
                <a:latin typeface="Arial"/>
                <a:cs typeface="Arial"/>
              </a:rPr>
              <a:t>digital </a:t>
            </a:r>
            <a:r>
              <a:rPr sz="2000" b="1" dirty="0">
                <a:latin typeface="Arial"/>
                <a:cs typeface="Arial"/>
              </a:rPr>
              <a:t>memory circuit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also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Flip-flop.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has </a:t>
            </a:r>
            <a:r>
              <a:rPr sz="2000" b="1" dirty="0">
                <a:latin typeface="Arial"/>
                <a:cs typeface="Arial"/>
              </a:rPr>
              <a:t>two </a:t>
            </a:r>
            <a:r>
              <a:rPr sz="2000" b="1" spc="-5" dirty="0">
                <a:latin typeface="Arial"/>
                <a:cs typeface="Arial"/>
              </a:rPr>
              <a:t>stable states </a:t>
            </a:r>
            <a:r>
              <a:rPr sz="2000" b="1" dirty="0">
                <a:latin typeface="Arial"/>
                <a:cs typeface="Arial"/>
              </a:rPr>
              <a:t>namely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1 </a:t>
            </a:r>
            <a:r>
              <a:rPr sz="2000" b="1" spc="-5" dirty="0">
                <a:latin typeface="Arial"/>
                <a:cs typeface="Arial"/>
              </a:rPr>
              <a:t>state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0 </a:t>
            </a:r>
            <a:r>
              <a:rPr sz="2000" b="1" spc="-5" dirty="0">
                <a:latin typeface="Arial"/>
                <a:cs typeface="Arial"/>
              </a:rPr>
              <a:t>state. It </a:t>
            </a:r>
            <a:r>
              <a:rPr sz="2000" b="1" dirty="0">
                <a:latin typeface="Arial"/>
                <a:cs typeface="Arial"/>
              </a:rPr>
              <a:t>can 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designed either using NOR gates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spc="5" dirty="0">
                <a:latin typeface="Arial"/>
                <a:cs typeface="Arial"/>
              </a:rPr>
              <a:t>NAND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gates.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Flip-flop can be designed </a:t>
            </a:r>
            <a:r>
              <a:rPr sz="2000" b="1" dirty="0">
                <a:latin typeface="Arial"/>
                <a:cs typeface="Arial"/>
              </a:rPr>
              <a:t>using NAND gates 1 and 2, where these  two </a:t>
            </a:r>
            <a:r>
              <a:rPr sz="2000" b="1" spc="-5" dirty="0">
                <a:latin typeface="Arial"/>
                <a:cs typeface="Arial"/>
              </a:rPr>
              <a:t>gates G1 </a:t>
            </a:r>
            <a:r>
              <a:rPr sz="2000" b="1" dirty="0">
                <a:latin typeface="Arial"/>
                <a:cs typeface="Arial"/>
              </a:rPr>
              <a:t>&amp; G2 </a:t>
            </a:r>
            <a:r>
              <a:rPr sz="2000" b="1" spc="-5" dirty="0">
                <a:latin typeface="Arial"/>
                <a:cs typeface="Arial"/>
              </a:rPr>
              <a:t>act </a:t>
            </a:r>
            <a:r>
              <a:rPr sz="2000" b="1" spc="-10" dirty="0">
                <a:latin typeface="Arial"/>
                <a:cs typeface="Arial"/>
              </a:rPr>
              <a:t>as </a:t>
            </a:r>
            <a:r>
              <a:rPr sz="2000" b="1" spc="-5" dirty="0">
                <a:latin typeface="Arial"/>
                <a:cs typeface="Arial"/>
              </a:rPr>
              <a:t>inverters. </a:t>
            </a:r>
            <a:r>
              <a:rPr sz="2000" b="1" dirty="0">
                <a:latin typeface="Arial"/>
                <a:cs typeface="Arial"/>
              </a:rPr>
              <a:t>Hence </a:t>
            </a:r>
            <a:r>
              <a:rPr sz="2000" b="1" spc="-5" dirty="0">
                <a:latin typeface="Arial"/>
                <a:cs typeface="Arial"/>
              </a:rPr>
              <a:t>this circuit is called </a:t>
            </a:r>
            <a:r>
              <a:rPr sz="2000" b="1" dirty="0">
                <a:latin typeface="Arial"/>
                <a:cs typeface="Arial"/>
              </a:rPr>
              <a:t>as a  cross coupled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inverter.</a:t>
            </a:r>
            <a:endParaRPr sz="2000">
              <a:latin typeface="Arial"/>
              <a:cs typeface="Arial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Output of G1 is </a:t>
            </a:r>
            <a:r>
              <a:rPr sz="2000" b="1" dirty="0">
                <a:latin typeface="Arial"/>
                <a:cs typeface="Arial"/>
              </a:rPr>
              <a:t>connected to the </a:t>
            </a:r>
            <a:r>
              <a:rPr sz="2000" b="1" spc="-5" dirty="0">
                <a:latin typeface="Arial"/>
                <a:cs typeface="Arial"/>
              </a:rPr>
              <a:t>input </a:t>
            </a:r>
            <a:r>
              <a:rPr sz="2000" b="1" spc="-10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G2 &amp; output </a:t>
            </a:r>
            <a:r>
              <a:rPr sz="2000" b="1" spc="-10" dirty="0">
                <a:latin typeface="Arial"/>
                <a:cs typeface="Arial"/>
              </a:rPr>
              <a:t>of </a:t>
            </a:r>
            <a:r>
              <a:rPr sz="2000" b="1" spc="-5" dirty="0">
                <a:latin typeface="Arial"/>
                <a:cs typeface="Arial"/>
              </a:rPr>
              <a:t>G2 </a:t>
            </a:r>
            <a:r>
              <a:rPr sz="2000" b="1" spc="-2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connected to input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G1.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Assume Q=1 then input for G2 </a:t>
            </a:r>
            <a:r>
              <a:rPr sz="2000" b="1" spc="-5" dirty="0">
                <a:latin typeface="Arial"/>
                <a:cs typeface="Arial"/>
              </a:rPr>
              <a:t>i.e.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B2=1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As B2=1, output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gate-2 </a:t>
            </a:r>
            <a:r>
              <a:rPr sz="2000" b="1" spc="-5" dirty="0">
                <a:latin typeface="Arial"/>
                <a:cs typeface="Arial"/>
              </a:rPr>
              <a:t>ie. </a:t>
            </a:r>
            <a:r>
              <a:rPr sz="2000" b="1" dirty="0">
                <a:latin typeface="Arial"/>
                <a:cs typeface="Arial"/>
              </a:rPr>
              <a:t>G2 </a:t>
            </a:r>
            <a:r>
              <a:rPr sz="2000" b="1" spc="-10" dirty="0">
                <a:latin typeface="Arial"/>
                <a:cs typeface="Arial"/>
              </a:rPr>
              <a:t>i..e </a:t>
            </a:r>
            <a:r>
              <a:rPr sz="2000" b="1" dirty="0">
                <a:latin typeface="Arial"/>
                <a:cs typeface="Arial"/>
              </a:rPr>
              <a:t>Q=0. This makes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B1=0.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Q continues to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equal to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2000" b="1" spc="-5" dirty="0">
                <a:latin typeface="Arial"/>
                <a:cs typeface="Arial"/>
              </a:rPr>
              <a:t>imilarly, if </a:t>
            </a:r>
            <a:r>
              <a:rPr sz="2000" b="1" spc="10" dirty="0">
                <a:latin typeface="Arial"/>
                <a:cs typeface="Arial"/>
              </a:rPr>
              <a:t>we </a:t>
            </a:r>
            <a:r>
              <a:rPr sz="2000" b="1" spc="-5" dirty="0">
                <a:latin typeface="Arial"/>
                <a:cs typeface="Arial"/>
              </a:rPr>
              <a:t>start with Q=0, </a:t>
            </a:r>
            <a:r>
              <a:rPr sz="2000" b="1" dirty="0">
                <a:latin typeface="Arial"/>
                <a:cs typeface="Arial"/>
              </a:rPr>
              <a:t>then </a:t>
            </a:r>
            <a:r>
              <a:rPr sz="2000" b="1" spc="25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end up obtaining </a:t>
            </a:r>
            <a:r>
              <a:rPr sz="2000" b="1" spc="-5" dirty="0">
                <a:latin typeface="Arial"/>
                <a:cs typeface="Arial"/>
              </a:rPr>
              <a:t>Q=0 </a:t>
            </a:r>
            <a:r>
              <a:rPr sz="2000" b="1" dirty="0">
                <a:latin typeface="Arial"/>
                <a:cs typeface="Arial"/>
              </a:rPr>
              <a:t>and  Q=1.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77561" y="415975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2096261" y="1087374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28966" y="145770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54161" y="178536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007" y="4118740"/>
            <a:ext cx="5436578" cy="2207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2242" y="487892"/>
            <a:ext cx="8759190" cy="395477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b="1" spc="-5" dirty="0">
                <a:latin typeface="Arial"/>
                <a:cs typeface="Arial"/>
              </a:rPr>
              <a:t>Cross Coupled</a:t>
            </a:r>
            <a:r>
              <a:rPr sz="2800" b="1" spc="5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Inverters:</a:t>
            </a:r>
            <a:endParaRPr sz="2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Outputs Q &amp; Q are </a:t>
            </a:r>
            <a:r>
              <a:rPr sz="2000" b="1" spc="-5" dirty="0">
                <a:latin typeface="Arial"/>
                <a:cs typeface="Arial"/>
              </a:rPr>
              <a:t>always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complimentary.</a:t>
            </a:r>
            <a:endParaRPr sz="2000">
              <a:latin typeface="Arial"/>
              <a:cs typeface="Arial"/>
            </a:endParaRPr>
          </a:p>
          <a:p>
            <a:pPr marL="355600" marR="889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circuit has </a:t>
            </a: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spc="-5" dirty="0">
                <a:latin typeface="Arial"/>
                <a:cs typeface="Arial"/>
              </a:rPr>
              <a:t>stable </a:t>
            </a:r>
            <a:r>
              <a:rPr sz="2000" b="1" dirty="0">
                <a:latin typeface="Arial"/>
                <a:cs typeface="Arial"/>
              </a:rPr>
              <a:t>states, </a:t>
            </a:r>
            <a:r>
              <a:rPr sz="2000" b="1" spc="-5" dirty="0">
                <a:latin typeface="Arial"/>
                <a:cs typeface="Arial"/>
              </a:rPr>
              <a:t>in one </a:t>
            </a:r>
            <a:r>
              <a:rPr sz="2000" b="1" dirty="0">
                <a:latin typeface="Arial"/>
                <a:cs typeface="Arial"/>
              </a:rPr>
              <a:t>stable </a:t>
            </a:r>
            <a:r>
              <a:rPr sz="2000" b="1" spc="-5" dirty="0">
                <a:latin typeface="Arial"/>
                <a:cs typeface="Arial"/>
              </a:rPr>
              <a:t>state </a:t>
            </a:r>
            <a:r>
              <a:rPr sz="2000" b="1" spc="-10" dirty="0">
                <a:latin typeface="Arial"/>
                <a:cs typeface="Arial"/>
              </a:rPr>
              <a:t>Q=1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10" dirty="0">
                <a:latin typeface="Arial"/>
                <a:cs typeface="Arial"/>
              </a:rPr>
              <a:t>Q=0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20" dirty="0">
                <a:latin typeface="Arial"/>
                <a:cs typeface="Arial"/>
              </a:rPr>
              <a:t>it  </a:t>
            </a:r>
            <a:r>
              <a:rPr sz="2000" b="1" spc="-5" dirty="0">
                <a:latin typeface="Arial"/>
                <a:cs typeface="Arial"/>
              </a:rPr>
              <a:t>is called </a:t>
            </a:r>
            <a:r>
              <a:rPr sz="2000" b="1" dirty="0">
                <a:latin typeface="Arial"/>
                <a:cs typeface="Arial"/>
              </a:rPr>
              <a:t>as 1 </a:t>
            </a:r>
            <a:r>
              <a:rPr sz="2000" b="1" spc="-5" dirty="0">
                <a:latin typeface="Arial"/>
                <a:cs typeface="Arial"/>
              </a:rPr>
              <a:t>state </a:t>
            </a:r>
            <a:r>
              <a:rPr sz="2000" b="1" spc="-10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set </a:t>
            </a:r>
            <a:r>
              <a:rPr sz="2000" b="1" spc="-5" dirty="0">
                <a:latin typeface="Arial"/>
                <a:cs typeface="Arial"/>
              </a:rPr>
              <a:t>state. Whereas </a:t>
            </a:r>
            <a:r>
              <a:rPr sz="2000" b="1" dirty="0">
                <a:latin typeface="Arial"/>
                <a:cs typeface="Arial"/>
              </a:rPr>
              <a:t>the other </a:t>
            </a:r>
            <a:r>
              <a:rPr sz="2000" b="1" spc="-5" dirty="0">
                <a:latin typeface="Arial"/>
                <a:cs typeface="Arial"/>
              </a:rPr>
              <a:t>Q=0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10" dirty="0">
                <a:latin typeface="Arial"/>
                <a:cs typeface="Arial"/>
              </a:rPr>
              <a:t>Q=1 </a:t>
            </a:r>
            <a:r>
              <a:rPr sz="2000" b="1" spc="-2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called as 0 state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reset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If circuit is </a:t>
            </a:r>
            <a:r>
              <a:rPr sz="2000" b="1" spc="-10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1 </a:t>
            </a:r>
            <a:r>
              <a:rPr sz="2000" b="1" spc="-5" dirty="0">
                <a:latin typeface="Arial"/>
                <a:cs typeface="Arial"/>
              </a:rPr>
              <a:t>reset state, </a:t>
            </a:r>
            <a:r>
              <a:rPr sz="2000" b="1" dirty="0">
                <a:latin typeface="Arial"/>
                <a:cs typeface="Arial"/>
              </a:rPr>
              <a:t>then </a:t>
            </a:r>
            <a:r>
              <a:rPr sz="2000" b="1" spc="-5" dirty="0">
                <a:latin typeface="Arial"/>
                <a:cs typeface="Arial"/>
              </a:rPr>
              <a:t>it will </a:t>
            </a:r>
            <a:r>
              <a:rPr sz="2000" b="1" dirty="0">
                <a:latin typeface="Arial"/>
                <a:cs typeface="Arial"/>
              </a:rPr>
              <a:t>continue to </a:t>
            </a:r>
            <a:r>
              <a:rPr sz="2000" b="1" spc="-5" dirty="0">
                <a:latin typeface="Arial"/>
                <a:cs typeface="Arial"/>
              </a:rPr>
              <a:t>be in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reset state 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b="1" spc="-10" dirty="0">
                <a:latin typeface="Arial"/>
                <a:cs typeface="Arial"/>
              </a:rPr>
              <a:t>it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spc="-10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set state then </a:t>
            </a:r>
            <a:r>
              <a:rPr sz="2000" b="1" spc="-10" dirty="0">
                <a:latin typeface="Arial"/>
                <a:cs typeface="Arial"/>
              </a:rPr>
              <a:t>it </a:t>
            </a:r>
            <a:r>
              <a:rPr sz="2000" b="1" spc="-5" dirty="0">
                <a:latin typeface="Arial"/>
                <a:cs typeface="Arial"/>
              </a:rPr>
              <a:t>will continue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remain in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set 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property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1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circuit</a:t>
            </a:r>
            <a:r>
              <a:rPr sz="2000" b="1" spc="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shows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it</a:t>
            </a:r>
            <a:r>
              <a:rPr sz="2000" b="1" spc="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can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store</a:t>
            </a:r>
            <a:r>
              <a:rPr sz="2000" b="1" spc="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bit</a:t>
            </a:r>
            <a:r>
              <a:rPr sz="2000" b="1" spc="1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of</a:t>
            </a:r>
            <a:r>
              <a:rPr sz="2000" b="1" spc="16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digital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information and hence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 1 </a:t>
            </a:r>
            <a:r>
              <a:rPr sz="2000" b="1" spc="-5" dirty="0">
                <a:latin typeface="Arial"/>
                <a:cs typeface="Arial"/>
              </a:rPr>
              <a:t>bit </a:t>
            </a:r>
            <a:r>
              <a:rPr sz="2000" b="1" dirty="0">
                <a:latin typeface="Arial"/>
                <a:cs typeface="Arial"/>
              </a:rPr>
              <a:t>memory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cell.</a:t>
            </a:r>
            <a:endParaRPr sz="2000">
              <a:latin typeface="Arial"/>
              <a:cs typeface="Arial"/>
            </a:endParaRPr>
          </a:p>
          <a:p>
            <a:pPr marL="1158875">
              <a:lnSpc>
                <a:spcPct val="100000"/>
              </a:lnSpc>
              <a:spcBef>
                <a:spcPts val="1180"/>
              </a:spcBef>
            </a:pPr>
            <a:r>
              <a:rPr sz="1800" b="1" spc="-30" dirty="0">
                <a:latin typeface="Arial"/>
                <a:cs typeface="Arial"/>
              </a:rPr>
              <a:t>A1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1416" y="5972047"/>
            <a:ext cx="635698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latin typeface="Arial"/>
                <a:cs typeface="Arial"/>
              </a:rPr>
              <a:t>A2</a:t>
            </a:r>
            <a:endParaRPr sz="1800">
              <a:latin typeface="Arial"/>
              <a:cs typeface="Arial"/>
            </a:endParaRPr>
          </a:p>
          <a:p>
            <a:pPr marL="835025">
              <a:lnSpc>
                <a:spcPct val="100000"/>
              </a:lnSpc>
              <a:spcBef>
                <a:spcPts val="1425"/>
              </a:spcBef>
            </a:pPr>
            <a:r>
              <a:rPr sz="1800" b="1" dirty="0">
                <a:latin typeface="Arial"/>
                <a:cs typeface="Arial"/>
              </a:rPr>
              <a:t>Fig. </a:t>
            </a:r>
            <a:r>
              <a:rPr sz="1800" b="1" spc="-5" dirty="0">
                <a:latin typeface="Arial"/>
                <a:cs typeface="Arial"/>
              </a:rPr>
              <a:t>Cross </a:t>
            </a:r>
            <a:r>
              <a:rPr sz="1800" b="1" dirty="0">
                <a:latin typeface="Arial"/>
                <a:cs typeface="Arial"/>
              </a:rPr>
              <a:t>Coupled </a:t>
            </a:r>
            <a:r>
              <a:rPr sz="1800" b="1" spc="-10" dirty="0">
                <a:latin typeface="Arial"/>
                <a:cs typeface="Arial"/>
              </a:rPr>
              <a:t>inverters </a:t>
            </a:r>
            <a:r>
              <a:rPr sz="1800" b="1" spc="-5" dirty="0">
                <a:latin typeface="Arial"/>
                <a:cs typeface="Arial"/>
              </a:rPr>
              <a:t>as a memory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element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941" y="666478"/>
            <a:ext cx="8651875" cy="48107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b="1" spc="-5" dirty="0">
                <a:latin typeface="Arial"/>
                <a:cs typeface="Arial"/>
              </a:rPr>
              <a:t>Latch:</a:t>
            </a:r>
            <a:endParaRPr sz="28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5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cross </a:t>
            </a:r>
            <a:r>
              <a:rPr sz="2000" b="1" spc="-5" dirty="0">
                <a:latin typeface="Arial"/>
                <a:cs typeface="Arial"/>
              </a:rPr>
              <a:t>coupled inverter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capable of locking or latching </a:t>
            </a:r>
            <a:r>
              <a:rPr sz="2000" b="1" dirty="0">
                <a:latin typeface="Arial"/>
                <a:cs typeface="Arial"/>
              </a:rPr>
              <a:t>the  information, hence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 a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latch.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Disadvantage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this </a:t>
            </a:r>
            <a:r>
              <a:rPr sz="2000" b="1" spc="-5" dirty="0">
                <a:latin typeface="Arial"/>
                <a:cs typeface="Arial"/>
              </a:rPr>
              <a:t>circuit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that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cannot enter the </a:t>
            </a:r>
            <a:r>
              <a:rPr sz="2000" b="1" spc="-5" dirty="0">
                <a:latin typeface="Arial"/>
                <a:cs typeface="Arial"/>
              </a:rPr>
              <a:t>desired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digital </a:t>
            </a:r>
            <a:r>
              <a:rPr sz="2000" b="1" dirty="0">
                <a:latin typeface="Arial"/>
                <a:cs typeface="Arial"/>
              </a:rPr>
              <a:t>data into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This disadvantage </a:t>
            </a:r>
            <a:r>
              <a:rPr sz="2000" b="1" spc="-5" dirty="0">
                <a:latin typeface="Arial"/>
                <a:cs typeface="Arial"/>
              </a:rPr>
              <a:t>can be </a:t>
            </a:r>
            <a:r>
              <a:rPr sz="2000" b="1" dirty="0">
                <a:latin typeface="Arial"/>
                <a:cs typeface="Arial"/>
              </a:rPr>
              <a:t>overcome </a:t>
            </a: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spc="-5" dirty="0">
                <a:latin typeface="Arial"/>
                <a:cs typeface="Arial"/>
              </a:rPr>
              <a:t>modifying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circuit, </a:t>
            </a:r>
            <a:r>
              <a:rPr sz="2000" b="1" dirty="0">
                <a:latin typeface="Arial"/>
                <a:cs typeface="Arial"/>
              </a:rPr>
              <a:t>which  allows us to enter the desired </a:t>
            </a:r>
            <a:r>
              <a:rPr sz="2000" b="1" spc="-5" dirty="0">
                <a:latin typeface="Arial"/>
                <a:cs typeface="Arial"/>
              </a:rPr>
              <a:t>digital </a:t>
            </a:r>
            <a:r>
              <a:rPr sz="2000" b="1" dirty="0">
                <a:latin typeface="Arial"/>
                <a:cs typeface="Arial"/>
              </a:rPr>
              <a:t>data into the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latch </a:t>
            </a:r>
            <a:r>
              <a:rPr sz="2000" b="1" spc="-5" dirty="0">
                <a:latin typeface="Arial"/>
                <a:cs typeface="Arial"/>
              </a:rPr>
              <a:t>there is </a:t>
            </a:r>
            <a:r>
              <a:rPr sz="2000" b="1" dirty="0">
                <a:latin typeface="Arial"/>
                <a:cs typeface="Arial"/>
              </a:rPr>
              <a:t>no </a:t>
            </a:r>
            <a:r>
              <a:rPr sz="2000" b="1" spc="10" dirty="0">
                <a:latin typeface="Arial"/>
                <a:cs typeface="Arial"/>
              </a:rPr>
              <a:t>way </a:t>
            </a:r>
            <a:r>
              <a:rPr sz="2000" b="1" dirty="0">
                <a:latin typeface="Arial"/>
                <a:cs typeface="Arial"/>
              </a:rPr>
              <a:t>of </a:t>
            </a:r>
            <a:r>
              <a:rPr sz="2000" b="1" spc="-5" dirty="0">
                <a:latin typeface="Arial"/>
                <a:cs typeface="Arial"/>
              </a:rPr>
              <a:t>entering the desired digital information </a:t>
            </a:r>
            <a:r>
              <a:rPr sz="2000" b="1" dirty="0">
                <a:latin typeface="Arial"/>
                <a:cs typeface="Arial"/>
              </a:rPr>
              <a:t>to 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stored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spc="-10" dirty="0">
                <a:latin typeface="Arial"/>
                <a:cs typeface="Arial"/>
              </a:rPr>
              <a:t>it. </a:t>
            </a:r>
            <a:r>
              <a:rPr sz="2000" b="1" dirty="0">
                <a:latin typeface="Arial"/>
                <a:cs typeface="Arial"/>
              </a:rPr>
              <a:t>Since </a:t>
            </a:r>
            <a:r>
              <a:rPr sz="2000" b="1" spc="5" dirty="0">
                <a:latin typeface="Arial"/>
                <a:cs typeface="Arial"/>
              </a:rPr>
              <a:t>when </a:t>
            </a:r>
            <a:r>
              <a:rPr sz="2000" b="1" spc="-5" dirty="0">
                <a:latin typeface="Arial"/>
                <a:cs typeface="Arial"/>
              </a:rPr>
              <a:t>the circuit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switched </a:t>
            </a:r>
            <a:r>
              <a:rPr sz="2000" b="1" dirty="0">
                <a:latin typeface="Arial"/>
                <a:cs typeface="Arial"/>
              </a:rPr>
              <a:t>ON, the </a:t>
            </a:r>
            <a:r>
              <a:rPr sz="2000" b="1" spc="-5" dirty="0">
                <a:latin typeface="Arial"/>
                <a:cs typeface="Arial"/>
              </a:rPr>
              <a:t>circuit  switches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one of </a:t>
            </a:r>
            <a:r>
              <a:rPr sz="2000" b="1" dirty="0">
                <a:latin typeface="Arial"/>
                <a:cs typeface="Arial"/>
              </a:rPr>
              <a:t>the stable </a:t>
            </a:r>
            <a:r>
              <a:rPr sz="2000" b="1" spc="-5" dirty="0">
                <a:latin typeface="Arial"/>
                <a:cs typeface="Arial"/>
              </a:rPr>
              <a:t>states. Thus </a:t>
            </a:r>
            <a:r>
              <a:rPr sz="2000" b="1" dirty="0">
                <a:latin typeface="Arial"/>
                <a:cs typeface="Arial"/>
              </a:rPr>
              <a:t>additional </a:t>
            </a:r>
            <a:r>
              <a:rPr sz="2000" b="1" spc="-5" dirty="0">
                <a:latin typeface="Arial"/>
                <a:cs typeface="Arial"/>
              </a:rPr>
              <a:t>gates are  </a:t>
            </a:r>
            <a:r>
              <a:rPr sz="2000" b="1" dirty="0">
                <a:latin typeface="Arial"/>
                <a:cs typeface="Arial"/>
              </a:rPr>
              <a:t>added to enter the desired </a:t>
            </a:r>
            <a:r>
              <a:rPr sz="2000" b="1" spc="-5" dirty="0">
                <a:latin typeface="Arial"/>
                <a:cs typeface="Arial"/>
              </a:rPr>
              <a:t>digital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information.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 two </a:t>
            </a:r>
            <a:r>
              <a:rPr sz="2000" b="1" spc="-5" dirty="0">
                <a:latin typeface="Arial"/>
                <a:cs typeface="Arial"/>
              </a:rPr>
              <a:t>input terminals </a:t>
            </a:r>
            <a:r>
              <a:rPr sz="2000" b="1" dirty="0">
                <a:latin typeface="Arial"/>
                <a:cs typeface="Arial"/>
              </a:rPr>
              <a:t>are </a:t>
            </a:r>
            <a:r>
              <a:rPr sz="2000" b="1" spc="-5" dirty="0">
                <a:latin typeface="Arial"/>
                <a:cs typeface="Arial"/>
              </a:rPr>
              <a:t>designated </a:t>
            </a:r>
            <a:r>
              <a:rPr sz="2000" b="1" dirty="0">
                <a:latin typeface="Arial"/>
                <a:cs typeface="Arial"/>
              </a:rPr>
              <a:t>as </a:t>
            </a:r>
            <a:r>
              <a:rPr sz="2000" b="1" spc="-5" dirty="0">
                <a:latin typeface="Arial"/>
                <a:cs typeface="Arial"/>
              </a:rPr>
              <a:t>set </a:t>
            </a:r>
            <a:r>
              <a:rPr sz="2000" b="1" dirty="0">
                <a:latin typeface="Arial"/>
                <a:cs typeface="Arial"/>
              </a:rPr>
              <a:t>(S) and </a:t>
            </a:r>
            <a:r>
              <a:rPr sz="2000" b="1" spc="-5" dirty="0">
                <a:latin typeface="Arial"/>
                <a:cs typeface="Arial"/>
              </a:rPr>
              <a:t>reset (R)  </a:t>
            </a:r>
            <a:r>
              <a:rPr sz="2000" b="1" dirty="0">
                <a:latin typeface="Arial"/>
                <a:cs typeface="Arial"/>
              </a:rPr>
              <a:t>because </a:t>
            </a:r>
            <a:r>
              <a:rPr sz="2000" b="1" spc="-5" dirty="0">
                <a:latin typeface="Arial"/>
                <a:cs typeface="Arial"/>
              </a:rPr>
              <a:t>S=1 </a:t>
            </a:r>
            <a:r>
              <a:rPr sz="2000" b="1" dirty="0">
                <a:latin typeface="Arial"/>
                <a:cs typeface="Arial"/>
              </a:rPr>
              <a:t>brings the </a:t>
            </a:r>
            <a:r>
              <a:rPr sz="2000" b="1" spc="-5" dirty="0">
                <a:latin typeface="Arial"/>
                <a:cs typeface="Arial"/>
              </a:rPr>
              <a:t>circuit in set state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R=1 </a:t>
            </a:r>
            <a:r>
              <a:rPr sz="2000" b="1" dirty="0">
                <a:latin typeface="Arial"/>
                <a:cs typeface="Arial"/>
              </a:rPr>
              <a:t>brings </a:t>
            </a:r>
            <a:r>
              <a:rPr sz="2000" b="1" spc="-10" dirty="0">
                <a:latin typeface="Arial"/>
                <a:cs typeface="Arial"/>
              </a:rPr>
              <a:t>it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reset  or </a:t>
            </a:r>
            <a:r>
              <a:rPr sz="2000" b="1" dirty="0">
                <a:latin typeface="Arial"/>
                <a:cs typeface="Arial"/>
              </a:rPr>
              <a:t>clear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115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Bistable- </a:t>
            </a:r>
            <a:r>
              <a:rPr sz="3600" spc="-5" dirty="0"/>
              <a:t>Flip Flops </a:t>
            </a:r>
            <a:r>
              <a:rPr sz="3600" dirty="0"/>
              <a:t>made </a:t>
            </a:r>
            <a:r>
              <a:rPr sz="3600" spc="-5" dirty="0"/>
              <a:t>with</a:t>
            </a:r>
            <a:r>
              <a:rPr sz="3600" spc="-10" dirty="0"/>
              <a:t> </a:t>
            </a:r>
            <a:r>
              <a:rPr sz="3600" dirty="0" smtClean="0"/>
              <a:t>N</a:t>
            </a:r>
            <a:r>
              <a:rPr lang="en-US" sz="3600" dirty="0" smtClean="0"/>
              <a:t>OR</a:t>
            </a:r>
            <a:r>
              <a:rPr sz="3600" dirty="0" smtClean="0"/>
              <a:t>s</a:t>
            </a:r>
            <a:endParaRPr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4191000" y="1295400"/>
            <a:ext cx="35540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There are two outputs, Q and Q’</a:t>
            </a:r>
          </a:p>
          <a:p>
            <a:r>
              <a:rPr lang="en-US" sz="2000" dirty="0" smtClean="0"/>
              <a:t>Complement of each other</a:t>
            </a:r>
          </a:p>
          <a:p>
            <a:endParaRPr lang="en-US" sz="2000" dirty="0"/>
          </a:p>
          <a:p>
            <a:r>
              <a:rPr lang="en-US" sz="2000" dirty="0" smtClean="0"/>
              <a:t>Output is fed back to input</a:t>
            </a:r>
            <a:endParaRPr lang="en-US" sz="2000" dirty="0"/>
          </a:p>
        </p:txBody>
      </p:sp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958271"/>
              </p:ext>
            </p:extLst>
          </p:nvPr>
        </p:nvGraphicFramePr>
        <p:xfrm>
          <a:off x="6087859" y="3296949"/>
          <a:ext cx="2528456" cy="233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99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140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lang="en-US" sz="140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1400" spc="5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lang="en-US" sz="1400" spc="5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n+1</a:t>
                      </a:r>
                      <a:r>
                        <a:rPr sz="2000" spc="5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24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/>
                          <a:cs typeface="Times New Roman"/>
                        </a:rPr>
                        <a:t>Qn</a:t>
                      </a:r>
                      <a:endParaRPr lang="en-US" sz="1400" dirty="0" smtClean="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/>
                          <a:cs typeface="Times New Roman"/>
                        </a:rPr>
                        <a:t>Qn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’</a:t>
                      </a: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99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24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24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0</a:t>
                      </a: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Reset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1</a:t>
                      </a: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99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24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4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1400" dirty="0" smtClean="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Set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0</a:t>
                      </a: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680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5" y="1277649"/>
            <a:ext cx="2952750" cy="20193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84491"/>
              </p:ext>
            </p:extLst>
          </p:nvPr>
        </p:nvGraphicFramePr>
        <p:xfrm>
          <a:off x="339437" y="3632995"/>
          <a:ext cx="187036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455">
                  <a:extLst>
                    <a:ext uri="{9D8B030D-6E8A-4147-A177-3AD203B41FA5}">
                      <a16:colId xmlns:a16="http://schemas.microsoft.com/office/drawing/2014/main" val="1319873268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2830609907"/>
                    </a:ext>
                  </a:extLst>
                </a:gridCol>
                <a:gridCol w="623455">
                  <a:extLst>
                    <a:ext uri="{9D8B030D-6E8A-4147-A177-3AD203B41FA5}">
                      <a16:colId xmlns:a16="http://schemas.microsoft.com/office/drawing/2014/main" val="851339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42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66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68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977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28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89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77" y="5283"/>
            <a:ext cx="83115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Bistable- </a:t>
            </a:r>
            <a:r>
              <a:rPr sz="3600" spc="-5" dirty="0"/>
              <a:t>Flip Flops </a:t>
            </a:r>
            <a:r>
              <a:rPr sz="3600" dirty="0"/>
              <a:t>made </a:t>
            </a:r>
            <a:r>
              <a:rPr sz="3600" spc="-5" dirty="0"/>
              <a:t>with</a:t>
            </a:r>
            <a:r>
              <a:rPr sz="3600" spc="-10" dirty="0"/>
              <a:t> </a:t>
            </a:r>
            <a:r>
              <a:rPr sz="3600" dirty="0"/>
              <a:t>NANDs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35201"/>
              </p:ext>
            </p:extLst>
          </p:nvPr>
        </p:nvGraphicFramePr>
        <p:xfrm>
          <a:off x="5585629" y="2974827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2165" y="4172178"/>
            <a:ext cx="775970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marR="4682490">
              <a:lnSpc>
                <a:spcPct val="14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 </a:t>
            </a:r>
            <a:r>
              <a:rPr sz="2000" spc="-5" dirty="0">
                <a:latin typeface="Times New Roman"/>
                <a:cs typeface="Times New Roman"/>
              </a:rPr>
              <a:t>‘sets’ </a:t>
            </a:r>
            <a:r>
              <a:rPr sz="2000" dirty="0">
                <a:latin typeface="Times New Roman"/>
                <a:cs typeface="Times New Roman"/>
              </a:rPr>
              <a:t>Q HI when it is LO  R ‘resets’ Q LO when it is</a:t>
            </a:r>
            <a:r>
              <a:rPr sz="2000" spc="-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</a:t>
            </a:r>
          </a:p>
          <a:p>
            <a:pPr marL="77470">
              <a:lnSpc>
                <a:spcPts val="2215"/>
              </a:lnSpc>
              <a:spcBef>
                <a:spcPts val="960"/>
              </a:spcBef>
            </a:pPr>
            <a:r>
              <a:rPr sz="2000" dirty="0">
                <a:latin typeface="Times New Roman"/>
                <a:cs typeface="Times New Roman"/>
              </a:rPr>
              <a:t>S = R = LO is a ‘disallowed’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endParaRPr sz="2000" dirty="0">
              <a:latin typeface="Times New Roman"/>
              <a:cs typeface="Times New Roman"/>
            </a:endParaRPr>
          </a:p>
          <a:p>
            <a:pPr marL="77470">
              <a:lnSpc>
                <a:spcPts val="2215"/>
              </a:lnSpc>
            </a:pPr>
            <a:r>
              <a:rPr sz="2000" dirty="0">
                <a:latin typeface="Times New Roman"/>
                <a:cs typeface="Times New Roman"/>
              </a:rPr>
              <a:t>what happens when S = R =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HI?</a:t>
            </a:r>
          </a:p>
          <a:p>
            <a:pPr marL="12700" marR="5080">
              <a:lnSpc>
                <a:spcPct val="100000"/>
              </a:lnSpc>
              <a:spcBef>
                <a:spcPts val="1565"/>
              </a:spcBef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last state </a:t>
            </a:r>
            <a:r>
              <a:rPr sz="2000" dirty="0">
                <a:latin typeface="Times New Roman"/>
                <a:cs typeface="Times New Roman"/>
              </a:rPr>
              <a:t>depends on the previous </a:t>
            </a:r>
            <a:r>
              <a:rPr sz="2000" spc="-5" dirty="0">
                <a:latin typeface="Times New Roman"/>
                <a:cs typeface="Times New Roman"/>
              </a:rPr>
              <a:t>state, </a:t>
            </a:r>
            <a:r>
              <a:rPr sz="2000" dirty="0">
                <a:latin typeface="Times New Roman"/>
                <a:cs typeface="Times New Roman"/>
              </a:rPr>
              <a:t>since there are two possible  output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- thus sequential </a:t>
            </a:r>
            <a:r>
              <a:rPr sz="2000" spc="-5" dirty="0">
                <a:latin typeface="Times New Roman"/>
                <a:cs typeface="Times New Roman"/>
              </a:rPr>
              <a:t>logic. </a:t>
            </a:r>
            <a:r>
              <a:rPr sz="2000" dirty="0">
                <a:latin typeface="Times New Roman"/>
                <a:cs typeface="Times New Roman"/>
              </a:rPr>
              <a:t>What happens if you go from 00 to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11?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5730" y="2429636"/>
            <a:ext cx="1376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42516" y="2487167"/>
            <a:ext cx="1708785" cy="1457325"/>
            <a:chOff x="1342516" y="2487167"/>
            <a:chExt cx="1708785" cy="1457325"/>
          </a:xfrm>
        </p:grpSpPr>
        <p:sp>
          <p:nvSpPr>
            <p:cNvPr id="7" name="object 7"/>
            <p:cNvSpPr/>
            <p:nvPr/>
          </p:nvSpPr>
          <p:spPr>
            <a:xfrm>
              <a:off x="1370837" y="2797301"/>
              <a:ext cx="1600200" cy="685800"/>
            </a:xfrm>
            <a:custGeom>
              <a:avLst/>
              <a:gdLst/>
              <a:ahLst/>
              <a:cxnLst/>
              <a:rect l="l" t="t" r="r" b="b"/>
              <a:pathLst>
                <a:path w="1600200" h="685800">
                  <a:moveTo>
                    <a:pt x="1600200" y="0"/>
                  </a:moveTo>
                  <a:lnTo>
                    <a:pt x="0" y="685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4741" y="3477005"/>
              <a:ext cx="6350" cy="234950"/>
            </a:xfrm>
            <a:custGeom>
              <a:avLst/>
              <a:gdLst/>
              <a:ahLst/>
              <a:cxnLst/>
              <a:rect l="l" t="t" r="r" b="b"/>
              <a:pathLst>
                <a:path w="6350" h="234950">
                  <a:moveTo>
                    <a:pt x="3047" y="-19050"/>
                  </a:moveTo>
                  <a:lnTo>
                    <a:pt x="3047" y="253746"/>
                  </a:lnTo>
                </a:path>
              </a:pathLst>
            </a:custGeom>
            <a:ln w="4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0837" y="2568701"/>
              <a:ext cx="1600200" cy="1295400"/>
            </a:xfrm>
            <a:custGeom>
              <a:avLst/>
              <a:gdLst/>
              <a:ahLst/>
              <a:cxnLst/>
              <a:rect l="l" t="t" r="r" b="b"/>
              <a:pathLst>
                <a:path w="1600200" h="1295400">
                  <a:moveTo>
                    <a:pt x="1600200" y="0"/>
                  </a:moveTo>
                  <a:lnTo>
                    <a:pt x="1600200" y="228600"/>
                  </a:lnTo>
                </a:path>
                <a:path w="1600200" h="1295400">
                  <a:moveTo>
                    <a:pt x="1600200" y="1066800"/>
                  </a:moveTo>
                  <a:lnTo>
                    <a:pt x="0" y="381000"/>
                  </a:lnTo>
                </a:path>
                <a:path w="1600200" h="1295400">
                  <a:moveTo>
                    <a:pt x="0" y="394715"/>
                  </a:moveTo>
                  <a:lnTo>
                    <a:pt x="0" y="152400"/>
                  </a:lnTo>
                </a:path>
                <a:path w="1600200" h="1295400">
                  <a:moveTo>
                    <a:pt x="1600200" y="1295400"/>
                  </a:moveTo>
                  <a:lnTo>
                    <a:pt x="1600200" y="1066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9503" y="2487167"/>
              <a:ext cx="1615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94075" y="378713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5994" y="105840"/>
                  </a:lnTo>
                  <a:lnTo>
                    <a:pt x="22336" y="130063"/>
                  </a:lnTo>
                  <a:lnTo>
                    <a:pt x="46559" y="146405"/>
                  </a:lnTo>
                  <a:lnTo>
                    <a:pt x="76200" y="152400"/>
                  </a:lnTo>
                  <a:lnTo>
                    <a:pt x="105840" y="146405"/>
                  </a:lnTo>
                  <a:lnTo>
                    <a:pt x="130063" y="130063"/>
                  </a:lnTo>
                  <a:lnTo>
                    <a:pt x="146405" y="105840"/>
                  </a:lnTo>
                  <a:lnTo>
                    <a:pt x="152400" y="76200"/>
                  </a:lnTo>
                  <a:lnTo>
                    <a:pt x="146405" y="46559"/>
                  </a:lnTo>
                  <a:lnTo>
                    <a:pt x="130063" y="22336"/>
                  </a:lnTo>
                  <a:lnTo>
                    <a:pt x="105840" y="5994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94075" y="378713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05840" y="5994"/>
                  </a:lnTo>
                  <a:lnTo>
                    <a:pt x="130063" y="22336"/>
                  </a:lnTo>
                  <a:lnTo>
                    <a:pt x="146405" y="46559"/>
                  </a:lnTo>
                  <a:lnTo>
                    <a:pt x="152400" y="76200"/>
                  </a:lnTo>
                  <a:lnTo>
                    <a:pt x="146405" y="105840"/>
                  </a:lnTo>
                  <a:lnTo>
                    <a:pt x="130063" y="130063"/>
                  </a:lnTo>
                  <a:lnTo>
                    <a:pt x="105840" y="146405"/>
                  </a:lnTo>
                  <a:lnTo>
                    <a:pt x="76200" y="152400"/>
                  </a:lnTo>
                  <a:lnTo>
                    <a:pt x="46559" y="146405"/>
                  </a:lnTo>
                  <a:lnTo>
                    <a:pt x="22336" y="130063"/>
                  </a:lnTo>
                  <a:lnTo>
                    <a:pt x="5994" y="105840"/>
                  </a:lnTo>
                  <a:lnTo>
                    <a:pt x="0" y="76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4618" y="222326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916" y="381736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8251" y="2362961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02051" y="365861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99638" y="371170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194053" y="2236331"/>
            <a:ext cx="1986280" cy="1951989"/>
            <a:chOff x="1194053" y="2236331"/>
            <a:chExt cx="1986280" cy="1951989"/>
          </a:xfrm>
        </p:grpSpPr>
        <p:sp>
          <p:nvSpPr>
            <p:cNvPr id="19" name="object 19"/>
            <p:cNvSpPr/>
            <p:nvPr/>
          </p:nvSpPr>
          <p:spPr>
            <a:xfrm>
              <a:off x="2484119" y="2461260"/>
              <a:ext cx="190500" cy="1905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41169" y="2255381"/>
              <a:ext cx="1438910" cy="1624330"/>
            </a:xfrm>
            <a:custGeom>
              <a:avLst/>
              <a:gdLst/>
              <a:ahLst/>
              <a:cxnLst/>
              <a:rect l="l" t="t" r="r" b="b"/>
              <a:pathLst>
                <a:path w="1438910" h="1624329">
                  <a:moveTo>
                    <a:pt x="0" y="2678"/>
                  </a:moveTo>
                  <a:lnTo>
                    <a:pt x="0" y="55044"/>
                  </a:lnTo>
                  <a:lnTo>
                    <a:pt x="0" y="193099"/>
                  </a:lnTo>
                  <a:lnTo>
                    <a:pt x="0" y="388280"/>
                  </a:lnTo>
                  <a:lnTo>
                    <a:pt x="0" y="612024"/>
                  </a:lnTo>
                  <a:lnTo>
                    <a:pt x="94074" y="612024"/>
                  </a:lnTo>
                  <a:lnTo>
                    <a:pt x="457200" y="612024"/>
                  </a:lnTo>
                  <a:lnTo>
                    <a:pt x="494355" y="610865"/>
                  </a:lnTo>
                  <a:lnTo>
                    <a:pt x="532455" y="606844"/>
                  </a:lnTo>
                  <a:lnTo>
                    <a:pt x="570555" y="599146"/>
                  </a:lnTo>
                  <a:lnTo>
                    <a:pt x="607710" y="586955"/>
                  </a:lnTo>
                  <a:lnTo>
                    <a:pt x="642976" y="569457"/>
                  </a:lnTo>
                  <a:lnTo>
                    <a:pt x="675409" y="545835"/>
                  </a:lnTo>
                  <a:lnTo>
                    <a:pt x="704062" y="515276"/>
                  </a:lnTo>
                  <a:lnTo>
                    <a:pt x="727993" y="476963"/>
                  </a:lnTo>
                  <a:lnTo>
                    <a:pt x="746256" y="430081"/>
                  </a:lnTo>
                  <a:lnTo>
                    <a:pt x="757906" y="373816"/>
                  </a:lnTo>
                  <a:lnTo>
                    <a:pt x="762000" y="307351"/>
                  </a:lnTo>
                  <a:lnTo>
                    <a:pt x="757763" y="241030"/>
                  </a:lnTo>
                  <a:lnTo>
                    <a:pt x="745740" y="185137"/>
                  </a:lnTo>
                  <a:lnTo>
                    <a:pt x="726962" y="138770"/>
                  </a:lnTo>
                  <a:lnTo>
                    <a:pt x="702459" y="101030"/>
                  </a:lnTo>
                  <a:lnTo>
                    <a:pt x="673262" y="71015"/>
                  </a:lnTo>
                  <a:lnTo>
                    <a:pt x="640400" y="47823"/>
                  </a:lnTo>
                  <a:lnTo>
                    <a:pt x="604905" y="30553"/>
                  </a:lnTo>
                  <a:lnTo>
                    <a:pt x="567807" y="18305"/>
                  </a:lnTo>
                  <a:lnTo>
                    <a:pt x="530136" y="10177"/>
                  </a:lnTo>
                  <a:lnTo>
                    <a:pt x="457200" y="2678"/>
                  </a:lnTo>
                  <a:lnTo>
                    <a:pt x="332184" y="0"/>
                  </a:lnTo>
                  <a:lnTo>
                    <a:pt x="180975" y="297"/>
                  </a:lnTo>
                  <a:lnTo>
                    <a:pt x="53578" y="1785"/>
                  </a:lnTo>
                  <a:lnTo>
                    <a:pt x="0" y="2678"/>
                  </a:lnTo>
                  <a:close/>
                </a:path>
                <a:path w="1438910" h="1624329">
                  <a:moveTo>
                    <a:pt x="926592" y="1623960"/>
                  </a:moveTo>
                  <a:lnTo>
                    <a:pt x="1438656" y="1623960"/>
                  </a:lnTo>
                </a:path>
                <a:path w="1438910" h="1624329">
                  <a:moveTo>
                    <a:pt x="920496" y="310272"/>
                  </a:moveTo>
                  <a:lnTo>
                    <a:pt x="1432560" y="31027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46453" y="2705862"/>
              <a:ext cx="391795" cy="6350"/>
            </a:xfrm>
            <a:custGeom>
              <a:avLst/>
              <a:gdLst/>
              <a:ahLst/>
              <a:cxnLst/>
              <a:rect l="l" t="t" r="r" b="b"/>
              <a:pathLst>
                <a:path w="391794" h="6350">
                  <a:moveTo>
                    <a:pt x="-19050" y="3048"/>
                  </a:moveTo>
                  <a:lnTo>
                    <a:pt x="410718" y="3048"/>
                  </a:lnTo>
                </a:path>
              </a:pathLst>
            </a:custGeom>
            <a:ln w="4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6265" y="3690366"/>
              <a:ext cx="390525" cy="6350"/>
            </a:xfrm>
            <a:custGeom>
              <a:avLst/>
              <a:gdLst/>
              <a:ahLst/>
              <a:cxnLst/>
              <a:rect l="l" t="t" r="r" b="b"/>
              <a:pathLst>
                <a:path w="390525" h="6350">
                  <a:moveTo>
                    <a:pt x="-19050" y="3047"/>
                  </a:moveTo>
                  <a:lnTo>
                    <a:pt x="409194" y="3047"/>
                  </a:lnTo>
                </a:path>
              </a:pathLst>
            </a:custGeom>
            <a:ln w="44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94053" y="2420874"/>
              <a:ext cx="536575" cy="0"/>
            </a:xfrm>
            <a:custGeom>
              <a:avLst/>
              <a:gdLst/>
              <a:ahLst/>
              <a:cxnLst/>
              <a:rect l="l" t="t" r="r" b="b"/>
              <a:pathLst>
                <a:path w="536575">
                  <a:moveTo>
                    <a:pt x="0" y="0"/>
                  </a:moveTo>
                  <a:lnTo>
                    <a:pt x="5364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78023" y="3762756"/>
              <a:ext cx="190500" cy="1905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01673" y="4027170"/>
              <a:ext cx="536575" cy="0"/>
            </a:xfrm>
            <a:custGeom>
              <a:avLst/>
              <a:gdLst/>
              <a:ahLst/>
              <a:cxnLst/>
              <a:rect l="l" t="t" r="r" b="b"/>
              <a:pathLst>
                <a:path w="536575">
                  <a:moveTo>
                    <a:pt x="0" y="0"/>
                  </a:moveTo>
                  <a:lnTo>
                    <a:pt x="53644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35073" y="3556877"/>
              <a:ext cx="762000" cy="612140"/>
            </a:xfrm>
            <a:custGeom>
              <a:avLst/>
              <a:gdLst/>
              <a:ahLst/>
              <a:cxnLst/>
              <a:rect l="l" t="t" r="r" b="b"/>
              <a:pathLst>
                <a:path w="762000" h="612139">
                  <a:moveTo>
                    <a:pt x="0" y="2678"/>
                  </a:moveTo>
                  <a:lnTo>
                    <a:pt x="0" y="55044"/>
                  </a:lnTo>
                  <a:lnTo>
                    <a:pt x="0" y="193099"/>
                  </a:lnTo>
                  <a:lnTo>
                    <a:pt x="0" y="388280"/>
                  </a:lnTo>
                  <a:lnTo>
                    <a:pt x="0" y="612024"/>
                  </a:lnTo>
                  <a:lnTo>
                    <a:pt x="94074" y="612024"/>
                  </a:lnTo>
                  <a:lnTo>
                    <a:pt x="457200" y="612024"/>
                  </a:lnTo>
                  <a:lnTo>
                    <a:pt x="494355" y="610865"/>
                  </a:lnTo>
                  <a:lnTo>
                    <a:pt x="532455" y="606844"/>
                  </a:lnTo>
                  <a:lnTo>
                    <a:pt x="570555" y="599146"/>
                  </a:lnTo>
                  <a:lnTo>
                    <a:pt x="607710" y="586955"/>
                  </a:lnTo>
                  <a:lnTo>
                    <a:pt x="642976" y="569457"/>
                  </a:lnTo>
                  <a:lnTo>
                    <a:pt x="675409" y="545835"/>
                  </a:lnTo>
                  <a:lnTo>
                    <a:pt x="704062" y="515276"/>
                  </a:lnTo>
                  <a:lnTo>
                    <a:pt x="727993" y="476963"/>
                  </a:lnTo>
                  <a:lnTo>
                    <a:pt x="746256" y="430081"/>
                  </a:lnTo>
                  <a:lnTo>
                    <a:pt x="757906" y="373816"/>
                  </a:lnTo>
                  <a:lnTo>
                    <a:pt x="762000" y="307351"/>
                  </a:lnTo>
                  <a:lnTo>
                    <a:pt x="757763" y="241030"/>
                  </a:lnTo>
                  <a:lnTo>
                    <a:pt x="745740" y="185137"/>
                  </a:lnTo>
                  <a:lnTo>
                    <a:pt x="726962" y="138770"/>
                  </a:lnTo>
                  <a:lnTo>
                    <a:pt x="702459" y="101030"/>
                  </a:lnTo>
                  <a:lnTo>
                    <a:pt x="673262" y="71015"/>
                  </a:lnTo>
                  <a:lnTo>
                    <a:pt x="640400" y="47823"/>
                  </a:lnTo>
                  <a:lnTo>
                    <a:pt x="604905" y="30553"/>
                  </a:lnTo>
                  <a:lnTo>
                    <a:pt x="567807" y="18305"/>
                  </a:lnTo>
                  <a:lnTo>
                    <a:pt x="530136" y="10177"/>
                  </a:lnTo>
                  <a:lnTo>
                    <a:pt x="457200" y="2678"/>
                  </a:lnTo>
                  <a:lnTo>
                    <a:pt x="332184" y="0"/>
                  </a:lnTo>
                  <a:lnTo>
                    <a:pt x="180975" y="297"/>
                  </a:lnTo>
                  <a:lnTo>
                    <a:pt x="53578" y="1785"/>
                  </a:lnTo>
                  <a:lnTo>
                    <a:pt x="0" y="267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9240" y="709930"/>
            <a:ext cx="8264525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While </a:t>
            </a:r>
            <a:r>
              <a:rPr sz="2000" spc="-5" dirty="0">
                <a:latin typeface="Times New Roman"/>
                <a:cs typeface="Times New Roman"/>
              </a:rPr>
              <a:t>analyzing this circuit, as soon </a:t>
            </a:r>
            <a:r>
              <a:rPr sz="2000" spc="-10" dirty="0">
                <a:latin typeface="Times New Roman"/>
                <a:cs typeface="Times New Roman"/>
              </a:rPr>
              <a:t>as </a:t>
            </a:r>
            <a:r>
              <a:rPr sz="2000" spc="-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input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Low or zero (either </a:t>
            </a:r>
            <a:r>
              <a:rPr sz="2000" dirty="0">
                <a:latin typeface="Times New Roman"/>
                <a:cs typeface="Times New Roman"/>
              </a:rPr>
              <a:t>a  direct input or a feedback input) a </a:t>
            </a:r>
            <a:r>
              <a:rPr sz="2000" spc="5" dirty="0">
                <a:latin typeface="Times New Roman"/>
                <a:cs typeface="Times New Roman"/>
              </a:rPr>
              <a:t>NAND </a:t>
            </a:r>
            <a:r>
              <a:rPr sz="2000" dirty="0">
                <a:latin typeface="Times New Roman"/>
                <a:cs typeface="Times New Roman"/>
              </a:rPr>
              <a:t>has High (1) </a:t>
            </a:r>
            <a:r>
              <a:rPr sz="2000" spc="-5" dirty="0">
                <a:latin typeface="Times New Roman"/>
                <a:cs typeface="Times New Roman"/>
              </a:rPr>
              <a:t>as an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NORs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input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High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(1)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output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Low (0).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27303"/>
            <a:ext cx="8530590" cy="25253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Operation: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Case </a:t>
            </a:r>
            <a:r>
              <a:rPr sz="2000" b="1" spc="-5" dirty="0">
                <a:latin typeface="Arial"/>
                <a:cs typeface="Arial"/>
              </a:rPr>
              <a:t>I: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 = R =</a:t>
            </a:r>
            <a:r>
              <a:rPr sz="2000" b="1" spc="-7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0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Outputs of gates </a:t>
            </a:r>
            <a:r>
              <a:rPr lang="en-US" sz="2000" b="1" dirty="0" smtClean="0">
                <a:latin typeface="Arial"/>
                <a:cs typeface="Arial"/>
              </a:rPr>
              <a:t>3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lang="en-US" sz="2000" b="1" dirty="0" smtClean="0">
                <a:latin typeface="Arial"/>
                <a:cs typeface="Arial"/>
              </a:rPr>
              <a:t>4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will become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1.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Let </a:t>
            </a:r>
            <a:r>
              <a:rPr sz="2000" b="1" spc="-5" dirty="0">
                <a:latin typeface="Arial"/>
                <a:cs typeface="Arial"/>
              </a:rPr>
              <a:t>Q=0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5" dirty="0">
                <a:latin typeface="Arial"/>
                <a:cs typeface="Arial"/>
              </a:rPr>
              <a:t>Q=1 </a:t>
            </a:r>
            <a:r>
              <a:rPr sz="2000" b="1" spc="-10" dirty="0">
                <a:latin typeface="Arial"/>
                <a:cs typeface="Arial"/>
              </a:rPr>
              <a:t>initially, </a:t>
            </a:r>
            <a:r>
              <a:rPr sz="2000" b="1" dirty="0">
                <a:latin typeface="Arial"/>
                <a:cs typeface="Arial"/>
              </a:rPr>
              <a:t>hence both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inputs to gate </a:t>
            </a:r>
            <a:r>
              <a:rPr lang="en-US" sz="2000" b="1" dirty="0" smtClean="0">
                <a:latin typeface="Arial"/>
                <a:cs typeface="Arial"/>
              </a:rPr>
              <a:t>1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 1 &amp; the  inputs to gate </a:t>
            </a:r>
            <a:r>
              <a:rPr lang="en-US" sz="2000" b="1" dirty="0" smtClean="0">
                <a:latin typeface="Arial"/>
                <a:cs typeface="Arial"/>
              </a:rPr>
              <a:t>2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(01).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1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 </a:t>
            </a:r>
            <a:r>
              <a:rPr sz="2000" b="1" spc="-5" dirty="0">
                <a:latin typeface="Arial"/>
                <a:cs typeface="Arial"/>
              </a:rPr>
              <a:t>i.e. </a:t>
            </a:r>
            <a:r>
              <a:rPr sz="2000" b="1" dirty="0">
                <a:latin typeface="Arial"/>
                <a:cs typeface="Arial"/>
              </a:rPr>
              <a:t>Q=0 &amp;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2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Q=1.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Thus </a:t>
            </a:r>
            <a:r>
              <a:rPr sz="2000" b="1" spc="5" dirty="0">
                <a:latin typeface="Arial"/>
                <a:cs typeface="Arial"/>
              </a:rPr>
              <a:t>with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S=R=0</a:t>
            </a:r>
            <a:r>
              <a:rPr sz="2000" b="1" dirty="0">
                <a:latin typeface="Arial"/>
                <a:cs typeface="Arial"/>
              </a:rPr>
              <a:t>, there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no change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in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the state of</a:t>
            </a:r>
            <a:r>
              <a:rPr sz="2000" b="1" spc="-2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outputs</a:t>
            </a:r>
            <a:r>
              <a:rPr sz="2000" b="1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1961" y="19057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761" y="25915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26" y="3854977"/>
            <a:ext cx="4994070" cy="2133600"/>
          </a:xfrm>
          <a:prstGeom prst="rect">
            <a:avLst/>
          </a:prstGeom>
        </p:spPr>
      </p:pic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132886"/>
              </p:ext>
            </p:extLst>
          </p:nvPr>
        </p:nvGraphicFramePr>
        <p:xfrm>
          <a:off x="721487" y="3854977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solidFill>
                          <a:srgbClr val="00B0F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solidFill>
                          <a:srgbClr val="00B0F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6921" y="3429000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 TT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51103"/>
            <a:ext cx="8682355" cy="180305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Case </a:t>
            </a:r>
            <a:r>
              <a:rPr sz="2000" b="1" spc="-5" dirty="0">
                <a:latin typeface="Arial"/>
                <a:cs typeface="Arial"/>
              </a:rPr>
              <a:t>II </a:t>
            </a:r>
            <a:r>
              <a:rPr sz="2000" b="1" dirty="0">
                <a:latin typeface="Arial"/>
                <a:cs typeface="Arial"/>
              </a:rPr>
              <a:t>: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 = 1, R =</a:t>
            </a:r>
            <a:r>
              <a:rPr sz="2000" b="1" spc="-114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0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Since S=1 &amp; R=0, one </a:t>
            </a:r>
            <a:r>
              <a:rPr sz="2000" b="1" spc="-10" dirty="0">
                <a:latin typeface="Arial"/>
                <a:cs typeface="Arial"/>
              </a:rPr>
              <a:t>of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inputs to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1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0. This will </a:t>
            </a:r>
            <a:r>
              <a:rPr sz="2000" b="1" spc="-5" dirty="0">
                <a:latin typeface="Arial"/>
                <a:cs typeface="Arial"/>
              </a:rPr>
              <a:t>force  </a:t>
            </a:r>
            <a:r>
              <a:rPr sz="2000" b="1" dirty="0">
                <a:latin typeface="Arial"/>
                <a:cs typeface="Arial"/>
              </a:rPr>
              <a:t>Q output to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both the inputs to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 2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1. This forces Q to</a:t>
            </a:r>
            <a:r>
              <a:rPr sz="2000" b="1" spc="-2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0.</a:t>
            </a:r>
            <a:endParaRPr sz="2000" dirty="0">
              <a:latin typeface="Arial"/>
              <a:cs typeface="Arial"/>
            </a:endParaRPr>
          </a:p>
          <a:p>
            <a:pPr marL="12700" marR="618490">
              <a:lnSpc>
                <a:spcPct val="12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for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S=1, </a:t>
            </a:r>
            <a:r>
              <a:rPr sz="2000" b="1" spc="5" dirty="0">
                <a:solidFill>
                  <a:srgbClr val="00AFEF"/>
                </a:solidFill>
                <a:latin typeface="Arial"/>
                <a:cs typeface="Arial"/>
              </a:rPr>
              <a:t>R=0 </a:t>
            </a:r>
            <a:r>
              <a:rPr sz="2000" b="1" dirty="0">
                <a:latin typeface="Arial"/>
                <a:cs typeface="Arial"/>
              </a:rPr>
              <a:t>the outputs are Q=1 &amp; Q=0. This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set</a:t>
            </a:r>
            <a:r>
              <a:rPr sz="2000" b="1" spc="-2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state</a:t>
            </a:r>
            <a:r>
              <a:rPr sz="2000" b="1" dirty="0">
                <a:latin typeface="Arial"/>
                <a:cs typeface="Arial"/>
              </a:rPr>
              <a:t>.  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6600" y="178536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6400" y="213360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124200"/>
            <a:ext cx="4994070" cy="2133600"/>
          </a:xfrm>
          <a:prstGeom prst="rect">
            <a:avLst/>
          </a:prstGeom>
        </p:spPr>
      </p:pic>
      <p:graphicFrame>
        <p:nvGraphicFramePr>
          <p:cNvPr id="7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404763"/>
              </p:ext>
            </p:extLst>
          </p:nvPr>
        </p:nvGraphicFramePr>
        <p:xfrm>
          <a:off x="609600" y="3214154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rgbClr val="00B0F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3000" y="2810186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 TT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51103"/>
            <a:ext cx="8682355" cy="211339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 smtClean="0">
                <a:latin typeface="Arial"/>
                <a:cs typeface="Arial"/>
              </a:rPr>
              <a:t>Case </a:t>
            </a:r>
            <a:r>
              <a:rPr sz="2000" b="1" spc="-10" dirty="0">
                <a:latin typeface="Arial"/>
                <a:cs typeface="Arial"/>
              </a:rPr>
              <a:t>III: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 = 0, R =</a:t>
            </a:r>
            <a:r>
              <a:rPr sz="2000" b="1" spc="-9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If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S=0,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R=1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then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one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>
                <a:latin typeface="Arial"/>
                <a:cs typeface="Arial"/>
              </a:rPr>
              <a:t>1</a:t>
            </a:r>
            <a:r>
              <a:rPr sz="2000" b="1" spc="100" dirty="0" smtClean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will</a:t>
            </a:r>
            <a:r>
              <a:rPr sz="2000" b="1" spc="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0.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will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force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the Q output to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both the inputs to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2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1. This forces Q to</a:t>
            </a:r>
            <a:r>
              <a:rPr sz="2000" b="1" spc="-2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Thus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S=0,</a:t>
            </a:r>
            <a:r>
              <a:rPr sz="2000" b="1" spc="15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R=1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outputs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Q=0,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Q=1.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reset</a:t>
            </a:r>
            <a:r>
              <a:rPr sz="2000" b="1" spc="16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state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of clear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</a:t>
            </a:r>
            <a:r>
              <a:rPr sz="2000" b="1" dirty="0" smtClean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1161" y="178536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21343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4509" y="3915917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735" y="3180960"/>
            <a:ext cx="4994070" cy="2133600"/>
          </a:xfrm>
          <a:prstGeom prst="rect">
            <a:avLst/>
          </a:prstGeom>
        </p:spPr>
      </p:pic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43953"/>
              </p:ext>
            </p:extLst>
          </p:nvPr>
        </p:nvGraphicFramePr>
        <p:xfrm>
          <a:off x="563665" y="32004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rgbClr val="00B0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" y="2831068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 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2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651103"/>
            <a:ext cx="8682355" cy="211339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 smtClean="0">
                <a:latin typeface="Arial"/>
                <a:cs typeface="Arial"/>
              </a:rPr>
              <a:t>Case </a:t>
            </a:r>
            <a:r>
              <a:rPr sz="2000" b="1" spc="-5" dirty="0">
                <a:latin typeface="Arial"/>
                <a:cs typeface="Arial"/>
              </a:rPr>
              <a:t>IV: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 = R =</a:t>
            </a:r>
            <a:r>
              <a:rPr sz="2000" b="1" spc="-5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b="1" dirty="0">
                <a:latin typeface="Arial"/>
                <a:cs typeface="Arial"/>
              </a:rPr>
              <a:t>S=R=1 then outputs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 smtClean="0">
                <a:latin typeface="Arial"/>
                <a:cs typeface="Arial"/>
              </a:rPr>
              <a:t>gates-</a:t>
            </a:r>
            <a:r>
              <a:rPr lang="en-US" sz="2000" b="1" dirty="0" smtClean="0">
                <a:latin typeface="Arial"/>
                <a:cs typeface="Arial"/>
              </a:rPr>
              <a:t>3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lang="en-US" sz="2000" b="1" dirty="0" smtClean="0">
                <a:latin typeface="Arial"/>
                <a:cs typeface="Arial"/>
              </a:rPr>
              <a:t>4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be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zero.</a:t>
            </a:r>
            <a:endParaRPr sz="20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Hence </a:t>
            </a:r>
            <a:r>
              <a:rPr sz="2000" b="1" spc="-5" dirty="0">
                <a:latin typeface="Arial"/>
                <a:cs typeface="Arial"/>
              </a:rPr>
              <a:t>one of </a:t>
            </a:r>
            <a:r>
              <a:rPr sz="2000" b="1" dirty="0">
                <a:latin typeface="Arial"/>
                <a:cs typeface="Arial"/>
              </a:rPr>
              <a:t>the inputs to </a:t>
            </a:r>
            <a:r>
              <a:rPr sz="2000" b="1" dirty="0" smtClean="0">
                <a:latin typeface="Arial"/>
                <a:cs typeface="Arial"/>
              </a:rPr>
              <a:t>gate-</a:t>
            </a:r>
            <a:r>
              <a:rPr lang="en-US" sz="2000" b="1" dirty="0" smtClean="0">
                <a:latin typeface="Arial"/>
                <a:cs typeface="Arial"/>
              </a:rPr>
              <a:t>1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lang="en-US" sz="2000" b="1" dirty="0" smtClean="0">
                <a:latin typeface="Arial"/>
                <a:cs typeface="Arial"/>
              </a:rPr>
              <a:t>2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will </a:t>
            </a:r>
            <a:r>
              <a:rPr sz="2000" b="1" spc="-5" dirty="0">
                <a:latin typeface="Arial"/>
                <a:cs typeface="Arial"/>
              </a:rPr>
              <a:t>be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0.</a:t>
            </a:r>
            <a:endParaRPr sz="20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So </a:t>
            </a:r>
            <a:r>
              <a:rPr sz="2000" b="1" dirty="0">
                <a:latin typeface="Arial"/>
                <a:cs typeface="Arial"/>
              </a:rPr>
              <a:t>ou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puts </a:t>
            </a:r>
            <a:r>
              <a:rPr sz="2000" b="1" spc="5" dirty="0">
                <a:latin typeface="Arial"/>
                <a:cs typeface="Arial"/>
              </a:rPr>
              <a:t>Q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5" dirty="0">
                <a:latin typeface="Arial"/>
                <a:cs typeface="Arial"/>
              </a:rPr>
              <a:t>Q </a:t>
            </a:r>
            <a:r>
              <a:rPr sz="2000" b="1" dirty="0">
                <a:latin typeface="Arial"/>
                <a:cs typeface="Arial"/>
              </a:rPr>
              <a:t>both </a:t>
            </a:r>
            <a:r>
              <a:rPr sz="2000" b="1" spc="-5" dirty="0">
                <a:latin typeface="Arial"/>
                <a:cs typeface="Arial"/>
              </a:rPr>
              <a:t>will </a:t>
            </a:r>
            <a:r>
              <a:rPr sz="2000" b="1" dirty="0">
                <a:latin typeface="Arial"/>
                <a:cs typeface="Arial"/>
              </a:rPr>
              <a:t>try to become 1. </a:t>
            </a:r>
            <a:r>
              <a:rPr sz="2000" b="1" spc="-10" dirty="0">
                <a:latin typeface="Arial"/>
                <a:cs typeface="Arial"/>
              </a:rPr>
              <a:t>It is </a:t>
            </a:r>
            <a:r>
              <a:rPr sz="2000" b="1" dirty="0">
                <a:latin typeface="Arial"/>
                <a:cs typeface="Arial"/>
              </a:rPr>
              <a:t>not </a:t>
            </a:r>
            <a:r>
              <a:rPr sz="2000" b="1" spc="-5" dirty="0">
                <a:latin typeface="Arial"/>
                <a:cs typeface="Arial"/>
              </a:rPr>
              <a:t>allowed </a:t>
            </a:r>
            <a:r>
              <a:rPr sz="2000" b="1" dirty="0">
                <a:latin typeface="Arial"/>
                <a:cs typeface="Arial"/>
              </a:rPr>
              <a:t>as </a:t>
            </a:r>
            <a:r>
              <a:rPr sz="2000" b="1" spc="5" dirty="0">
                <a:latin typeface="Arial"/>
                <a:cs typeface="Arial"/>
              </a:rPr>
              <a:t>Q 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dirty="0" smtClean="0">
                <a:latin typeface="Arial"/>
                <a:cs typeface="Arial"/>
              </a:rPr>
              <a:t>Q</a:t>
            </a:r>
            <a:r>
              <a:rPr lang="en-US" sz="2000" b="1" dirty="0" smtClean="0">
                <a:latin typeface="Arial"/>
                <a:cs typeface="Arial"/>
              </a:rPr>
              <a:t>'</a:t>
            </a:r>
            <a:r>
              <a:rPr sz="2000" b="1" dirty="0" smtClean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should </a:t>
            </a:r>
            <a:r>
              <a:rPr sz="2000" b="1" dirty="0">
                <a:latin typeface="Arial"/>
                <a:cs typeface="Arial"/>
              </a:rPr>
              <a:t>be </a:t>
            </a:r>
            <a:r>
              <a:rPr sz="2000" b="1" spc="-5" dirty="0">
                <a:latin typeface="Arial"/>
                <a:cs typeface="Arial"/>
              </a:rPr>
              <a:t>complementary. </a:t>
            </a:r>
            <a:r>
              <a:rPr sz="2000" b="1" dirty="0">
                <a:latin typeface="Arial"/>
                <a:cs typeface="Arial"/>
              </a:rPr>
              <a:t>Hence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S=R=1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condition </a:t>
            </a:r>
            <a:r>
              <a:rPr sz="2000" b="1" spc="-20" dirty="0">
                <a:solidFill>
                  <a:srgbClr val="00AFEF"/>
                </a:solidFill>
                <a:latin typeface="Arial"/>
                <a:cs typeface="Arial"/>
              </a:rPr>
              <a:t>is 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prohibited</a:t>
            </a:r>
            <a:r>
              <a:rPr sz="2000" b="1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1161" y="178536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03570" y="21343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8" y="3158450"/>
            <a:ext cx="4994070" cy="2133600"/>
          </a:xfrm>
          <a:prstGeom prst="rect">
            <a:avLst/>
          </a:prstGeom>
        </p:spPr>
      </p:pic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726354"/>
              </p:ext>
            </p:extLst>
          </p:nvPr>
        </p:nvGraphicFramePr>
        <p:xfrm>
          <a:off x="5204428" y="2997337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42382" y="2628005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 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81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1000"/>
            <a:ext cx="4994070" cy="2133600"/>
          </a:xfrm>
          <a:prstGeom prst="rect">
            <a:avLst/>
          </a:prstGeom>
        </p:spPr>
      </p:pic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296394"/>
              </p:ext>
            </p:extLst>
          </p:nvPr>
        </p:nvGraphicFramePr>
        <p:xfrm>
          <a:off x="914400" y="30480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00200" y="2678668"/>
            <a:ext cx="84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 TT</a:t>
            </a:r>
            <a:endParaRPr lang="en-US" dirty="0"/>
          </a:p>
        </p:txBody>
      </p:sp>
      <p:graphicFrame>
        <p:nvGraphicFramePr>
          <p:cNvPr id="7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34219"/>
              </p:ext>
            </p:extLst>
          </p:nvPr>
        </p:nvGraphicFramePr>
        <p:xfrm>
          <a:off x="4800600" y="30480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38554" y="2649866"/>
            <a:ext cx="946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New  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075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03503"/>
            <a:ext cx="8665210" cy="3013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Clocked S-R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required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10" dirty="0">
                <a:latin typeface="Arial"/>
                <a:cs typeface="Arial"/>
              </a:rPr>
              <a:t>set </a:t>
            </a:r>
            <a:r>
              <a:rPr sz="2000" b="1" spc="-5" dirty="0">
                <a:latin typeface="Arial"/>
                <a:cs typeface="Arial"/>
              </a:rPr>
              <a:t>or reset </a:t>
            </a:r>
            <a:r>
              <a:rPr sz="2000" b="1" dirty="0">
                <a:latin typeface="Arial"/>
                <a:cs typeface="Arial"/>
              </a:rPr>
              <a:t>the memory cell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synchronous with a  train of </a:t>
            </a:r>
            <a:r>
              <a:rPr sz="2000" b="1" spc="-5" dirty="0">
                <a:latin typeface="Arial"/>
                <a:cs typeface="Arial"/>
              </a:rPr>
              <a:t>pulses </a:t>
            </a:r>
            <a:r>
              <a:rPr sz="2000" b="1" dirty="0">
                <a:latin typeface="Arial"/>
                <a:cs typeface="Arial"/>
              </a:rPr>
              <a:t>known as clock (known as CK), &amp; such </a:t>
            </a:r>
            <a:r>
              <a:rPr sz="2000" b="1" spc="-5" dirty="0">
                <a:latin typeface="Arial"/>
                <a:cs typeface="Arial"/>
              </a:rPr>
              <a:t>circuit </a:t>
            </a:r>
            <a:r>
              <a:rPr sz="2000" b="1" spc="-2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referred to as a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clocked set-reset (S-R)</a:t>
            </a:r>
            <a:r>
              <a:rPr sz="2000" b="1" spc="-17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Arial"/>
                <a:cs typeface="Arial"/>
              </a:rPr>
              <a:t>Flip-Flop</a:t>
            </a:r>
            <a:r>
              <a:rPr sz="2000" b="1" spc="-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b="1" dirty="0">
                <a:latin typeface="Arial"/>
                <a:cs typeface="Arial"/>
              </a:rPr>
              <a:t>CK=1, then </a:t>
            </a:r>
            <a:r>
              <a:rPr sz="2000" b="1" spc="-5" dirty="0">
                <a:latin typeface="Arial"/>
                <a:cs typeface="Arial"/>
              </a:rPr>
              <a:t>it performs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operation </a:t>
            </a:r>
            <a:r>
              <a:rPr sz="2000" b="1" dirty="0">
                <a:latin typeface="Arial"/>
                <a:cs typeface="Arial"/>
              </a:rPr>
              <a:t>exactly the same </a:t>
            </a:r>
            <a:r>
              <a:rPr sz="2000" b="1" spc="-10" dirty="0">
                <a:latin typeface="Arial"/>
                <a:cs typeface="Arial"/>
              </a:rPr>
              <a:t>as </a:t>
            </a:r>
            <a:r>
              <a:rPr sz="2000" b="1" spc="-5" dirty="0">
                <a:latin typeface="Arial"/>
                <a:cs typeface="Arial"/>
              </a:rPr>
              <a:t>that of S-  </a:t>
            </a:r>
            <a:r>
              <a:rPr sz="2000" b="1" dirty="0">
                <a:latin typeface="Arial"/>
                <a:cs typeface="Arial"/>
              </a:rPr>
              <a:t>R </a:t>
            </a:r>
            <a:r>
              <a:rPr sz="2000" b="1" spc="-5" dirty="0">
                <a:latin typeface="Arial"/>
                <a:cs typeface="Arial"/>
              </a:rPr>
              <a:t>Flip-Flop,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if CK=0 </a:t>
            </a:r>
            <a:r>
              <a:rPr sz="2000" b="1" dirty="0">
                <a:latin typeface="Arial"/>
                <a:cs typeface="Arial"/>
              </a:rPr>
              <a:t>the gates 3 &amp; 4 </a:t>
            </a:r>
            <a:r>
              <a:rPr sz="2000" b="1" spc="-5" dirty="0">
                <a:latin typeface="Arial"/>
                <a:cs typeface="Arial"/>
              </a:rPr>
              <a:t>are </a:t>
            </a:r>
            <a:r>
              <a:rPr sz="2000" b="1" dirty="0">
                <a:latin typeface="Arial"/>
                <a:cs typeface="Arial"/>
              </a:rPr>
              <a:t>inhibited. </a:t>
            </a:r>
            <a:r>
              <a:rPr sz="2000" b="1" spc="-10" dirty="0">
                <a:latin typeface="Arial"/>
                <a:cs typeface="Arial"/>
              </a:rPr>
              <a:t>i.e. </a:t>
            </a:r>
            <a:r>
              <a:rPr sz="2000" b="1" spc="-5" dirty="0">
                <a:latin typeface="Arial"/>
                <a:cs typeface="Arial"/>
              </a:rPr>
              <a:t>their  </a:t>
            </a:r>
            <a:r>
              <a:rPr sz="2000" b="1" dirty="0">
                <a:latin typeface="Arial"/>
                <a:cs typeface="Arial"/>
              </a:rPr>
              <a:t>outputs are 1 </a:t>
            </a:r>
            <a:r>
              <a:rPr sz="2000" b="1" spc="-5" dirty="0">
                <a:latin typeface="Arial"/>
                <a:cs typeface="Arial"/>
              </a:rPr>
              <a:t>irrespective </a:t>
            </a:r>
            <a:r>
              <a:rPr sz="2000" b="1" dirty="0">
                <a:latin typeface="Arial"/>
                <a:cs typeface="Arial"/>
              </a:rPr>
              <a:t>of the </a:t>
            </a:r>
            <a:r>
              <a:rPr sz="2000" b="1" spc="-5" dirty="0">
                <a:latin typeface="Arial"/>
                <a:cs typeface="Arial"/>
              </a:rPr>
              <a:t>values </a:t>
            </a:r>
            <a:r>
              <a:rPr sz="2000" b="1" dirty="0">
                <a:latin typeface="Arial"/>
                <a:cs typeface="Arial"/>
              </a:rPr>
              <a:t>of S or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circuit </a:t>
            </a:r>
            <a:r>
              <a:rPr sz="2000" b="1" dirty="0">
                <a:latin typeface="Arial"/>
                <a:cs typeface="Arial"/>
              </a:rPr>
              <a:t>responds to the </a:t>
            </a:r>
            <a:r>
              <a:rPr sz="2000" b="1" spc="-5" dirty="0">
                <a:latin typeface="Arial"/>
                <a:cs typeface="Arial"/>
              </a:rPr>
              <a:t>inputs </a:t>
            </a:r>
            <a:r>
              <a:rPr sz="2000" b="1" dirty="0">
                <a:latin typeface="Arial"/>
                <a:cs typeface="Arial"/>
              </a:rPr>
              <a:t>S &amp; R only when the </a:t>
            </a:r>
            <a:r>
              <a:rPr sz="2000" b="1" spc="-5" dirty="0">
                <a:latin typeface="Arial"/>
                <a:cs typeface="Arial"/>
              </a:rPr>
              <a:t>clock </a:t>
            </a:r>
            <a:r>
              <a:rPr sz="2000" b="1" spc="-1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present.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387" y="4114800"/>
            <a:ext cx="3629414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266068"/>
              </p:ext>
            </p:extLst>
          </p:nvPr>
        </p:nvGraphicFramePr>
        <p:xfrm>
          <a:off x="6248400" y="3816578"/>
          <a:ext cx="2520949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987">
                  <a:extLst>
                    <a:ext uri="{9D8B030D-6E8A-4147-A177-3AD203B41FA5}">
                      <a16:colId xmlns:a16="http://schemas.microsoft.com/office/drawing/2014/main" val="4234757837"/>
                    </a:ext>
                  </a:extLst>
                </a:gridCol>
                <a:gridCol w="503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2000" dirty="0" err="1" smtClean="0">
                          <a:latin typeface="Times New Roman"/>
                          <a:cs typeface="Times New Roman"/>
                        </a:rPr>
                        <a:t>Ck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3058"/>
              </p:ext>
            </p:extLst>
          </p:nvPr>
        </p:nvGraphicFramePr>
        <p:xfrm>
          <a:off x="4136736" y="4338252"/>
          <a:ext cx="1708728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576">
                  <a:extLst>
                    <a:ext uri="{9D8B030D-6E8A-4147-A177-3AD203B41FA5}">
                      <a16:colId xmlns:a16="http://schemas.microsoft.com/office/drawing/2014/main" val="1319873268"/>
                    </a:ext>
                  </a:extLst>
                </a:gridCol>
                <a:gridCol w="569576">
                  <a:extLst>
                    <a:ext uri="{9D8B030D-6E8A-4147-A177-3AD203B41FA5}">
                      <a16:colId xmlns:a16="http://schemas.microsoft.com/office/drawing/2014/main" val="2830609907"/>
                    </a:ext>
                  </a:extLst>
                </a:gridCol>
                <a:gridCol w="569576">
                  <a:extLst>
                    <a:ext uri="{9D8B030D-6E8A-4147-A177-3AD203B41FA5}">
                      <a16:colId xmlns:a16="http://schemas.microsoft.com/office/drawing/2014/main" val="851339527"/>
                    </a:ext>
                  </a:extLst>
                </a:gridCol>
              </a:tblGrid>
              <a:tr h="18981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425269"/>
                  </a:ext>
                </a:extLst>
              </a:tr>
              <a:tr h="18981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666424"/>
                  </a:ext>
                </a:extLst>
              </a:tr>
              <a:tr h="18981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68290"/>
                  </a:ext>
                </a:extLst>
              </a:tr>
              <a:tr h="18981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977585"/>
                  </a:ext>
                </a:extLst>
              </a:tr>
              <a:tr h="189819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28404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31405" y="3985081"/>
            <a:ext cx="1425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TT of NAND Gate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25554"/>
            <a:ext cx="8759190" cy="57721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90"/>
              </a:spcBef>
            </a:pPr>
            <a:r>
              <a:rPr sz="2000" b="1" dirty="0">
                <a:latin typeface="Arial"/>
                <a:cs typeface="Arial"/>
              </a:rPr>
              <a:t>Preset &amp;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Clear:</a:t>
            </a:r>
            <a:endParaRPr sz="2000">
              <a:latin typeface="Arial"/>
              <a:cs typeface="Arial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4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clocked </a:t>
            </a:r>
            <a:r>
              <a:rPr sz="1800" b="1" spc="-10" dirty="0">
                <a:latin typeface="Arial"/>
                <a:cs typeface="Arial"/>
              </a:rPr>
              <a:t>S-R </a:t>
            </a:r>
            <a:r>
              <a:rPr sz="1800" b="1" spc="-5" dirty="0">
                <a:latin typeface="Arial"/>
                <a:cs typeface="Arial"/>
              </a:rPr>
              <a:t>Flip-Flop, when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power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switched </a:t>
            </a:r>
            <a:r>
              <a:rPr sz="1800" b="1" dirty="0">
                <a:latin typeface="Arial"/>
                <a:cs typeface="Arial"/>
              </a:rPr>
              <a:t>on, </a:t>
            </a:r>
            <a:r>
              <a:rPr sz="1800" b="1" spc="-5" dirty="0">
                <a:latin typeface="Arial"/>
                <a:cs typeface="Arial"/>
              </a:rPr>
              <a:t>the state </a:t>
            </a:r>
            <a:r>
              <a:rPr sz="1800" b="1" dirty="0">
                <a:latin typeface="Arial"/>
                <a:cs typeface="Arial"/>
              </a:rPr>
              <a:t>of the  </a:t>
            </a:r>
            <a:r>
              <a:rPr sz="1800" b="1" spc="-5" dirty="0">
                <a:latin typeface="Arial"/>
                <a:cs typeface="Arial"/>
              </a:rPr>
              <a:t>circuit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uncertain. </a:t>
            </a:r>
            <a:r>
              <a:rPr sz="1800" b="1" dirty="0">
                <a:latin typeface="Arial"/>
                <a:cs typeface="Arial"/>
              </a:rPr>
              <a:t>It </a:t>
            </a:r>
            <a:r>
              <a:rPr sz="1800" b="1" spc="-5" dirty="0">
                <a:latin typeface="Arial"/>
                <a:cs typeface="Arial"/>
              </a:rPr>
              <a:t>may come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dirty="0">
                <a:latin typeface="Arial"/>
                <a:cs typeface="Arial"/>
              </a:rPr>
              <a:t>(Q=1) of </a:t>
            </a:r>
            <a:r>
              <a:rPr sz="1800" b="1" spc="-5" dirty="0">
                <a:latin typeface="Arial"/>
                <a:cs typeface="Arial"/>
              </a:rPr>
              <a:t>reset </a:t>
            </a:r>
            <a:r>
              <a:rPr sz="1800" b="1" dirty="0">
                <a:latin typeface="Arial"/>
                <a:cs typeface="Arial"/>
              </a:rPr>
              <a:t>(Q=0)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many cases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FF </a:t>
            </a:r>
            <a:r>
              <a:rPr sz="1800" b="1" dirty="0">
                <a:latin typeface="Arial"/>
                <a:cs typeface="Arial"/>
              </a:rPr>
              <a:t>is to be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dirty="0">
                <a:latin typeface="Arial"/>
                <a:cs typeface="Arial"/>
              </a:rPr>
              <a:t>or </a:t>
            </a:r>
            <a:r>
              <a:rPr sz="1800" b="1" spc="-5" dirty="0">
                <a:latin typeface="Arial"/>
                <a:cs typeface="Arial"/>
              </a:rPr>
              <a:t>reset i.e.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initial state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FF is to  be </a:t>
            </a:r>
            <a:r>
              <a:rPr sz="1800" b="1" spc="-5" dirty="0">
                <a:latin typeface="Arial"/>
                <a:cs typeface="Arial"/>
              </a:rPr>
              <a:t>assigned. </a:t>
            </a:r>
            <a:r>
              <a:rPr sz="1800" b="1" dirty="0">
                <a:latin typeface="Arial"/>
                <a:cs typeface="Arial"/>
              </a:rPr>
              <a:t>This is </a:t>
            </a:r>
            <a:r>
              <a:rPr sz="1800" b="1" spc="-5" dirty="0">
                <a:latin typeface="Arial"/>
                <a:cs typeface="Arial"/>
              </a:rPr>
              <a:t>achieved </a:t>
            </a:r>
            <a:r>
              <a:rPr sz="1800" b="1" dirty="0">
                <a:latin typeface="Arial"/>
                <a:cs typeface="Arial"/>
              </a:rPr>
              <a:t>by asynchronous </a:t>
            </a:r>
            <a:r>
              <a:rPr sz="1800" b="1" spc="-5" dirty="0">
                <a:latin typeface="Arial"/>
                <a:cs typeface="Arial"/>
              </a:rPr>
              <a:t>inputs, referred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as preset  (Pr)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5" dirty="0">
                <a:latin typeface="Arial"/>
                <a:cs typeface="Arial"/>
              </a:rPr>
              <a:t>Clear (Cr)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inputs.</a:t>
            </a:r>
            <a:endParaRPr sz="18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These </a:t>
            </a:r>
            <a:r>
              <a:rPr sz="1800" b="1" dirty="0">
                <a:latin typeface="Arial"/>
                <a:cs typeface="Arial"/>
              </a:rPr>
              <a:t>inputs </a:t>
            </a:r>
            <a:r>
              <a:rPr sz="1800" b="1" spc="-5" dirty="0">
                <a:latin typeface="Arial"/>
                <a:cs typeface="Arial"/>
              </a:rPr>
              <a:t>may </a:t>
            </a:r>
            <a:r>
              <a:rPr sz="1800" b="1" dirty="0">
                <a:latin typeface="Arial"/>
                <a:cs typeface="Arial"/>
              </a:rPr>
              <a:t>be applied </a:t>
            </a:r>
            <a:r>
              <a:rPr sz="1800" b="1" spc="-5" dirty="0">
                <a:latin typeface="Arial"/>
                <a:cs typeface="Arial"/>
              </a:rPr>
              <a:t>at </a:t>
            </a:r>
            <a:r>
              <a:rPr sz="1800" b="1" dirty="0">
                <a:latin typeface="Arial"/>
                <a:cs typeface="Arial"/>
              </a:rPr>
              <a:t>any time between </a:t>
            </a:r>
            <a:r>
              <a:rPr sz="1800" b="1" spc="-5" dirty="0">
                <a:latin typeface="Arial"/>
                <a:cs typeface="Arial"/>
              </a:rPr>
              <a:t>clock pulses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5" dirty="0">
                <a:latin typeface="Arial"/>
                <a:cs typeface="Arial"/>
              </a:rPr>
              <a:t>are </a:t>
            </a:r>
            <a:r>
              <a:rPr sz="1800" b="1" dirty="0">
                <a:latin typeface="Arial"/>
                <a:cs typeface="Arial"/>
              </a:rPr>
              <a:t>not in  </a:t>
            </a:r>
            <a:r>
              <a:rPr sz="1800" b="1" spc="-5" dirty="0">
                <a:latin typeface="Arial"/>
                <a:cs typeface="Arial"/>
              </a:rPr>
              <a:t>synchronism </a:t>
            </a:r>
            <a:r>
              <a:rPr sz="1800" b="1" spc="10" dirty="0">
                <a:latin typeface="Arial"/>
                <a:cs typeface="Arial"/>
              </a:rPr>
              <a:t>with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clock.</a:t>
            </a:r>
            <a:endParaRPr sz="1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If </a:t>
            </a:r>
            <a:r>
              <a:rPr sz="1800" b="1" spc="-5" dirty="0">
                <a:latin typeface="Arial"/>
                <a:cs typeface="Arial"/>
              </a:rPr>
              <a:t>Pr=Cr=1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Ckt operates </a:t>
            </a: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accordance </a:t>
            </a:r>
            <a:r>
              <a:rPr sz="1800" b="1" spc="10" dirty="0">
                <a:latin typeface="Arial"/>
                <a:cs typeface="Arial"/>
              </a:rPr>
              <a:t>with </a:t>
            </a:r>
            <a:r>
              <a:rPr sz="1800" b="1" dirty="0">
                <a:latin typeface="Arial"/>
                <a:cs typeface="Arial"/>
              </a:rPr>
              <a:t>the T.T of </a:t>
            </a:r>
            <a:r>
              <a:rPr sz="1800" b="1" spc="-5" dirty="0">
                <a:latin typeface="Arial"/>
                <a:cs typeface="Arial"/>
              </a:rPr>
              <a:t>S-R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FF.</a:t>
            </a:r>
            <a:endParaRPr sz="18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If </a:t>
            </a:r>
            <a:r>
              <a:rPr sz="1800" b="1" spc="-5" dirty="0">
                <a:latin typeface="Arial"/>
                <a:cs typeface="Arial"/>
              </a:rPr>
              <a:t>Pr=0 &amp; Cr=1, </a:t>
            </a:r>
            <a:r>
              <a:rPr sz="1800" b="1" dirty="0">
                <a:latin typeface="Arial"/>
                <a:cs typeface="Arial"/>
              </a:rPr>
              <a:t>th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 output </a:t>
            </a:r>
            <a:r>
              <a:rPr sz="1800" b="1" spc="-5" dirty="0">
                <a:latin typeface="Arial"/>
                <a:cs typeface="Arial"/>
              </a:rPr>
              <a:t>of G1(Q) </a:t>
            </a:r>
            <a:r>
              <a:rPr sz="1800" b="1" dirty="0">
                <a:latin typeface="Arial"/>
                <a:cs typeface="Arial"/>
              </a:rPr>
              <a:t>will </a:t>
            </a:r>
            <a:r>
              <a:rPr sz="1800" b="1" spc="-5" dirty="0">
                <a:latin typeface="Arial"/>
                <a:cs typeface="Arial"/>
              </a:rPr>
              <a:t>be 1. </a:t>
            </a:r>
            <a:r>
              <a:rPr sz="1800" b="1" dirty="0">
                <a:latin typeface="Arial"/>
                <a:cs typeface="Arial"/>
              </a:rPr>
              <a:t>Thus all the </a:t>
            </a:r>
            <a:r>
              <a:rPr sz="1800" b="1" spc="-5" dirty="0">
                <a:latin typeface="Arial"/>
                <a:cs typeface="Arial"/>
              </a:rPr>
              <a:t>3 </a:t>
            </a:r>
            <a:r>
              <a:rPr sz="1800" b="1" dirty="0">
                <a:latin typeface="Arial"/>
                <a:cs typeface="Arial"/>
              </a:rPr>
              <a:t>inputs to G2 </a:t>
            </a:r>
            <a:r>
              <a:rPr sz="1800" b="1" spc="5" dirty="0">
                <a:latin typeface="Arial"/>
                <a:cs typeface="Arial"/>
              </a:rPr>
              <a:t>will  </a:t>
            </a:r>
            <a:r>
              <a:rPr sz="1800" b="1" dirty="0">
                <a:latin typeface="Arial"/>
                <a:cs typeface="Arial"/>
              </a:rPr>
              <a:t>be </a:t>
            </a:r>
            <a:r>
              <a:rPr sz="1800" b="1" spc="-5" dirty="0">
                <a:latin typeface="Arial"/>
                <a:cs typeface="Arial"/>
              </a:rPr>
              <a:t>1 </a:t>
            </a:r>
            <a:r>
              <a:rPr sz="1800" b="1" spc="5" dirty="0">
                <a:latin typeface="Arial"/>
                <a:cs typeface="Arial"/>
              </a:rPr>
              <a:t>which </a:t>
            </a:r>
            <a:r>
              <a:rPr sz="1800" b="1" spc="-5" dirty="0">
                <a:latin typeface="Arial"/>
                <a:cs typeface="Arial"/>
              </a:rPr>
              <a:t>make </a:t>
            </a:r>
            <a:r>
              <a:rPr sz="1800" b="1" dirty="0">
                <a:latin typeface="Arial"/>
                <a:cs typeface="Arial"/>
              </a:rPr>
              <a:t>Q=0, hence </a:t>
            </a:r>
            <a:r>
              <a:rPr sz="1800" b="1" spc="-5" dirty="0">
                <a:latin typeface="Arial"/>
                <a:cs typeface="Arial"/>
              </a:rPr>
              <a:t>Pr=0 sets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FF.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If </a:t>
            </a:r>
            <a:r>
              <a:rPr sz="1800" b="1" spc="-5" dirty="0">
                <a:latin typeface="Arial"/>
                <a:cs typeface="Arial"/>
              </a:rPr>
              <a:t>Pr=1 &amp; Cr=0,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FF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reset, </a:t>
            </a:r>
            <a:r>
              <a:rPr sz="1800" b="1" dirty="0">
                <a:latin typeface="Arial"/>
                <a:cs typeface="Arial"/>
              </a:rPr>
              <a:t>Once the </a:t>
            </a:r>
            <a:r>
              <a:rPr sz="1800" b="1" spc="-5" dirty="0">
                <a:latin typeface="Arial"/>
                <a:cs typeface="Arial"/>
              </a:rPr>
              <a:t>state </a:t>
            </a:r>
            <a:r>
              <a:rPr sz="1800" b="1" dirty="0">
                <a:latin typeface="Arial"/>
                <a:cs typeface="Arial"/>
              </a:rPr>
              <a:t>of the FF is </a:t>
            </a:r>
            <a:r>
              <a:rPr sz="1800" b="1" spc="-5" dirty="0">
                <a:latin typeface="Arial"/>
                <a:cs typeface="Arial"/>
              </a:rPr>
              <a:t>established  asynchronously,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asynchronous </a:t>
            </a:r>
            <a:r>
              <a:rPr sz="1800" b="1" dirty="0">
                <a:latin typeface="Arial"/>
                <a:cs typeface="Arial"/>
              </a:rPr>
              <a:t>inputs </a:t>
            </a:r>
            <a:r>
              <a:rPr sz="1800" b="1" spc="-5" dirty="0">
                <a:latin typeface="Arial"/>
                <a:cs typeface="Arial"/>
              </a:rPr>
              <a:t>Pr &amp; Cr </a:t>
            </a:r>
            <a:r>
              <a:rPr sz="1800" b="1" dirty="0">
                <a:latin typeface="Arial"/>
                <a:cs typeface="Arial"/>
              </a:rPr>
              <a:t>must be </a:t>
            </a:r>
            <a:r>
              <a:rPr sz="1800" b="1" spc="-5" dirty="0">
                <a:latin typeface="Arial"/>
                <a:cs typeface="Arial"/>
              </a:rPr>
              <a:t>connected </a:t>
            </a:r>
            <a:r>
              <a:rPr sz="1800" b="1" dirty="0">
                <a:latin typeface="Arial"/>
                <a:cs typeface="Arial"/>
              </a:rPr>
              <a:t>to  logic </a:t>
            </a:r>
            <a:r>
              <a:rPr sz="1800" b="1" spc="-5" dirty="0">
                <a:latin typeface="Arial"/>
                <a:cs typeface="Arial"/>
              </a:rPr>
              <a:t>1 </a:t>
            </a:r>
            <a:r>
              <a:rPr sz="1800" b="1" dirty="0">
                <a:latin typeface="Arial"/>
                <a:cs typeface="Arial"/>
              </a:rPr>
              <a:t>before the </a:t>
            </a:r>
            <a:r>
              <a:rPr sz="1800" b="1" spc="-5" dirty="0">
                <a:latin typeface="Arial"/>
                <a:cs typeface="Arial"/>
              </a:rPr>
              <a:t>next </a:t>
            </a:r>
            <a:r>
              <a:rPr sz="1800" b="1" dirty="0">
                <a:latin typeface="Arial"/>
                <a:cs typeface="Arial"/>
              </a:rPr>
              <a:t>clock is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applied.</a:t>
            </a:r>
            <a:endParaRPr sz="1800">
              <a:latin typeface="Arial"/>
              <a:cs typeface="Arial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condition Pr=Cr=0 must </a:t>
            </a:r>
            <a:r>
              <a:rPr sz="1800" b="1" dirty="0">
                <a:latin typeface="Arial"/>
                <a:cs typeface="Arial"/>
              </a:rPr>
              <a:t>not be </a:t>
            </a:r>
            <a:r>
              <a:rPr sz="1800" b="1" spc="-5" dirty="0">
                <a:latin typeface="Arial"/>
                <a:cs typeface="Arial"/>
              </a:rPr>
              <a:t>used, since </a:t>
            </a:r>
            <a:r>
              <a:rPr sz="1800" b="1" dirty="0">
                <a:latin typeface="Arial"/>
                <a:cs typeface="Arial"/>
              </a:rPr>
              <a:t>this </a:t>
            </a:r>
            <a:r>
              <a:rPr sz="1800" b="1" spc="-5" dirty="0">
                <a:latin typeface="Arial"/>
                <a:cs typeface="Arial"/>
              </a:rPr>
              <a:t>leads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an uncertain   state.</a:t>
            </a:r>
            <a:endParaRPr sz="18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Thus </a:t>
            </a:r>
            <a:r>
              <a:rPr sz="1800" b="1" spc="-5" dirty="0">
                <a:latin typeface="Arial"/>
                <a:cs typeface="Arial"/>
              </a:rPr>
              <a:t>in logic symbol, bubbles are </a:t>
            </a:r>
            <a:r>
              <a:rPr sz="1800" b="1" dirty="0">
                <a:latin typeface="Arial"/>
                <a:cs typeface="Arial"/>
              </a:rPr>
              <a:t>used for </a:t>
            </a:r>
            <a:r>
              <a:rPr sz="1800" b="1" spc="-5" dirty="0">
                <a:latin typeface="Arial"/>
                <a:cs typeface="Arial"/>
              </a:rPr>
              <a:t>Pr </a:t>
            </a:r>
            <a:r>
              <a:rPr sz="1800" b="1" dirty="0">
                <a:latin typeface="Arial"/>
                <a:cs typeface="Arial"/>
              </a:rPr>
              <a:t>&amp; </a:t>
            </a:r>
            <a:r>
              <a:rPr sz="1800" b="1" spc="-5" dirty="0">
                <a:latin typeface="Arial"/>
                <a:cs typeface="Arial"/>
              </a:rPr>
              <a:t>Cr inputs, </a:t>
            </a:r>
            <a:r>
              <a:rPr sz="1800" b="1" dirty="0">
                <a:latin typeface="Arial"/>
                <a:cs typeface="Arial"/>
              </a:rPr>
              <a:t>which </a:t>
            </a:r>
            <a:r>
              <a:rPr sz="1800" b="1" spc="-5" dirty="0">
                <a:latin typeface="Arial"/>
                <a:cs typeface="Arial"/>
              </a:rPr>
              <a:t>means  these are active </a:t>
            </a:r>
            <a:r>
              <a:rPr sz="1800" b="1" dirty="0">
                <a:latin typeface="Arial"/>
                <a:cs typeface="Arial"/>
              </a:rPr>
              <a:t>low, </a:t>
            </a:r>
            <a:r>
              <a:rPr sz="1800" b="1" spc="-5" dirty="0">
                <a:latin typeface="Arial"/>
                <a:cs typeface="Arial"/>
              </a:rPr>
              <a:t>i.e. </a:t>
            </a:r>
            <a:r>
              <a:rPr sz="1800" b="1" spc="-10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intended </a:t>
            </a:r>
            <a:r>
              <a:rPr sz="1800" b="1" spc="-5" dirty="0">
                <a:latin typeface="Arial"/>
                <a:cs typeface="Arial"/>
              </a:rPr>
              <a:t>function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performed </a:t>
            </a:r>
            <a:r>
              <a:rPr sz="1800" b="1" spc="5" dirty="0">
                <a:latin typeface="Arial"/>
                <a:cs typeface="Arial"/>
              </a:rPr>
              <a:t>when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signal  applied to </a:t>
            </a:r>
            <a:r>
              <a:rPr sz="1800" b="1" spc="-5" dirty="0">
                <a:latin typeface="Arial"/>
                <a:cs typeface="Arial"/>
              </a:rPr>
              <a:t>Pr &amp; Cr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LOW.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57555"/>
            <a:ext cx="4806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Summary of Operation of S-R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1160123"/>
          <a:ext cx="7774305" cy="174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7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8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3200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CK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Inputs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Cr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Pr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Output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Q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Operation</a:t>
                      </a:r>
                      <a:r>
                        <a:rPr sz="20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Performed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Qn+1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Normal FF</a:t>
                      </a:r>
                      <a:r>
                        <a:rPr sz="20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Operation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Clear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46">
                <a:tc>
                  <a:txBody>
                    <a:bodyPr/>
                    <a:lstStyle/>
                    <a:p>
                      <a:pPr marL="320040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Preset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7340" y="3258159"/>
            <a:ext cx="83991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635" marR="5080" indent="-750570">
              <a:lnSpc>
                <a:spcPct val="12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Note: The circuit can be set or reset </a:t>
            </a:r>
            <a:r>
              <a:rPr sz="2000" b="1" spc="-5" dirty="0">
                <a:latin typeface="Arial"/>
                <a:cs typeface="Arial"/>
              </a:rPr>
              <a:t>even </a:t>
            </a:r>
            <a:r>
              <a:rPr sz="2000" b="1" dirty="0">
                <a:latin typeface="Arial"/>
                <a:cs typeface="Arial"/>
              </a:rPr>
              <a:t>in the presence of the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clock  pulse.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20801"/>
            <a:ext cx="5030302" cy="3023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9138" y="34798"/>
            <a:ext cx="3128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J-K</a:t>
            </a:r>
            <a:r>
              <a:rPr spc="-50" dirty="0"/>
              <a:t> </a:t>
            </a:r>
            <a:r>
              <a:rPr spc="-5" dirty="0"/>
              <a:t>Flip-Flop</a:t>
            </a:r>
          </a:p>
        </p:txBody>
      </p:sp>
      <p:sp>
        <p:nvSpPr>
          <p:cNvPr id="3" name="object 3"/>
          <p:cNvSpPr/>
          <p:nvPr/>
        </p:nvSpPr>
        <p:spPr>
          <a:xfrm>
            <a:off x="6630161" y="18676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96561" y="2154173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68161" y="5087873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3540" y="727303"/>
            <a:ext cx="8542655" cy="28301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J-K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 uncertainty in the state of an S-R FF, </a:t>
            </a:r>
            <a:r>
              <a:rPr sz="2000" b="1" spc="5" dirty="0">
                <a:latin typeface="Arial"/>
                <a:cs typeface="Arial"/>
              </a:rPr>
              <a:t>when </a:t>
            </a:r>
            <a:r>
              <a:rPr sz="2000" b="1" dirty="0">
                <a:latin typeface="Arial"/>
                <a:cs typeface="Arial"/>
              </a:rPr>
              <a:t>Sn=Rn=1 can</a:t>
            </a:r>
            <a:r>
              <a:rPr sz="2000" b="1" spc="-2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eliminated </a:t>
            </a:r>
            <a:r>
              <a:rPr sz="2000" b="1" dirty="0">
                <a:latin typeface="Arial"/>
                <a:cs typeface="Arial"/>
              </a:rPr>
              <a:t>by converting it into a J-K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FF.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  <a:tab pos="4585335" algn="l"/>
              </a:tabLst>
            </a:pPr>
            <a:r>
              <a:rPr sz="2000" b="1" dirty="0">
                <a:latin typeface="Arial"/>
                <a:cs typeface="Arial"/>
              </a:rPr>
              <a:t>The data inputs are J &amp; K </a:t>
            </a:r>
            <a:r>
              <a:rPr sz="2000" b="1" spc="5" dirty="0">
                <a:latin typeface="Arial"/>
                <a:cs typeface="Arial"/>
              </a:rPr>
              <a:t>which </a:t>
            </a:r>
            <a:r>
              <a:rPr sz="2000" b="1" dirty="0">
                <a:latin typeface="Arial"/>
                <a:cs typeface="Arial"/>
              </a:rPr>
              <a:t>are ANDed with Q &amp; Q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respectively,  </a:t>
            </a:r>
            <a:r>
              <a:rPr sz="2000" b="1" dirty="0">
                <a:latin typeface="Arial"/>
                <a:cs typeface="Arial"/>
              </a:rPr>
              <a:t>to obtain S &amp; R inputs.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i.e.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S=J.Q	&amp; R = K.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</a:t>
            </a:r>
            <a:endParaRPr sz="20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sz="2000" b="1" dirty="0">
                <a:latin typeface="Arial"/>
                <a:cs typeface="Arial"/>
              </a:rPr>
              <a:t>Truth Table for J-K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  <a:tabLst>
                <a:tab pos="5499735" algn="l"/>
              </a:tabLst>
            </a:pPr>
            <a:r>
              <a:rPr sz="2000" b="1" dirty="0">
                <a:latin typeface="Arial"/>
                <a:cs typeface="Arial"/>
              </a:rPr>
              <a:t>Inputs	Output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11200" y="3536950"/>
          <a:ext cx="6096000" cy="1854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88290">
                        <a:lnSpc>
                          <a:spcPts val="2330"/>
                        </a:lnSpc>
                        <a:spcBef>
                          <a:spcPts val="49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Jn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2330"/>
                        </a:lnSpc>
                        <a:spcBef>
                          <a:spcPts val="490"/>
                        </a:spcBef>
                      </a:pPr>
                      <a:r>
                        <a:rPr sz="2000" b="1" spc="5" dirty="0">
                          <a:latin typeface="Arial"/>
                          <a:cs typeface="Arial"/>
                        </a:rPr>
                        <a:t>Kn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2530475">
                        <a:lnSpc>
                          <a:spcPts val="2330"/>
                        </a:lnSpc>
                        <a:spcBef>
                          <a:spcPts val="49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Qn+1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8290">
                        <a:lnSpc>
                          <a:spcPts val="2370"/>
                        </a:lnSpc>
                        <a:spcBef>
                          <a:spcPts val="45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2370"/>
                        </a:lnSpc>
                        <a:spcBef>
                          <a:spcPts val="45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530475">
                        <a:lnSpc>
                          <a:spcPts val="2370"/>
                        </a:lnSpc>
                        <a:spcBef>
                          <a:spcPts val="45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Qn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304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25304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304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Qn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727" y="1251463"/>
            <a:ext cx="7767763" cy="42838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7630" y="5833364"/>
            <a:ext cx="5122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Fig. S-R Flip-Flop </a:t>
            </a:r>
            <a:r>
              <a:rPr sz="1800" b="1" spc="-10" dirty="0">
                <a:latin typeface="Arial"/>
                <a:cs typeface="Arial"/>
              </a:rPr>
              <a:t>Converted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spc="-5" dirty="0">
                <a:latin typeface="Arial"/>
                <a:cs typeface="Arial"/>
              </a:rPr>
              <a:t>J-K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Flip-Flop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55111" y="72898"/>
            <a:ext cx="3128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J-K</a:t>
            </a:r>
            <a:r>
              <a:rPr spc="-50" dirty="0"/>
              <a:t> </a:t>
            </a:r>
            <a:r>
              <a:rPr spc="-5" dirty="0"/>
              <a:t>Flip-Flop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9138" y="103123"/>
            <a:ext cx="3128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J-K</a:t>
            </a:r>
            <a:r>
              <a:rPr spc="-50" dirty="0"/>
              <a:t> </a:t>
            </a:r>
            <a:r>
              <a:rPr spc="-5" dirty="0"/>
              <a:t>Flip-Flop</a:t>
            </a:r>
          </a:p>
        </p:txBody>
      </p:sp>
      <p:sp>
        <p:nvSpPr>
          <p:cNvPr id="3" name="object 3"/>
          <p:cNvSpPr/>
          <p:nvPr/>
        </p:nvSpPr>
        <p:spPr>
          <a:xfrm>
            <a:off x="335025" y="1320296"/>
            <a:ext cx="8454471" cy="536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8253" y="5969914"/>
            <a:ext cx="270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Logic </a:t>
            </a:r>
            <a:r>
              <a:rPr sz="1800" b="1" spc="-5" dirty="0">
                <a:latin typeface="Arial"/>
                <a:cs typeface="Arial"/>
              </a:rPr>
              <a:t>Symbols </a:t>
            </a:r>
            <a:r>
              <a:rPr sz="1800" b="1" dirty="0">
                <a:latin typeface="Arial"/>
                <a:cs typeface="Arial"/>
              </a:rPr>
              <a:t>of J-K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FF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24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5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27303"/>
            <a:ext cx="8551545" cy="56229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latin typeface="Arial"/>
                <a:cs typeface="Arial"/>
              </a:rPr>
              <a:t>Race- Around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Condition: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ts val="2160"/>
              </a:lnSpc>
              <a:spcBef>
                <a:spcPts val="509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J-K </a:t>
            </a:r>
            <a:r>
              <a:rPr sz="2000" b="1" spc="-5" dirty="0">
                <a:latin typeface="Arial"/>
                <a:cs typeface="Arial"/>
              </a:rPr>
              <a:t>Flip-Flop, </a:t>
            </a:r>
            <a:r>
              <a:rPr sz="2000" b="1" dirty="0">
                <a:latin typeface="Arial"/>
                <a:cs typeface="Arial"/>
              </a:rPr>
              <a:t>condition for both the inputs as 1 </a:t>
            </a:r>
            <a:r>
              <a:rPr sz="2000" b="1" spc="-5" dirty="0">
                <a:latin typeface="Arial"/>
                <a:cs typeface="Arial"/>
              </a:rPr>
              <a:t>i.e. S=R=1 </a:t>
            </a:r>
            <a:r>
              <a:rPr sz="2000" b="1" spc="-2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taken </a:t>
            </a:r>
            <a:r>
              <a:rPr sz="2000" b="1" spc="-5" dirty="0">
                <a:latin typeface="Arial"/>
                <a:cs typeface="Arial"/>
              </a:rPr>
              <a:t>into </a:t>
            </a:r>
            <a:r>
              <a:rPr sz="2000" b="1" dirty="0">
                <a:latin typeface="Arial"/>
                <a:cs typeface="Arial"/>
              </a:rPr>
              <a:t>consideration </a:t>
            </a: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using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feedback connection </a:t>
            </a:r>
            <a:r>
              <a:rPr sz="2000" b="1" spc="-5" dirty="0">
                <a:latin typeface="Arial"/>
                <a:cs typeface="Arial"/>
              </a:rPr>
              <a:t>from  </a:t>
            </a:r>
            <a:r>
              <a:rPr sz="2000" b="1" dirty="0">
                <a:latin typeface="Arial"/>
                <a:cs typeface="Arial"/>
              </a:rPr>
              <a:t>outputs to the inputs of the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gates.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ts val="216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In J-K FF,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assumption </a:t>
            </a:r>
            <a:r>
              <a:rPr sz="2000" b="1" dirty="0">
                <a:latin typeface="Arial"/>
                <a:cs typeface="Arial"/>
              </a:rPr>
              <a:t>that </a:t>
            </a:r>
            <a:r>
              <a:rPr sz="2000" b="1" spc="-5" dirty="0">
                <a:latin typeface="Arial"/>
                <a:cs typeface="Arial"/>
              </a:rPr>
              <a:t>the inputs </a:t>
            </a:r>
            <a:r>
              <a:rPr sz="2000" b="1" dirty="0">
                <a:latin typeface="Arial"/>
                <a:cs typeface="Arial"/>
              </a:rPr>
              <a:t>do </a:t>
            </a:r>
            <a:r>
              <a:rPr sz="2000" b="1" spc="-5" dirty="0">
                <a:latin typeface="Arial"/>
                <a:cs typeface="Arial"/>
              </a:rPr>
              <a:t>not </a:t>
            </a:r>
            <a:r>
              <a:rPr sz="2000" b="1" dirty="0">
                <a:latin typeface="Arial"/>
                <a:cs typeface="Arial"/>
              </a:rPr>
              <a:t>change </a:t>
            </a:r>
            <a:r>
              <a:rPr sz="2000" b="1" spc="-5" dirty="0">
                <a:latin typeface="Arial"/>
                <a:cs typeface="Arial"/>
              </a:rPr>
              <a:t>during the  </a:t>
            </a:r>
            <a:r>
              <a:rPr sz="2000" b="1" dirty="0">
                <a:latin typeface="Arial"/>
                <a:cs typeface="Arial"/>
              </a:rPr>
              <a:t>clock </a:t>
            </a:r>
            <a:r>
              <a:rPr sz="2000" b="1" spc="-5" dirty="0">
                <a:latin typeface="Arial"/>
                <a:cs typeface="Arial"/>
              </a:rPr>
              <a:t>pulse (CK=1), </a:t>
            </a:r>
            <a:r>
              <a:rPr sz="2000" b="1" dirty="0">
                <a:latin typeface="Arial"/>
                <a:cs typeface="Arial"/>
              </a:rPr>
              <a:t>which </a:t>
            </a:r>
            <a:r>
              <a:rPr sz="2000" b="1" spc="-5" dirty="0">
                <a:latin typeface="Arial"/>
                <a:cs typeface="Arial"/>
              </a:rPr>
              <a:t>is not true </a:t>
            </a:r>
            <a:r>
              <a:rPr sz="2000" b="1" dirty="0">
                <a:latin typeface="Arial"/>
                <a:cs typeface="Arial"/>
              </a:rPr>
              <a:t>because </a:t>
            </a:r>
            <a:r>
              <a:rPr sz="2000" b="1" spc="-5" dirty="0">
                <a:latin typeface="Arial"/>
                <a:cs typeface="Arial"/>
              </a:rPr>
              <a:t>of the </a:t>
            </a:r>
            <a:r>
              <a:rPr sz="2000" b="1" dirty="0">
                <a:latin typeface="Arial"/>
                <a:cs typeface="Arial"/>
              </a:rPr>
              <a:t>feedback  connections.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ts val="2280"/>
              </a:lnSpc>
              <a:spcBef>
                <a:spcPts val="20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e.g.</a:t>
            </a:r>
            <a:r>
              <a:rPr sz="2000" b="1" spc="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J=K=1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&amp;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Q=0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pulse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applied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at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clock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80"/>
              </a:lnSpc>
            </a:pPr>
            <a:r>
              <a:rPr sz="2000" b="1" dirty="0">
                <a:latin typeface="Arial"/>
                <a:cs typeface="Arial"/>
              </a:rPr>
              <a:t>input.</a:t>
            </a:r>
            <a:endParaRPr sz="2000">
              <a:latin typeface="Arial"/>
              <a:cs typeface="Arial"/>
            </a:endParaRPr>
          </a:p>
          <a:p>
            <a:pPr marL="355600" marR="8890" indent="-342900" algn="just">
              <a:lnSpc>
                <a:spcPct val="90500"/>
              </a:lnSpc>
              <a:spcBef>
                <a:spcPts val="56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After a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time interval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Δt </a:t>
            </a:r>
            <a:r>
              <a:rPr sz="2000" b="1" dirty="0">
                <a:latin typeface="Arial"/>
                <a:cs typeface="Arial"/>
              </a:rPr>
              <a:t>equal to the </a:t>
            </a:r>
            <a:r>
              <a:rPr sz="2000" b="1" spc="-5" dirty="0">
                <a:latin typeface="Arial"/>
                <a:cs typeface="Arial"/>
              </a:rPr>
              <a:t>propagation </a:t>
            </a:r>
            <a:r>
              <a:rPr sz="2000" b="1" dirty="0">
                <a:latin typeface="Arial"/>
                <a:cs typeface="Arial"/>
              </a:rPr>
              <a:t>delay through  </a:t>
            </a:r>
            <a:r>
              <a:rPr sz="2000" b="1" spc="5" dirty="0">
                <a:latin typeface="Arial"/>
                <a:cs typeface="Arial"/>
              </a:rPr>
              <a:t>two NAND </a:t>
            </a:r>
            <a:r>
              <a:rPr sz="2000" b="1" dirty="0">
                <a:latin typeface="Arial"/>
                <a:cs typeface="Arial"/>
              </a:rPr>
              <a:t>gates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series, the output </a:t>
            </a:r>
            <a:r>
              <a:rPr sz="2000" b="1" spc="5" dirty="0">
                <a:latin typeface="Arial"/>
                <a:cs typeface="Arial"/>
              </a:rPr>
              <a:t>will </a:t>
            </a:r>
            <a:r>
              <a:rPr sz="2000" b="1" dirty="0">
                <a:latin typeface="Arial"/>
                <a:cs typeface="Arial"/>
              </a:rPr>
              <a:t>change to</a:t>
            </a:r>
            <a:r>
              <a:rPr sz="2000" b="1" spc="-2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Q=1.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10" dirty="0">
                <a:latin typeface="Arial"/>
                <a:cs typeface="Arial"/>
              </a:rPr>
              <a:t>Now </a:t>
            </a:r>
            <a:r>
              <a:rPr sz="2000" b="1" spc="-5" dirty="0">
                <a:latin typeface="Arial"/>
                <a:cs typeface="Arial"/>
              </a:rPr>
              <a:t>J=K=1 </a:t>
            </a:r>
            <a:r>
              <a:rPr sz="2000" b="1" dirty="0">
                <a:latin typeface="Arial"/>
                <a:cs typeface="Arial"/>
              </a:rPr>
              <a:t>&amp; Q=1 and </a:t>
            </a:r>
            <a:r>
              <a:rPr sz="2000" b="1" spc="-5" dirty="0">
                <a:latin typeface="Arial"/>
                <a:cs typeface="Arial"/>
              </a:rPr>
              <a:t>after another </a:t>
            </a:r>
            <a:r>
              <a:rPr sz="2000" b="1" dirty="0">
                <a:latin typeface="Arial"/>
                <a:cs typeface="Arial"/>
              </a:rPr>
              <a:t>time </a:t>
            </a:r>
            <a:r>
              <a:rPr sz="2000" b="1" spc="-5" dirty="0">
                <a:latin typeface="Arial"/>
                <a:cs typeface="Arial"/>
              </a:rPr>
              <a:t>interval </a:t>
            </a:r>
            <a:r>
              <a:rPr sz="2000" b="1" dirty="0">
                <a:latin typeface="Arial"/>
                <a:cs typeface="Arial"/>
              </a:rPr>
              <a:t>of Δt the output  </a:t>
            </a:r>
            <a:r>
              <a:rPr sz="2000" b="1" spc="-5" dirty="0">
                <a:latin typeface="Arial"/>
                <a:cs typeface="Arial"/>
              </a:rPr>
              <a:t>will </a:t>
            </a:r>
            <a:r>
              <a:rPr sz="2000" b="1" dirty="0">
                <a:latin typeface="Arial"/>
                <a:cs typeface="Arial"/>
              </a:rPr>
              <a:t>change back to </a:t>
            </a:r>
            <a:r>
              <a:rPr sz="2000" b="1" spc="-5" dirty="0">
                <a:latin typeface="Arial"/>
                <a:cs typeface="Arial"/>
              </a:rPr>
              <a:t>Q=0. Thus </a:t>
            </a: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duration tp </a:t>
            </a:r>
            <a:r>
              <a:rPr sz="2000" b="1" spc="-5" dirty="0">
                <a:latin typeface="Arial"/>
                <a:cs typeface="Arial"/>
              </a:rPr>
              <a:t>of clock </a:t>
            </a:r>
            <a:r>
              <a:rPr sz="2000" b="1" dirty="0">
                <a:latin typeface="Arial"/>
                <a:cs typeface="Arial"/>
              </a:rPr>
              <a:t>pulse,  the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output will oscillate back </a:t>
            </a:r>
            <a:r>
              <a:rPr sz="2400" b="1" spc="-10" dirty="0">
                <a:solidFill>
                  <a:srgbClr val="FF3300"/>
                </a:solidFill>
                <a:latin typeface="Arial"/>
                <a:cs typeface="Arial"/>
              </a:rPr>
              <a:t>and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forth between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0 &amp; 1, &amp;  at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end of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clock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pulse,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value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of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Q is </a:t>
            </a:r>
            <a:r>
              <a:rPr sz="2400" b="1" spc="-5" dirty="0">
                <a:solidFill>
                  <a:srgbClr val="FF3300"/>
                </a:solidFill>
                <a:latin typeface="Arial"/>
                <a:cs typeface="Arial"/>
              </a:rPr>
              <a:t>uncertain. 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 situation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called as </a:t>
            </a:r>
            <a:r>
              <a:rPr sz="2000" b="1" dirty="0">
                <a:solidFill>
                  <a:srgbClr val="FF3300"/>
                </a:solidFill>
                <a:latin typeface="Arial"/>
                <a:cs typeface="Arial"/>
              </a:rPr>
              <a:t>race around</a:t>
            </a:r>
            <a:r>
              <a:rPr sz="2000" b="1" spc="-1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3300"/>
                </a:solidFill>
                <a:latin typeface="Arial"/>
                <a:cs typeface="Arial"/>
              </a:rPr>
              <a:t>condition</a:t>
            </a:r>
            <a:r>
              <a:rPr sz="2000" b="1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marR="8890" indent="-342900" algn="just">
              <a:lnSpc>
                <a:spcPts val="2160"/>
              </a:lnSpc>
              <a:spcBef>
                <a:spcPts val="51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</a:t>
            </a:r>
            <a:r>
              <a:rPr sz="2000" b="1" dirty="0">
                <a:latin typeface="Arial"/>
                <a:cs typeface="Arial"/>
              </a:rPr>
              <a:t>can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avoided </a:t>
            </a:r>
            <a:r>
              <a:rPr sz="2000" b="1" spc="-10" dirty="0">
                <a:latin typeface="Arial"/>
                <a:cs typeface="Arial"/>
              </a:rPr>
              <a:t>if </a:t>
            </a:r>
            <a:r>
              <a:rPr sz="2000" b="1" spc="-5" dirty="0">
                <a:solidFill>
                  <a:srgbClr val="FF3300"/>
                </a:solidFill>
                <a:latin typeface="Arial"/>
                <a:cs typeface="Arial"/>
              </a:rPr>
              <a:t>tp&lt; </a:t>
            </a:r>
            <a:r>
              <a:rPr sz="2000" b="1" spc="-10" dirty="0">
                <a:solidFill>
                  <a:srgbClr val="FF3300"/>
                </a:solidFill>
                <a:latin typeface="Arial"/>
                <a:cs typeface="Arial"/>
              </a:rPr>
              <a:t>Δt </a:t>
            </a:r>
            <a:r>
              <a:rPr sz="2000" b="1" spc="-5" dirty="0">
                <a:solidFill>
                  <a:srgbClr val="FF3300"/>
                </a:solidFill>
                <a:latin typeface="Arial"/>
                <a:cs typeface="Arial"/>
              </a:rPr>
              <a:t>&lt;T</a:t>
            </a:r>
            <a:r>
              <a:rPr sz="2000" b="1" spc="-5" dirty="0">
                <a:latin typeface="Arial"/>
                <a:cs typeface="Arial"/>
              </a:rPr>
              <a:t>. The best </a:t>
            </a:r>
            <a:r>
              <a:rPr sz="2000" b="1" spc="10" dirty="0">
                <a:latin typeface="Arial"/>
                <a:cs typeface="Arial"/>
              </a:rPr>
              <a:t>way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use </a:t>
            </a: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master-slave  </a:t>
            </a:r>
            <a:r>
              <a:rPr sz="2000" b="1" dirty="0">
                <a:latin typeface="Arial"/>
                <a:cs typeface="Arial"/>
              </a:rPr>
              <a:t>J-K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Flip-Flop.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8933" y="26923"/>
            <a:ext cx="6407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Master-Slave J-K</a:t>
            </a:r>
            <a:r>
              <a:rPr spc="25" dirty="0"/>
              <a:t> </a:t>
            </a:r>
            <a:r>
              <a:rPr spc="-5" dirty="0"/>
              <a:t>Flip-Flop</a:t>
            </a:r>
          </a:p>
        </p:txBody>
      </p:sp>
      <p:sp>
        <p:nvSpPr>
          <p:cNvPr id="3" name="object 3"/>
          <p:cNvSpPr/>
          <p:nvPr/>
        </p:nvSpPr>
        <p:spPr>
          <a:xfrm>
            <a:off x="744109" y="1261471"/>
            <a:ext cx="7620662" cy="4983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885" y="246633"/>
            <a:ext cx="5651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Master-Slave</a:t>
            </a:r>
            <a:r>
              <a:rPr sz="4400" b="0" spc="-7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Flip-Flop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0372" y="1524000"/>
            <a:ext cx="7843520" cy="4739640"/>
            <a:chOff x="690372" y="1524000"/>
            <a:chExt cx="7843520" cy="4739640"/>
          </a:xfrm>
        </p:grpSpPr>
        <p:sp>
          <p:nvSpPr>
            <p:cNvPr id="4" name="object 4"/>
            <p:cNvSpPr/>
            <p:nvPr/>
          </p:nvSpPr>
          <p:spPr>
            <a:xfrm>
              <a:off x="1194054" y="1538477"/>
              <a:ext cx="6845934" cy="4711065"/>
            </a:xfrm>
            <a:custGeom>
              <a:avLst/>
              <a:gdLst/>
              <a:ahLst/>
              <a:cxnLst/>
              <a:rect l="l" t="t" r="r" b="b"/>
              <a:pathLst>
                <a:path w="6845934" h="4711065">
                  <a:moveTo>
                    <a:pt x="0" y="4710684"/>
                  </a:moveTo>
                  <a:lnTo>
                    <a:pt x="6845808" y="4710684"/>
                  </a:lnTo>
                  <a:lnTo>
                    <a:pt x="6845808" y="0"/>
                  </a:lnTo>
                  <a:lnTo>
                    <a:pt x="0" y="0"/>
                  </a:lnTo>
                  <a:lnTo>
                    <a:pt x="0" y="4710684"/>
                  </a:lnTo>
                  <a:close/>
                </a:path>
                <a:path w="6845934" h="4711065">
                  <a:moveTo>
                    <a:pt x="1007364" y="2796540"/>
                  </a:moveTo>
                  <a:lnTo>
                    <a:pt x="2654808" y="2796540"/>
                  </a:lnTo>
                  <a:lnTo>
                    <a:pt x="2654808" y="559308"/>
                  </a:lnTo>
                  <a:lnTo>
                    <a:pt x="1007364" y="559308"/>
                  </a:lnTo>
                  <a:lnTo>
                    <a:pt x="1007364" y="2796540"/>
                  </a:lnTo>
                  <a:close/>
                </a:path>
                <a:path w="6845934" h="4711065">
                  <a:moveTo>
                    <a:pt x="4163568" y="2796540"/>
                  </a:moveTo>
                  <a:lnTo>
                    <a:pt x="5811012" y="2796540"/>
                  </a:lnTo>
                  <a:lnTo>
                    <a:pt x="5811012" y="559308"/>
                  </a:lnTo>
                  <a:lnTo>
                    <a:pt x="4163568" y="559308"/>
                  </a:lnTo>
                  <a:lnTo>
                    <a:pt x="4163568" y="279654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850" y="2657094"/>
              <a:ext cx="1996439" cy="2670175"/>
            </a:xfrm>
            <a:custGeom>
              <a:avLst/>
              <a:gdLst/>
              <a:ahLst/>
              <a:cxnLst/>
              <a:rect l="l" t="t" r="r" b="b"/>
              <a:pathLst>
                <a:path w="1996439" h="2670175">
                  <a:moveTo>
                    <a:pt x="0" y="0"/>
                  </a:moveTo>
                  <a:lnTo>
                    <a:pt x="1496568" y="0"/>
                  </a:lnTo>
                </a:path>
                <a:path w="1996439" h="2670175">
                  <a:moveTo>
                    <a:pt x="0" y="1127759"/>
                  </a:moveTo>
                  <a:lnTo>
                    <a:pt x="1496568" y="1127759"/>
                  </a:lnTo>
                </a:path>
                <a:path w="1996439" h="2670175">
                  <a:moveTo>
                    <a:pt x="0" y="2651759"/>
                  </a:moveTo>
                  <a:lnTo>
                    <a:pt x="1996439" y="2660904"/>
                  </a:lnTo>
                </a:path>
                <a:path w="1996439" h="2670175">
                  <a:moveTo>
                    <a:pt x="998219" y="2670047"/>
                  </a:moveTo>
                  <a:lnTo>
                    <a:pt x="998219" y="569976"/>
                  </a:lnTo>
                </a:path>
                <a:path w="1996439" h="2670175">
                  <a:moveTo>
                    <a:pt x="998219" y="557783"/>
                  </a:moveTo>
                  <a:lnTo>
                    <a:pt x="1496568" y="56692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07513" y="3111246"/>
              <a:ext cx="3354704" cy="201295"/>
            </a:xfrm>
            <a:custGeom>
              <a:avLst/>
              <a:gdLst/>
              <a:ahLst/>
              <a:cxnLst/>
              <a:rect l="l" t="t" r="r" b="b"/>
              <a:pathLst>
                <a:path w="3354704" h="201295">
                  <a:moveTo>
                    <a:pt x="0" y="4571"/>
                  </a:moveTo>
                  <a:lnTo>
                    <a:pt x="202692" y="102869"/>
                  </a:lnTo>
                  <a:lnTo>
                    <a:pt x="0" y="201167"/>
                  </a:lnTo>
                  <a:lnTo>
                    <a:pt x="0" y="4571"/>
                  </a:lnTo>
                  <a:close/>
                </a:path>
                <a:path w="3354704" h="201295">
                  <a:moveTo>
                    <a:pt x="3150108" y="0"/>
                  </a:moveTo>
                  <a:lnTo>
                    <a:pt x="3354324" y="99059"/>
                  </a:lnTo>
                  <a:lnTo>
                    <a:pt x="3150108" y="198119"/>
                  </a:lnTo>
                  <a:lnTo>
                    <a:pt x="3150108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4605" y="3219450"/>
              <a:ext cx="2032000" cy="2112645"/>
            </a:xfrm>
            <a:custGeom>
              <a:avLst/>
              <a:gdLst/>
              <a:ahLst/>
              <a:cxnLst/>
              <a:rect l="l" t="t" r="r" b="b"/>
              <a:pathLst>
                <a:path w="2032000" h="2112645">
                  <a:moveTo>
                    <a:pt x="0" y="2092452"/>
                  </a:moveTo>
                  <a:lnTo>
                    <a:pt x="1560576" y="2092452"/>
                  </a:lnTo>
                </a:path>
                <a:path w="2032000" h="2112645">
                  <a:moveTo>
                    <a:pt x="1533144" y="2112264"/>
                  </a:moveTo>
                  <a:lnTo>
                    <a:pt x="1533144" y="10667"/>
                  </a:lnTo>
                </a:path>
                <a:path w="2032000" h="2112645">
                  <a:moveTo>
                    <a:pt x="1533144" y="0"/>
                  </a:moveTo>
                  <a:lnTo>
                    <a:pt x="2031492" y="914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8242" y="4979670"/>
              <a:ext cx="500380" cy="645160"/>
            </a:xfrm>
            <a:custGeom>
              <a:avLst/>
              <a:gdLst/>
              <a:ahLst/>
              <a:cxnLst/>
              <a:rect l="l" t="t" r="r" b="b"/>
              <a:pathLst>
                <a:path w="500380" h="645160">
                  <a:moveTo>
                    <a:pt x="0" y="0"/>
                  </a:moveTo>
                  <a:lnTo>
                    <a:pt x="499871" y="322325"/>
                  </a:lnTo>
                  <a:lnTo>
                    <a:pt x="0" y="644651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77539" y="5221223"/>
              <a:ext cx="158495" cy="1737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0386" y="2657094"/>
              <a:ext cx="4683760" cy="1127760"/>
            </a:xfrm>
            <a:custGeom>
              <a:avLst/>
              <a:gdLst/>
              <a:ahLst/>
              <a:cxnLst/>
              <a:rect l="l" t="t" r="r" b="b"/>
              <a:pathLst>
                <a:path w="4683759" h="1127760">
                  <a:moveTo>
                    <a:pt x="0" y="0"/>
                  </a:moveTo>
                  <a:lnTo>
                    <a:pt x="1496567" y="0"/>
                  </a:lnTo>
                </a:path>
                <a:path w="4683759" h="1127760">
                  <a:moveTo>
                    <a:pt x="10667" y="1127759"/>
                  </a:moveTo>
                  <a:lnTo>
                    <a:pt x="1507236" y="1127759"/>
                  </a:lnTo>
                </a:path>
                <a:path w="4683759" h="1127760">
                  <a:moveTo>
                    <a:pt x="3148584" y="1127759"/>
                  </a:moveTo>
                  <a:lnTo>
                    <a:pt x="4683252" y="1127759"/>
                  </a:lnTo>
                </a:path>
                <a:path w="4683759" h="1127760">
                  <a:moveTo>
                    <a:pt x="3148584" y="0"/>
                  </a:moveTo>
                  <a:lnTo>
                    <a:pt x="468325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3831" y="2473198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831" y="3394075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340" y="4666869"/>
            <a:ext cx="349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latin typeface="Times New Roman"/>
                <a:cs typeface="Times New Roman"/>
              </a:rPr>
              <a:t>CP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7617" y="2435174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7617" y="3356228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9095" y="2435174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9095" y="3356228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41854" y="2990164"/>
            <a:ext cx="7308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8928" y="2990164"/>
            <a:ext cx="590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Sl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ve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4090" y="224370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84090" y="3163900"/>
            <a:ext cx="25272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Y’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4818" y="2415032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84818" y="3335527"/>
            <a:ext cx="294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5" dirty="0">
                <a:latin typeface="Times New Roman"/>
                <a:cs typeface="Times New Roman"/>
              </a:rPr>
              <a:t>Q</a:t>
            </a:r>
            <a:r>
              <a:rPr sz="2000" i="1" dirty="0">
                <a:latin typeface="Times New Roman"/>
                <a:cs typeface="Times New Roman"/>
              </a:rPr>
              <a:t>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1842" y="5786424"/>
            <a:ext cx="3226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imes New Roman"/>
                <a:cs typeface="Times New Roman"/>
              </a:rPr>
              <a:t>MASTER-SLAVE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FLIP-FLOP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185" y="283210"/>
            <a:ext cx="6182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Arial"/>
                <a:cs typeface="Arial"/>
              </a:rPr>
              <a:t>Master-Slave Edge-Triggered</a:t>
            </a:r>
            <a:r>
              <a:rPr sz="2800" b="0" spc="-50" dirty="0">
                <a:latin typeface="Arial"/>
                <a:cs typeface="Arial"/>
              </a:rPr>
              <a:t> </a:t>
            </a:r>
            <a:r>
              <a:rPr sz="2800" b="0" dirty="0">
                <a:latin typeface="Arial"/>
                <a:cs typeface="Arial"/>
              </a:rPr>
              <a:t>Flip-Flop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9240" y="940053"/>
            <a:ext cx="859409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304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93065" algn="l"/>
                <a:tab pos="393700" algn="l"/>
                <a:tab pos="1187450" algn="l"/>
                <a:tab pos="2472055" algn="l"/>
                <a:tab pos="3222625" algn="l"/>
                <a:tab pos="5266690" algn="l"/>
                <a:tab pos="6454140" algn="l"/>
                <a:tab pos="6990715" algn="l"/>
              </a:tabLst>
            </a:pPr>
            <a:r>
              <a:rPr sz="2000" b="1" dirty="0">
                <a:latin typeface="Arial"/>
                <a:cs typeface="Arial"/>
              </a:rPr>
              <a:t>Can	conn</a:t>
            </a:r>
            <a:r>
              <a:rPr sz="2000" b="1" spc="-10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ct	</a:t>
            </a:r>
            <a:r>
              <a:rPr sz="2000" b="1" spc="-35" dirty="0">
                <a:latin typeface="Arial"/>
                <a:cs typeface="Arial"/>
              </a:rPr>
              <a:t>t</a:t>
            </a:r>
            <a:r>
              <a:rPr sz="2000" b="1" spc="50" dirty="0">
                <a:latin typeface="Arial"/>
                <a:cs typeface="Arial"/>
              </a:rPr>
              <a:t>w</a:t>
            </a:r>
            <a:r>
              <a:rPr sz="2000" b="1" dirty="0">
                <a:latin typeface="Arial"/>
                <a:cs typeface="Arial"/>
              </a:rPr>
              <a:t>o	l</a:t>
            </a:r>
            <a:r>
              <a:rPr sz="2000" b="1" spc="-20" dirty="0">
                <a:latin typeface="Arial"/>
                <a:cs typeface="Arial"/>
              </a:rPr>
              <a:t>e</a:t>
            </a:r>
            <a:r>
              <a:rPr sz="2000" b="1" spc="-25" dirty="0">
                <a:latin typeface="Arial"/>
                <a:cs typeface="Arial"/>
              </a:rPr>
              <a:t>v</a:t>
            </a:r>
            <a:r>
              <a:rPr sz="2000" b="1" dirty="0">
                <a:latin typeface="Arial"/>
                <a:cs typeface="Arial"/>
              </a:rPr>
              <a:t>e</a:t>
            </a:r>
            <a:r>
              <a:rPr sz="2000" b="1" spc="-5" dirty="0">
                <a:latin typeface="Arial"/>
                <a:cs typeface="Arial"/>
              </a:rPr>
              <a:t>l</a:t>
            </a:r>
            <a:r>
              <a:rPr sz="2000" b="1" dirty="0">
                <a:latin typeface="Arial"/>
                <a:cs typeface="Arial"/>
              </a:rPr>
              <a:t>-sensiti</a:t>
            </a:r>
            <a:r>
              <a:rPr sz="2000" b="1" spc="-25" dirty="0">
                <a:latin typeface="Arial"/>
                <a:cs typeface="Arial"/>
              </a:rPr>
              <a:t>v</a:t>
            </a:r>
            <a:r>
              <a:rPr sz="2000" b="1" dirty="0">
                <a:latin typeface="Arial"/>
                <a:cs typeface="Arial"/>
              </a:rPr>
              <a:t>e	latch</a:t>
            </a:r>
            <a:r>
              <a:rPr sz="2000" b="1" spc="-10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s	</a:t>
            </a:r>
            <a:r>
              <a:rPr sz="2000" b="1" spc="-10" dirty="0">
                <a:latin typeface="Arial"/>
                <a:cs typeface="Arial"/>
              </a:rPr>
              <a:t>i</a:t>
            </a:r>
            <a:r>
              <a:rPr sz="2000" b="1" dirty="0">
                <a:latin typeface="Arial"/>
                <a:cs typeface="Arial"/>
              </a:rPr>
              <a:t>n	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</a:t>
            </a: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</a:t>
            </a: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r-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2000" b="1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000" b="1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 </a:t>
            </a:r>
            <a:r>
              <a:rPr sz="2000" b="1" dirty="0">
                <a:latin typeface="Arial"/>
                <a:cs typeface="Arial"/>
              </a:rPr>
              <a:t> configuration to form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edge-triggered</a:t>
            </a:r>
            <a:r>
              <a:rPr sz="2000" b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flip-flop</a:t>
            </a:r>
            <a:endParaRPr sz="200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475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Master</a:t>
            </a:r>
            <a:r>
              <a:rPr sz="2000" b="1" dirty="0">
                <a:latin typeface="Arial"/>
                <a:cs typeface="Arial"/>
              </a:rPr>
              <a:t> latch “catches”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of </a:t>
            </a:r>
            <a:r>
              <a:rPr sz="2000" b="1" spc="5" dirty="0">
                <a:latin typeface="Arial"/>
                <a:cs typeface="Arial"/>
              </a:rPr>
              <a:t>“D” </a:t>
            </a:r>
            <a:r>
              <a:rPr sz="2000" b="1" dirty="0">
                <a:latin typeface="Arial"/>
                <a:cs typeface="Arial"/>
              </a:rPr>
              <a:t>at </a:t>
            </a:r>
            <a:r>
              <a:rPr sz="2000" b="1" spc="5" dirty="0">
                <a:latin typeface="Arial"/>
                <a:cs typeface="Arial"/>
              </a:rPr>
              <a:t>“Q</a:t>
            </a:r>
            <a:r>
              <a:rPr sz="1950" b="1" spc="7" baseline="-21367" dirty="0">
                <a:latin typeface="Arial"/>
                <a:cs typeface="Arial"/>
              </a:rPr>
              <a:t>M</a:t>
            </a:r>
            <a:r>
              <a:rPr sz="2000" b="1" spc="5" dirty="0">
                <a:latin typeface="Arial"/>
                <a:cs typeface="Arial"/>
              </a:rPr>
              <a:t>” when </a:t>
            </a:r>
            <a:r>
              <a:rPr sz="2000" b="1" dirty="0">
                <a:latin typeface="Arial"/>
                <a:cs typeface="Arial"/>
              </a:rPr>
              <a:t>CLK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-2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low</a:t>
            </a:r>
            <a:endParaRPr sz="200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Slave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latch causes “Q” to change only at rising edge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CLK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5600" y="31242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6794" y="3585362"/>
            <a:ext cx="367665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sz="1600" spc="-5" dirty="0">
                <a:latin typeface="Tahoma"/>
                <a:cs typeface="Tahoma"/>
              </a:rPr>
              <a:t>CLK  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6322" y="2973704"/>
            <a:ext cx="16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6679" y="2973704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52827" y="4572000"/>
            <a:ext cx="3667125" cy="2133600"/>
            <a:chOff x="2052827" y="4572000"/>
            <a:chExt cx="3667125" cy="2133600"/>
          </a:xfrm>
        </p:grpSpPr>
        <p:sp>
          <p:nvSpPr>
            <p:cNvPr id="9" name="object 9"/>
            <p:cNvSpPr/>
            <p:nvPr/>
          </p:nvSpPr>
          <p:spPr>
            <a:xfrm>
              <a:off x="2058161" y="4801361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609600" y="0"/>
                  </a:moveTo>
                  <a:lnTo>
                    <a:pt x="609600" y="228600"/>
                  </a:lnTo>
                </a:path>
                <a:path w="609600" h="228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9261" y="4801361"/>
              <a:ext cx="76200" cy="228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67761" y="4801361"/>
              <a:ext cx="3048000" cy="228600"/>
            </a:xfrm>
            <a:custGeom>
              <a:avLst/>
              <a:gdLst/>
              <a:ahLst/>
              <a:cxnLst/>
              <a:rect l="l" t="t" r="r" b="b"/>
              <a:pathLst>
                <a:path w="3048000" h="228600">
                  <a:moveTo>
                    <a:pt x="0" y="228600"/>
                  </a:moveTo>
                  <a:lnTo>
                    <a:pt x="609600" y="228600"/>
                  </a:lnTo>
                </a:path>
                <a:path w="3048000" h="228600">
                  <a:moveTo>
                    <a:pt x="1219200" y="0"/>
                  </a:moveTo>
                  <a:lnTo>
                    <a:pt x="1219200" y="228600"/>
                  </a:lnTo>
                </a:path>
                <a:path w="3048000" h="228600">
                  <a:moveTo>
                    <a:pt x="609600" y="0"/>
                  </a:moveTo>
                  <a:lnTo>
                    <a:pt x="1219200" y="0"/>
                  </a:lnTo>
                </a:path>
                <a:path w="3048000" h="228600">
                  <a:moveTo>
                    <a:pt x="1219200" y="228600"/>
                  </a:moveTo>
                  <a:lnTo>
                    <a:pt x="1828800" y="228600"/>
                  </a:lnTo>
                </a:path>
                <a:path w="3048000" h="228600">
                  <a:moveTo>
                    <a:pt x="2438400" y="0"/>
                  </a:moveTo>
                  <a:lnTo>
                    <a:pt x="2438400" y="228600"/>
                  </a:lnTo>
                </a:path>
                <a:path w="3048000" h="228600">
                  <a:moveTo>
                    <a:pt x="1828800" y="0"/>
                  </a:moveTo>
                  <a:lnTo>
                    <a:pt x="2438400" y="0"/>
                  </a:lnTo>
                </a:path>
                <a:path w="3048000" h="228600">
                  <a:moveTo>
                    <a:pt x="2438400" y="228600"/>
                  </a:moveTo>
                  <a:lnTo>
                    <a:pt x="3048000" y="22860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8461" y="4801361"/>
              <a:ext cx="76200" cy="228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8161" y="5258562"/>
              <a:ext cx="3657600" cy="685800"/>
            </a:xfrm>
            <a:custGeom>
              <a:avLst/>
              <a:gdLst/>
              <a:ahLst/>
              <a:cxnLst/>
              <a:rect l="l" t="t" r="r" b="b"/>
              <a:pathLst>
                <a:path w="3657600" h="685800">
                  <a:moveTo>
                    <a:pt x="152400" y="0"/>
                  </a:moveTo>
                  <a:lnTo>
                    <a:pt x="152400" y="228600"/>
                  </a:lnTo>
                </a:path>
                <a:path w="3657600" h="685800">
                  <a:moveTo>
                    <a:pt x="0" y="0"/>
                  </a:moveTo>
                  <a:lnTo>
                    <a:pt x="152400" y="0"/>
                  </a:lnTo>
                </a:path>
                <a:path w="3657600" h="685800">
                  <a:moveTo>
                    <a:pt x="152400" y="228600"/>
                  </a:moveTo>
                  <a:lnTo>
                    <a:pt x="304800" y="228600"/>
                  </a:lnTo>
                </a:path>
                <a:path w="3657600" h="685800">
                  <a:moveTo>
                    <a:pt x="304800" y="0"/>
                  </a:moveTo>
                  <a:lnTo>
                    <a:pt x="304800" y="228600"/>
                  </a:lnTo>
                </a:path>
                <a:path w="3657600" h="685800">
                  <a:moveTo>
                    <a:pt x="457200" y="228600"/>
                  </a:moveTo>
                  <a:lnTo>
                    <a:pt x="609600" y="228600"/>
                  </a:lnTo>
                </a:path>
                <a:path w="3657600" h="685800">
                  <a:moveTo>
                    <a:pt x="457200" y="0"/>
                  </a:moveTo>
                  <a:lnTo>
                    <a:pt x="457200" y="228600"/>
                  </a:lnTo>
                </a:path>
                <a:path w="3657600" h="685800">
                  <a:moveTo>
                    <a:pt x="304800" y="0"/>
                  </a:moveTo>
                  <a:lnTo>
                    <a:pt x="457200" y="0"/>
                  </a:lnTo>
                </a:path>
                <a:path w="3657600" h="685800">
                  <a:moveTo>
                    <a:pt x="609600" y="228600"/>
                  </a:moveTo>
                  <a:lnTo>
                    <a:pt x="762000" y="228600"/>
                  </a:lnTo>
                </a:path>
                <a:path w="3657600" h="685800">
                  <a:moveTo>
                    <a:pt x="762000" y="0"/>
                  </a:moveTo>
                  <a:lnTo>
                    <a:pt x="762000" y="228600"/>
                  </a:lnTo>
                </a:path>
                <a:path w="3657600" h="685800">
                  <a:moveTo>
                    <a:pt x="914400" y="228600"/>
                  </a:moveTo>
                  <a:lnTo>
                    <a:pt x="1295400" y="228600"/>
                  </a:lnTo>
                </a:path>
                <a:path w="3657600" h="685800">
                  <a:moveTo>
                    <a:pt x="914400" y="0"/>
                  </a:moveTo>
                  <a:lnTo>
                    <a:pt x="914400" y="228600"/>
                  </a:lnTo>
                </a:path>
                <a:path w="3657600" h="685800">
                  <a:moveTo>
                    <a:pt x="762000" y="0"/>
                  </a:moveTo>
                  <a:lnTo>
                    <a:pt x="914400" y="0"/>
                  </a:lnTo>
                </a:path>
                <a:path w="3657600" h="685800">
                  <a:moveTo>
                    <a:pt x="1447800" y="0"/>
                  </a:moveTo>
                  <a:lnTo>
                    <a:pt x="1447800" y="228600"/>
                  </a:lnTo>
                </a:path>
                <a:path w="3657600" h="685800">
                  <a:moveTo>
                    <a:pt x="1295400" y="0"/>
                  </a:moveTo>
                  <a:lnTo>
                    <a:pt x="1447800" y="0"/>
                  </a:lnTo>
                </a:path>
                <a:path w="3657600" h="685800">
                  <a:moveTo>
                    <a:pt x="1447800" y="228600"/>
                  </a:moveTo>
                  <a:lnTo>
                    <a:pt x="1600200" y="228600"/>
                  </a:lnTo>
                </a:path>
                <a:path w="3657600" h="685800">
                  <a:moveTo>
                    <a:pt x="1600200" y="0"/>
                  </a:moveTo>
                  <a:lnTo>
                    <a:pt x="1600200" y="228600"/>
                  </a:lnTo>
                </a:path>
                <a:path w="3657600" h="685800">
                  <a:moveTo>
                    <a:pt x="1752600" y="228600"/>
                  </a:moveTo>
                  <a:lnTo>
                    <a:pt x="1905000" y="228600"/>
                  </a:lnTo>
                </a:path>
                <a:path w="3657600" h="685800">
                  <a:moveTo>
                    <a:pt x="1752600" y="0"/>
                  </a:moveTo>
                  <a:lnTo>
                    <a:pt x="1752600" y="228600"/>
                  </a:lnTo>
                </a:path>
                <a:path w="3657600" h="685800">
                  <a:moveTo>
                    <a:pt x="1600200" y="0"/>
                  </a:moveTo>
                  <a:lnTo>
                    <a:pt x="1752600" y="0"/>
                  </a:lnTo>
                </a:path>
                <a:path w="3657600" h="685800">
                  <a:moveTo>
                    <a:pt x="1905000" y="228600"/>
                  </a:moveTo>
                  <a:lnTo>
                    <a:pt x="2057400" y="228600"/>
                  </a:lnTo>
                </a:path>
                <a:path w="3657600" h="685800">
                  <a:moveTo>
                    <a:pt x="2057400" y="0"/>
                  </a:moveTo>
                  <a:lnTo>
                    <a:pt x="2057400" y="228600"/>
                  </a:lnTo>
                </a:path>
                <a:path w="3657600" h="685800">
                  <a:moveTo>
                    <a:pt x="2209800" y="228600"/>
                  </a:moveTo>
                  <a:lnTo>
                    <a:pt x="2438400" y="228600"/>
                  </a:lnTo>
                </a:path>
                <a:path w="3657600" h="685800">
                  <a:moveTo>
                    <a:pt x="2209800" y="0"/>
                  </a:moveTo>
                  <a:lnTo>
                    <a:pt x="2209800" y="228600"/>
                  </a:lnTo>
                </a:path>
                <a:path w="3657600" h="685800">
                  <a:moveTo>
                    <a:pt x="2057400" y="0"/>
                  </a:moveTo>
                  <a:lnTo>
                    <a:pt x="2209800" y="0"/>
                  </a:lnTo>
                </a:path>
                <a:path w="3657600" h="685800">
                  <a:moveTo>
                    <a:pt x="1295400" y="0"/>
                  </a:moveTo>
                  <a:lnTo>
                    <a:pt x="1295400" y="228600"/>
                  </a:lnTo>
                </a:path>
                <a:path w="3657600" h="685800">
                  <a:moveTo>
                    <a:pt x="2438400" y="228600"/>
                  </a:moveTo>
                  <a:lnTo>
                    <a:pt x="2590800" y="228600"/>
                  </a:lnTo>
                </a:path>
                <a:path w="3657600" h="685800">
                  <a:moveTo>
                    <a:pt x="2590800" y="228600"/>
                  </a:moveTo>
                  <a:lnTo>
                    <a:pt x="2743200" y="228600"/>
                  </a:lnTo>
                </a:path>
                <a:path w="3657600" h="685800">
                  <a:moveTo>
                    <a:pt x="2743200" y="0"/>
                  </a:moveTo>
                  <a:lnTo>
                    <a:pt x="2743200" y="228600"/>
                  </a:lnTo>
                </a:path>
                <a:path w="3657600" h="685800">
                  <a:moveTo>
                    <a:pt x="2895600" y="228600"/>
                  </a:moveTo>
                  <a:lnTo>
                    <a:pt x="3276600" y="228600"/>
                  </a:lnTo>
                </a:path>
                <a:path w="3657600" h="685800">
                  <a:moveTo>
                    <a:pt x="2895600" y="0"/>
                  </a:moveTo>
                  <a:lnTo>
                    <a:pt x="2895600" y="228600"/>
                  </a:lnTo>
                </a:path>
                <a:path w="3657600" h="685800">
                  <a:moveTo>
                    <a:pt x="2743200" y="0"/>
                  </a:moveTo>
                  <a:lnTo>
                    <a:pt x="2895600" y="0"/>
                  </a:lnTo>
                </a:path>
                <a:path w="3657600" h="685800">
                  <a:moveTo>
                    <a:pt x="3429000" y="0"/>
                  </a:moveTo>
                  <a:lnTo>
                    <a:pt x="3429000" y="228600"/>
                  </a:lnTo>
                </a:path>
                <a:path w="3657600" h="685800">
                  <a:moveTo>
                    <a:pt x="3276600" y="0"/>
                  </a:moveTo>
                  <a:lnTo>
                    <a:pt x="3429000" y="0"/>
                  </a:lnTo>
                </a:path>
                <a:path w="3657600" h="685800">
                  <a:moveTo>
                    <a:pt x="3429000" y="228600"/>
                  </a:moveTo>
                  <a:lnTo>
                    <a:pt x="3657600" y="228600"/>
                  </a:lnTo>
                </a:path>
                <a:path w="3657600" h="685800">
                  <a:moveTo>
                    <a:pt x="3276600" y="0"/>
                  </a:moveTo>
                  <a:lnTo>
                    <a:pt x="3276600" y="228600"/>
                  </a:lnTo>
                </a:path>
                <a:path w="3657600" h="685800">
                  <a:moveTo>
                    <a:pt x="609600" y="457200"/>
                  </a:moveTo>
                  <a:lnTo>
                    <a:pt x="609600" y="685800"/>
                  </a:lnTo>
                </a:path>
                <a:path w="3657600" h="685800">
                  <a:moveTo>
                    <a:pt x="0" y="457200"/>
                  </a:moveTo>
                  <a:lnTo>
                    <a:pt x="609600" y="45720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57399" y="4572000"/>
              <a:ext cx="609600" cy="2133600"/>
            </a:xfrm>
            <a:custGeom>
              <a:avLst/>
              <a:gdLst/>
              <a:ahLst/>
              <a:cxnLst/>
              <a:rect l="l" t="t" r="r" b="b"/>
              <a:pathLst>
                <a:path w="609600" h="2133600">
                  <a:moveTo>
                    <a:pt x="0" y="0"/>
                  </a:moveTo>
                  <a:lnTo>
                    <a:pt x="0" y="2133600"/>
                  </a:lnTo>
                </a:path>
                <a:path w="609600" h="2133600">
                  <a:moveTo>
                    <a:pt x="609600" y="0"/>
                  </a:moveTo>
                  <a:lnTo>
                    <a:pt x="609600" y="213360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2561" y="5944361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838200" y="0"/>
                  </a:lnTo>
                </a:path>
                <a:path w="990600">
                  <a:moveTo>
                    <a:pt x="838200" y="0"/>
                  </a:moveTo>
                  <a:lnTo>
                    <a:pt x="99060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76600" y="4572000"/>
              <a:ext cx="609600" cy="2133600"/>
            </a:xfrm>
            <a:custGeom>
              <a:avLst/>
              <a:gdLst/>
              <a:ahLst/>
              <a:cxnLst/>
              <a:rect l="l" t="t" r="r" b="b"/>
              <a:pathLst>
                <a:path w="609600" h="2133600">
                  <a:moveTo>
                    <a:pt x="0" y="0"/>
                  </a:moveTo>
                  <a:lnTo>
                    <a:pt x="0" y="2133600"/>
                  </a:lnTo>
                </a:path>
                <a:path w="609600" h="2133600">
                  <a:moveTo>
                    <a:pt x="609600" y="0"/>
                  </a:moveTo>
                  <a:lnTo>
                    <a:pt x="609600" y="213360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961" y="5944361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228600" y="0"/>
                  </a:lnTo>
                </a:path>
                <a:path w="685800">
                  <a:moveTo>
                    <a:pt x="228600" y="0"/>
                  </a:moveTo>
                  <a:lnTo>
                    <a:pt x="68580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95800" y="4572000"/>
              <a:ext cx="609600" cy="2133600"/>
            </a:xfrm>
            <a:custGeom>
              <a:avLst/>
              <a:gdLst/>
              <a:ahLst/>
              <a:cxnLst/>
              <a:rect l="l" t="t" r="r" b="b"/>
              <a:pathLst>
                <a:path w="609600" h="2133600">
                  <a:moveTo>
                    <a:pt x="0" y="0"/>
                  </a:moveTo>
                  <a:lnTo>
                    <a:pt x="0" y="2133600"/>
                  </a:lnTo>
                </a:path>
                <a:path w="609600" h="2133600">
                  <a:moveTo>
                    <a:pt x="609600" y="0"/>
                  </a:moveTo>
                  <a:lnTo>
                    <a:pt x="609600" y="213360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87162" y="594436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4999" y="4572000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8161" y="5715761"/>
              <a:ext cx="3657600" cy="685800"/>
            </a:xfrm>
            <a:custGeom>
              <a:avLst/>
              <a:gdLst/>
              <a:ahLst/>
              <a:cxnLst/>
              <a:rect l="l" t="t" r="r" b="b"/>
              <a:pathLst>
                <a:path w="3657600" h="685800">
                  <a:moveTo>
                    <a:pt x="0" y="457200"/>
                  </a:moveTo>
                  <a:lnTo>
                    <a:pt x="1219200" y="457200"/>
                  </a:lnTo>
                </a:path>
                <a:path w="3657600" h="685800">
                  <a:moveTo>
                    <a:pt x="1219200" y="685800"/>
                  </a:moveTo>
                  <a:lnTo>
                    <a:pt x="3657600" y="685800"/>
                  </a:lnTo>
                </a:path>
                <a:path w="3657600" h="685800">
                  <a:moveTo>
                    <a:pt x="1219200" y="457200"/>
                  </a:moveTo>
                  <a:lnTo>
                    <a:pt x="1219200" y="685800"/>
                  </a:lnTo>
                </a:path>
                <a:path w="3657600" h="685800">
                  <a:moveTo>
                    <a:pt x="609600" y="228600"/>
                  </a:moveTo>
                  <a:lnTo>
                    <a:pt x="762000" y="228600"/>
                  </a:lnTo>
                </a:path>
                <a:path w="3657600" h="685800">
                  <a:moveTo>
                    <a:pt x="762000" y="0"/>
                  </a:moveTo>
                  <a:lnTo>
                    <a:pt x="762000" y="228600"/>
                  </a:lnTo>
                </a:path>
                <a:path w="3657600" h="685800">
                  <a:moveTo>
                    <a:pt x="914400" y="0"/>
                  </a:moveTo>
                  <a:lnTo>
                    <a:pt x="914400" y="228600"/>
                  </a:lnTo>
                </a:path>
                <a:path w="3657600" h="685800">
                  <a:moveTo>
                    <a:pt x="762000" y="0"/>
                  </a:moveTo>
                  <a:lnTo>
                    <a:pt x="914400" y="0"/>
                  </a:lnTo>
                </a:path>
                <a:path w="3657600" h="685800">
                  <a:moveTo>
                    <a:pt x="1905000" y="228600"/>
                  </a:moveTo>
                  <a:lnTo>
                    <a:pt x="2057400" y="228600"/>
                  </a:lnTo>
                </a:path>
                <a:path w="3657600" h="685800">
                  <a:moveTo>
                    <a:pt x="2057400" y="0"/>
                  </a:moveTo>
                  <a:lnTo>
                    <a:pt x="2057400" y="228600"/>
                  </a:lnTo>
                </a:path>
                <a:path w="3657600" h="685800">
                  <a:moveTo>
                    <a:pt x="2209800" y="0"/>
                  </a:moveTo>
                  <a:lnTo>
                    <a:pt x="2209800" y="228600"/>
                  </a:lnTo>
                </a:path>
                <a:path w="3657600" h="685800">
                  <a:moveTo>
                    <a:pt x="2057400" y="0"/>
                  </a:moveTo>
                  <a:lnTo>
                    <a:pt x="2209800" y="0"/>
                  </a:lnTo>
                </a:path>
                <a:path w="3657600" h="685800">
                  <a:moveTo>
                    <a:pt x="2895600" y="228600"/>
                  </a:moveTo>
                  <a:lnTo>
                    <a:pt x="3276600" y="228600"/>
                  </a:lnTo>
                </a:path>
                <a:path w="3657600" h="685800">
                  <a:moveTo>
                    <a:pt x="3429000" y="0"/>
                  </a:moveTo>
                  <a:lnTo>
                    <a:pt x="3429000" y="228600"/>
                  </a:lnTo>
                </a:path>
                <a:path w="3657600" h="685800">
                  <a:moveTo>
                    <a:pt x="3276600" y="0"/>
                  </a:moveTo>
                  <a:lnTo>
                    <a:pt x="3429000" y="0"/>
                  </a:lnTo>
                </a:path>
                <a:path w="3657600" h="685800">
                  <a:moveTo>
                    <a:pt x="3276600" y="0"/>
                  </a:moveTo>
                  <a:lnTo>
                    <a:pt x="3276600" y="228600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15617" y="4648961"/>
            <a:ext cx="418465" cy="1640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  <a:p>
            <a:pPr marL="118745" marR="42545" indent="111125" algn="just">
              <a:lnSpc>
                <a:spcPct val="187500"/>
              </a:lnSpc>
            </a:pPr>
            <a:r>
              <a:rPr sz="1600" spc="-5" dirty="0">
                <a:latin typeface="Tahoma"/>
                <a:cs typeface="Tahoma"/>
              </a:rPr>
              <a:t>D  </a:t>
            </a:r>
            <a:r>
              <a:rPr sz="1600" spc="-10" dirty="0">
                <a:latin typeface="Tahoma"/>
                <a:cs typeface="Tahoma"/>
              </a:rPr>
              <a:t>Q</a:t>
            </a:r>
            <a:r>
              <a:rPr sz="1575" spc="7" baseline="-21164" dirty="0">
                <a:latin typeface="Tahoma"/>
                <a:cs typeface="Tahoma"/>
              </a:rPr>
              <a:t>M  </a:t>
            </a: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76600" y="2819400"/>
            <a:ext cx="990600" cy="1219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255270" marR="187325" indent="-59690">
              <a:lnSpc>
                <a:spcPct val="100000"/>
              </a:lnSpc>
            </a:pPr>
            <a:r>
              <a:rPr sz="1600" spc="-15" dirty="0">
                <a:latin typeface="Tahoma"/>
                <a:cs typeface="Tahoma"/>
              </a:rPr>
              <a:t>M</a:t>
            </a:r>
            <a:r>
              <a:rPr sz="1600" spc="-5" dirty="0">
                <a:latin typeface="Tahoma"/>
                <a:cs typeface="Tahoma"/>
              </a:rPr>
              <a:t>as</a:t>
            </a:r>
            <a:r>
              <a:rPr sz="1600" spc="-15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er  Latch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53000" y="2819400"/>
            <a:ext cx="990600" cy="1219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255904" marR="245745" indent="4445">
              <a:lnSpc>
                <a:spcPct val="100000"/>
              </a:lnSpc>
            </a:pPr>
            <a:r>
              <a:rPr sz="1600" spc="-10" dirty="0">
                <a:latin typeface="Tahoma"/>
                <a:cs typeface="Tahoma"/>
              </a:rPr>
              <a:t>S</a:t>
            </a:r>
            <a:r>
              <a:rPr sz="1600" spc="-15" dirty="0">
                <a:latin typeface="Tahoma"/>
                <a:cs typeface="Tahoma"/>
              </a:rPr>
              <a:t>la</a:t>
            </a:r>
            <a:r>
              <a:rPr sz="1600" spc="-20" dirty="0">
                <a:latin typeface="Tahoma"/>
                <a:cs typeface="Tahoma"/>
              </a:rPr>
              <a:t>v</a:t>
            </a:r>
            <a:r>
              <a:rPr sz="1600" spc="-5" dirty="0">
                <a:latin typeface="Tahoma"/>
                <a:cs typeface="Tahoma"/>
              </a:rPr>
              <a:t>e  La</a:t>
            </a:r>
            <a:r>
              <a:rPr sz="1600" spc="-15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ch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67200" y="31242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43600" y="31242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057400" y="3729228"/>
            <a:ext cx="1376680" cy="161925"/>
            <a:chOff x="2057400" y="3729228"/>
            <a:chExt cx="1376680" cy="161925"/>
          </a:xfrm>
        </p:grpSpPr>
        <p:sp>
          <p:nvSpPr>
            <p:cNvPr id="28" name="object 28"/>
            <p:cNvSpPr/>
            <p:nvPr/>
          </p:nvSpPr>
          <p:spPr>
            <a:xfrm>
              <a:off x="3276600" y="3733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400" y="38100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990600" y="0"/>
                  </a:lnTo>
                </a:path>
                <a:path w="1219200">
                  <a:moveTo>
                    <a:pt x="990600" y="0"/>
                  </a:moveTo>
                  <a:lnTo>
                    <a:pt x="12192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057400" y="3729228"/>
            <a:ext cx="3053080" cy="466725"/>
            <a:chOff x="2057400" y="3729228"/>
            <a:chExt cx="3053080" cy="466725"/>
          </a:xfrm>
        </p:grpSpPr>
        <p:sp>
          <p:nvSpPr>
            <p:cNvPr id="31" name="object 31"/>
            <p:cNvSpPr/>
            <p:nvPr/>
          </p:nvSpPr>
          <p:spPr>
            <a:xfrm>
              <a:off x="4953000" y="3733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57400" y="3810000"/>
              <a:ext cx="2895600" cy="381000"/>
            </a:xfrm>
            <a:custGeom>
              <a:avLst/>
              <a:gdLst/>
              <a:ahLst/>
              <a:cxnLst/>
              <a:rect l="l" t="t" r="r" b="b"/>
              <a:pathLst>
                <a:path w="2895600" h="381000">
                  <a:moveTo>
                    <a:pt x="2667000" y="0"/>
                  </a:moveTo>
                  <a:lnTo>
                    <a:pt x="2895600" y="0"/>
                  </a:lnTo>
                </a:path>
                <a:path w="2895600" h="381000">
                  <a:moveTo>
                    <a:pt x="0" y="381000"/>
                  </a:moveTo>
                  <a:lnTo>
                    <a:pt x="2667000" y="381000"/>
                  </a:lnTo>
                </a:path>
                <a:path w="2895600" h="381000">
                  <a:moveTo>
                    <a:pt x="2667000" y="0"/>
                  </a:moveTo>
                  <a:lnTo>
                    <a:pt x="2667000" y="381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473575" y="2776854"/>
            <a:ext cx="324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5" dirty="0">
                <a:latin typeface="Tahoma"/>
                <a:cs typeface="Tahoma"/>
              </a:rPr>
              <a:t>Q</a:t>
            </a:r>
            <a:r>
              <a:rPr sz="1575" spc="7" baseline="-21164" dirty="0">
                <a:latin typeface="Tahoma"/>
                <a:cs typeface="Tahoma"/>
              </a:rPr>
              <a:t>M</a:t>
            </a:r>
            <a:endParaRPr sz="1575" baseline="-21164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78523" y="3692652"/>
            <a:ext cx="2184400" cy="3460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latin typeface="Tahoma"/>
                <a:cs typeface="Tahoma"/>
              </a:rPr>
              <a:t>2 x 8 = </a:t>
            </a:r>
            <a:r>
              <a:rPr sz="1600" dirty="0">
                <a:latin typeface="Tahoma"/>
                <a:cs typeface="Tahoma"/>
              </a:rPr>
              <a:t>16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Transistors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524000" y="36576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652" y="202437"/>
            <a:ext cx="40316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D-Type</a:t>
            </a:r>
            <a:r>
              <a:rPr spc="-20" dirty="0"/>
              <a:t> </a:t>
            </a:r>
            <a:r>
              <a:rPr spc="-5" dirty="0"/>
              <a:t>Flip-Flop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32480"/>
            <a:ext cx="8531860" cy="27082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</a:t>
            </a:r>
            <a:r>
              <a:rPr sz="2000" b="1" dirty="0">
                <a:latin typeface="Arial"/>
                <a:cs typeface="Arial"/>
              </a:rPr>
              <a:t>has only </a:t>
            </a:r>
            <a:r>
              <a:rPr sz="2000" b="1" spc="-5" dirty="0">
                <a:latin typeface="Arial"/>
                <a:cs typeface="Arial"/>
              </a:rPr>
              <a:t>one </a:t>
            </a:r>
            <a:r>
              <a:rPr sz="2000" b="1" dirty="0">
                <a:latin typeface="Arial"/>
                <a:cs typeface="Arial"/>
              </a:rPr>
              <a:t>input referred to as D-input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r>
              <a:rPr sz="2000" b="1" spc="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Qn+1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at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end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clock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pulse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equals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input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Dn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before the clock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pulse.</a:t>
            </a:r>
            <a:endParaRPr sz="2000">
              <a:latin typeface="Arial"/>
              <a:cs typeface="Arial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Input </a:t>
            </a:r>
            <a:r>
              <a:rPr sz="2000" b="1" spc="-5" dirty="0">
                <a:latin typeface="Arial"/>
                <a:cs typeface="Arial"/>
              </a:rPr>
              <a:t>data </a:t>
            </a:r>
            <a:r>
              <a:rPr sz="2000" b="1" dirty="0">
                <a:latin typeface="Arial"/>
                <a:cs typeface="Arial"/>
              </a:rPr>
              <a:t>appears </a:t>
            </a:r>
            <a:r>
              <a:rPr sz="2000" b="1" spc="-10" dirty="0">
                <a:latin typeface="Arial"/>
                <a:cs typeface="Arial"/>
              </a:rPr>
              <a:t>at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output </a:t>
            </a:r>
            <a:r>
              <a:rPr sz="2000" b="1" spc="-5" dirty="0">
                <a:latin typeface="Arial"/>
                <a:cs typeface="Arial"/>
              </a:rPr>
              <a:t>at the </a:t>
            </a:r>
            <a:r>
              <a:rPr sz="2000" b="1" dirty="0">
                <a:latin typeface="Arial"/>
                <a:cs typeface="Arial"/>
              </a:rPr>
              <a:t>end </a:t>
            </a:r>
            <a:r>
              <a:rPr sz="2000" b="1" spc="-5" dirty="0">
                <a:latin typeface="Arial"/>
                <a:cs typeface="Arial"/>
              </a:rPr>
              <a:t>of the </a:t>
            </a:r>
            <a:r>
              <a:rPr sz="2000" b="1" dirty="0">
                <a:latin typeface="Arial"/>
                <a:cs typeface="Arial"/>
              </a:rPr>
              <a:t>clock </a:t>
            </a:r>
            <a:r>
              <a:rPr sz="2000" b="1" spc="-5" dirty="0">
                <a:latin typeface="Arial"/>
                <a:cs typeface="Arial"/>
              </a:rPr>
              <a:t>pulse. Thus  transfer </a:t>
            </a:r>
            <a:r>
              <a:rPr sz="2000" b="1" spc="-10" dirty="0">
                <a:latin typeface="Arial"/>
                <a:cs typeface="Arial"/>
              </a:rPr>
              <a:t>of </a:t>
            </a:r>
            <a:r>
              <a:rPr sz="2000" b="1" spc="-5" dirty="0">
                <a:latin typeface="Arial"/>
                <a:cs typeface="Arial"/>
              </a:rPr>
              <a:t>data from </a:t>
            </a:r>
            <a:r>
              <a:rPr sz="2000" b="1" dirty="0">
                <a:latin typeface="Arial"/>
                <a:cs typeface="Arial"/>
              </a:rPr>
              <a:t>the input to the output </a:t>
            </a:r>
            <a:r>
              <a:rPr sz="2000" b="1" spc="-5" dirty="0">
                <a:latin typeface="Arial"/>
                <a:cs typeface="Arial"/>
              </a:rPr>
              <a:t>is delayed </a:t>
            </a:r>
            <a:r>
              <a:rPr sz="2000" b="1" dirty="0">
                <a:latin typeface="Arial"/>
                <a:cs typeface="Arial"/>
              </a:rPr>
              <a:t>and hence  the name delay (D)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FF.</a:t>
            </a:r>
            <a:endParaRPr sz="2000">
              <a:latin typeface="Arial"/>
              <a:cs typeface="Arial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It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either used </a:t>
            </a:r>
            <a:r>
              <a:rPr sz="2000" b="1" dirty="0">
                <a:latin typeface="Arial"/>
                <a:cs typeface="Arial"/>
              </a:rPr>
              <a:t>as a delay </a:t>
            </a:r>
            <a:r>
              <a:rPr sz="2000" b="1" spc="-5" dirty="0">
                <a:latin typeface="Arial"/>
                <a:cs typeface="Arial"/>
              </a:rPr>
              <a:t>device </a:t>
            </a:r>
            <a:r>
              <a:rPr sz="2000" b="1" spc="5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as a </a:t>
            </a:r>
            <a:r>
              <a:rPr sz="2000" b="1" spc="-5" dirty="0">
                <a:latin typeface="Arial"/>
                <a:cs typeface="Arial"/>
              </a:rPr>
              <a:t>latch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store </a:t>
            </a:r>
            <a:r>
              <a:rPr sz="2000" b="1" dirty="0">
                <a:latin typeface="Arial"/>
                <a:cs typeface="Arial"/>
              </a:rPr>
              <a:t>1 bit </a:t>
            </a:r>
            <a:r>
              <a:rPr sz="2000" b="1" spc="-15" dirty="0">
                <a:latin typeface="Arial"/>
                <a:cs typeface="Arial"/>
              </a:rPr>
              <a:t>of  </a:t>
            </a:r>
            <a:r>
              <a:rPr sz="2000" b="1" dirty="0">
                <a:latin typeface="Arial"/>
                <a:cs typeface="Arial"/>
              </a:rPr>
              <a:t>binary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information.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080357"/>
            <a:ext cx="149479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1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Truth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Table:  Input</a:t>
            </a:r>
            <a:endParaRPr sz="2000">
              <a:latin typeface="Arial"/>
              <a:cs typeface="Arial"/>
            </a:endParaRPr>
          </a:p>
          <a:p>
            <a:pPr marL="355600" marR="789940">
              <a:lnSpc>
                <a:spcPct val="120000"/>
              </a:lnSpc>
            </a:pPr>
            <a:r>
              <a:rPr sz="2000" b="1" spc="5" dirty="0">
                <a:latin typeface="Arial"/>
                <a:cs typeface="Arial"/>
              </a:rPr>
              <a:t>Dn  </a:t>
            </a: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5575" y="4446879"/>
            <a:ext cx="8597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Output  Qn+1  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1871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1981200" y="3300237"/>
            <a:ext cx="5029200" cy="2871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2220" y="1199763"/>
            <a:ext cx="7680778" cy="1474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73404"/>
            <a:ext cx="8437245" cy="350075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latin typeface="Arial"/>
                <a:cs typeface="Arial"/>
              </a:rPr>
              <a:t>T- </a:t>
            </a:r>
            <a:r>
              <a:rPr sz="2000" b="1" spc="-10" dirty="0">
                <a:latin typeface="Arial"/>
                <a:cs typeface="Arial"/>
              </a:rPr>
              <a:t>Type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 J-K FF, if J=K, the resulting FF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referred to as a </a:t>
            </a:r>
            <a:r>
              <a:rPr sz="2000" b="1" spc="-5" dirty="0">
                <a:latin typeface="Arial"/>
                <a:cs typeface="Arial"/>
              </a:rPr>
              <a:t>T-type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FF.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It has only one input, referred to as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T-input.</a:t>
            </a:r>
            <a:endParaRPr sz="2000">
              <a:latin typeface="Arial"/>
              <a:cs typeface="Arial"/>
            </a:endParaRPr>
          </a:p>
          <a:p>
            <a:pPr marL="355600" marR="216535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From the truth table of </a:t>
            </a:r>
            <a:r>
              <a:rPr sz="2000" b="1" spc="-5" dirty="0">
                <a:latin typeface="Arial"/>
                <a:cs typeface="Arial"/>
              </a:rPr>
              <a:t>T-type </a:t>
            </a:r>
            <a:r>
              <a:rPr sz="2000" b="1" dirty="0">
                <a:latin typeface="Arial"/>
                <a:cs typeface="Arial"/>
              </a:rPr>
              <a:t>FF, if </a:t>
            </a:r>
            <a:r>
              <a:rPr sz="2000" b="1" spc="5" dirty="0">
                <a:latin typeface="Arial"/>
                <a:cs typeface="Arial"/>
              </a:rPr>
              <a:t>T=1 </a:t>
            </a:r>
            <a:r>
              <a:rPr sz="2000" b="1" dirty="0">
                <a:latin typeface="Arial"/>
                <a:cs typeface="Arial"/>
              </a:rPr>
              <a:t>it acts as a toggle</a:t>
            </a:r>
            <a:r>
              <a:rPr sz="2000" b="1" spc="-2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switch.  For </a:t>
            </a:r>
            <a:r>
              <a:rPr sz="2000" b="1" spc="-5" dirty="0">
                <a:latin typeface="Arial"/>
                <a:cs typeface="Arial"/>
              </a:rPr>
              <a:t>every </a:t>
            </a:r>
            <a:r>
              <a:rPr sz="2000" b="1" dirty="0">
                <a:latin typeface="Arial"/>
                <a:cs typeface="Arial"/>
              </a:rPr>
              <a:t>clock pulse, the output Q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changes.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An S-R FF cannot be </a:t>
            </a:r>
            <a:r>
              <a:rPr sz="2000" b="1" spc="-5" dirty="0">
                <a:latin typeface="Arial"/>
                <a:cs typeface="Arial"/>
              </a:rPr>
              <a:t>converted into </a:t>
            </a: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T-type </a:t>
            </a:r>
            <a:r>
              <a:rPr sz="2000" b="1" dirty="0">
                <a:latin typeface="Arial"/>
                <a:cs typeface="Arial"/>
              </a:rPr>
              <a:t>FF since S=R=1 is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  allowed. But its </a:t>
            </a:r>
            <a:r>
              <a:rPr sz="2000" b="1" spc="-5" dirty="0">
                <a:latin typeface="Arial"/>
                <a:cs typeface="Arial"/>
              </a:rPr>
              <a:t>logic symbol </a:t>
            </a:r>
            <a:r>
              <a:rPr sz="2000" b="1" dirty="0">
                <a:latin typeface="Arial"/>
                <a:cs typeface="Arial"/>
              </a:rPr>
              <a:t>can be used as a toggle switch. </a:t>
            </a:r>
            <a:r>
              <a:rPr sz="2000" b="1" spc="-5" dirty="0">
                <a:latin typeface="Arial"/>
                <a:cs typeface="Arial"/>
              </a:rPr>
              <a:t>i.e.  </a:t>
            </a:r>
            <a:r>
              <a:rPr sz="2000" b="1" dirty="0">
                <a:latin typeface="Arial"/>
                <a:cs typeface="Arial"/>
              </a:rPr>
              <a:t>the output of Q changes with </a:t>
            </a:r>
            <a:r>
              <a:rPr sz="2000" b="1" spc="-5" dirty="0">
                <a:latin typeface="Arial"/>
                <a:cs typeface="Arial"/>
              </a:rPr>
              <a:t>every </a:t>
            </a:r>
            <a:r>
              <a:rPr sz="2000" b="1" dirty="0">
                <a:latin typeface="Arial"/>
                <a:cs typeface="Arial"/>
              </a:rPr>
              <a:t>clock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pulse.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Truth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Table: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440" y="4614773"/>
            <a:ext cx="64706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Inp</a:t>
            </a:r>
            <a:r>
              <a:rPr sz="2000" b="1" spc="-10" dirty="0">
                <a:latin typeface="Arial"/>
                <a:cs typeface="Arial"/>
              </a:rPr>
              <a:t>u</a:t>
            </a:r>
            <a:r>
              <a:rPr sz="2000" b="1" dirty="0">
                <a:latin typeface="Arial"/>
                <a:cs typeface="Arial"/>
              </a:rPr>
              <a:t>t  </a:t>
            </a:r>
            <a:r>
              <a:rPr sz="2000" b="1" spc="-5" dirty="0">
                <a:latin typeface="Arial"/>
                <a:cs typeface="Arial"/>
              </a:rPr>
              <a:t>Tn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775" y="4614773"/>
            <a:ext cx="8597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Output  Qn+1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Qn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775" y="5772708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Qn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1073" y="581177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589102" y="1280606"/>
            <a:ext cx="8122919" cy="5199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3276600"/>
            <a:ext cx="7328188" cy="3210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9676" y="1332649"/>
            <a:ext cx="6989058" cy="1462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538165"/>
              </p:ext>
            </p:extLst>
          </p:nvPr>
        </p:nvGraphicFramePr>
        <p:xfrm>
          <a:off x="685800" y="7620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055262"/>
              </p:ext>
            </p:extLst>
          </p:nvPr>
        </p:nvGraphicFramePr>
        <p:xfrm>
          <a:off x="4724400" y="7620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Toggle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864376"/>
              </p:ext>
            </p:extLst>
          </p:nvPr>
        </p:nvGraphicFramePr>
        <p:xfrm>
          <a:off x="304800" y="3657600"/>
          <a:ext cx="1981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1531415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4254397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0047914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3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43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01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91749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26960"/>
              </p:ext>
            </p:extLst>
          </p:nvPr>
        </p:nvGraphicFramePr>
        <p:xfrm>
          <a:off x="2743200" y="3657600"/>
          <a:ext cx="263236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455">
                  <a:extLst>
                    <a:ext uri="{9D8B030D-6E8A-4147-A177-3AD203B41FA5}">
                      <a16:colId xmlns:a16="http://schemas.microsoft.com/office/drawing/2014/main" val="215314157"/>
                    </a:ext>
                  </a:extLst>
                </a:gridCol>
                <a:gridCol w="877455">
                  <a:extLst>
                    <a:ext uri="{9D8B030D-6E8A-4147-A177-3AD203B41FA5}">
                      <a16:colId xmlns:a16="http://schemas.microsoft.com/office/drawing/2014/main" val="3425439701"/>
                    </a:ext>
                  </a:extLst>
                </a:gridCol>
                <a:gridCol w="877455">
                  <a:extLst>
                    <a:ext uri="{9D8B030D-6E8A-4147-A177-3AD203B41FA5}">
                      <a16:colId xmlns:a16="http://schemas.microsoft.com/office/drawing/2014/main" val="10047914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43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01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Toggle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91749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84762"/>
              </p:ext>
            </p:extLst>
          </p:nvPr>
        </p:nvGraphicFramePr>
        <p:xfrm>
          <a:off x="5805056" y="3657600"/>
          <a:ext cx="295794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73">
                  <a:extLst>
                    <a:ext uri="{9D8B030D-6E8A-4147-A177-3AD203B41FA5}">
                      <a16:colId xmlns:a16="http://schemas.microsoft.com/office/drawing/2014/main" val="215314157"/>
                    </a:ext>
                  </a:extLst>
                </a:gridCol>
                <a:gridCol w="919535">
                  <a:extLst>
                    <a:ext uri="{9D8B030D-6E8A-4147-A177-3AD203B41FA5}">
                      <a16:colId xmlns:a16="http://schemas.microsoft.com/office/drawing/2014/main" val="3425439701"/>
                    </a:ext>
                  </a:extLst>
                </a:gridCol>
                <a:gridCol w="1343935">
                  <a:extLst>
                    <a:ext uri="{9D8B030D-6E8A-4147-A177-3AD203B41FA5}">
                      <a16:colId xmlns:a16="http://schemas.microsoft.com/office/drawing/2014/main" val="10047914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="0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endParaRPr lang="en-US" sz="3200" b="0" baseline="-25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Q’</a:t>
                      </a:r>
                      <a:r>
                        <a:rPr lang="en-US" sz="3200" b="0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endParaRPr lang="en-US" sz="3200" b="0" baseline="-25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43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3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01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91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5699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/>
          </p:nvPr>
        </p:nvGraphicFramePr>
        <p:xfrm>
          <a:off x="685800" y="762000"/>
          <a:ext cx="2520948" cy="2500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400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sz="3200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Q'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542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Last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State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26">
                <a:tc>
                  <a:txBody>
                    <a:bodyPr/>
                    <a:lstStyle/>
                    <a:p>
                      <a:pPr marL="67945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5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5">
                <a:tc>
                  <a:txBody>
                    <a:bodyPr/>
                    <a:lstStyle/>
                    <a:p>
                      <a:pPr marL="67945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32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593">
                <a:tc>
                  <a:txBody>
                    <a:bodyPr/>
                    <a:lstStyle/>
                    <a:p>
                      <a:pPr marL="67945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45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Forbid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66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Den</a:t>
                      </a: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52442" y="533400"/>
            <a:ext cx="569155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 </a:t>
            </a:r>
            <a:r>
              <a:rPr lang="en-US" sz="2400" dirty="0" err="1" smtClean="0"/>
              <a:t>Qn</a:t>
            </a:r>
            <a:r>
              <a:rPr lang="en-US" sz="2400" dirty="0" smtClean="0"/>
              <a:t> = 0</a:t>
            </a:r>
          </a:p>
          <a:p>
            <a:r>
              <a:rPr lang="en-US" sz="2400" dirty="0" smtClean="0"/>
              <a:t>Clock is applied</a:t>
            </a:r>
          </a:p>
          <a:p>
            <a:r>
              <a:rPr lang="en-US" sz="2400" dirty="0" smtClean="0"/>
              <a:t>Desired output should not change</a:t>
            </a:r>
          </a:p>
          <a:p>
            <a:r>
              <a:rPr lang="en-US" sz="2400" dirty="0" smtClean="0"/>
              <a:t>What input must be applied to achieve this?</a:t>
            </a:r>
          </a:p>
          <a:p>
            <a:endParaRPr lang="en-US" sz="2400" dirty="0"/>
          </a:p>
          <a:p>
            <a:r>
              <a:rPr lang="en-US" sz="2400" dirty="0" err="1" smtClean="0"/>
              <a:t>Ans</a:t>
            </a:r>
            <a:r>
              <a:rPr lang="en-US" sz="2400" dirty="0" smtClean="0"/>
              <a:t> is</a:t>
            </a:r>
          </a:p>
          <a:p>
            <a:endParaRPr lang="en-US" sz="2400" dirty="0"/>
          </a:p>
          <a:p>
            <a:r>
              <a:rPr lang="en-US" sz="2400" dirty="0" smtClean="0"/>
              <a:t>S=0, R=0     or    S=0, R=1</a:t>
            </a:r>
          </a:p>
          <a:p>
            <a:r>
              <a:rPr lang="en-US" sz="2400" dirty="0" smtClean="0"/>
              <a:t>S=0  and R can be 0 or 1  </a:t>
            </a:r>
            <a:r>
              <a:rPr lang="en-US" sz="2400" dirty="0" err="1" smtClean="0"/>
              <a:t>ie</a:t>
            </a:r>
            <a:r>
              <a:rPr lang="en-US" sz="2400" dirty="0" smtClean="0"/>
              <a:t> ‘x’ (don’t care)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4518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231089"/>
            <a:ext cx="4499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Sequential</a:t>
            </a:r>
            <a:r>
              <a:rPr sz="4400" spc="-55" dirty="0"/>
              <a:t> </a:t>
            </a:r>
            <a:r>
              <a:rPr sz="4400" spc="-5" dirty="0"/>
              <a:t>Logic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45142" y="1342817"/>
            <a:ext cx="8762978" cy="53958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109220"/>
            <a:ext cx="44996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Sequential</a:t>
            </a:r>
            <a:r>
              <a:rPr sz="4400" spc="-55" dirty="0"/>
              <a:t> </a:t>
            </a:r>
            <a:r>
              <a:rPr sz="4400" spc="-5" dirty="0"/>
              <a:t>Logic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8796" y="1198206"/>
            <a:ext cx="8111717" cy="5256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147320"/>
            <a:ext cx="44996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Sequential</a:t>
            </a:r>
            <a:r>
              <a:rPr sz="4400" spc="-55" dirty="0"/>
              <a:t> </a:t>
            </a:r>
            <a:r>
              <a:rPr sz="4400" spc="-5" dirty="0"/>
              <a:t>Logic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95307" y="1264628"/>
            <a:ext cx="8096783" cy="42422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03503"/>
            <a:ext cx="8569960" cy="30740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Excitation Table of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Flip-Flop: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truth table </a:t>
            </a:r>
            <a:r>
              <a:rPr sz="2000" b="1" dirty="0">
                <a:latin typeface="Arial"/>
                <a:cs typeface="Arial"/>
              </a:rPr>
              <a:t>of a FF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referred </a:t>
            </a:r>
            <a:r>
              <a:rPr sz="2000" b="1" spc="-10" dirty="0">
                <a:latin typeface="Arial"/>
                <a:cs typeface="Arial"/>
              </a:rPr>
              <a:t>as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characteristics</a:t>
            </a:r>
            <a:r>
              <a:rPr sz="2000" b="1" spc="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table </a:t>
            </a:r>
            <a:r>
              <a:rPr sz="2000" b="1" dirty="0">
                <a:latin typeface="Arial"/>
                <a:cs typeface="Arial"/>
              </a:rPr>
              <a:t>&amp;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specifies the operational characteristics of the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FF.</a:t>
            </a:r>
            <a:endParaRPr sz="20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To design </a:t>
            </a:r>
            <a:r>
              <a:rPr sz="2000" b="1" spc="-5" dirty="0">
                <a:latin typeface="Arial"/>
                <a:cs typeface="Arial"/>
              </a:rPr>
              <a:t>sequential circuits, </a:t>
            </a:r>
            <a:r>
              <a:rPr sz="2000" b="1" spc="-10" dirty="0">
                <a:latin typeface="Arial"/>
                <a:cs typeface="Arial"/>
              </a:rPr>
              <a:t>it is </a:t>
            </a:r>
            <a:r>
              <a:rPr sz="2000" b="1" spc="-5" dirty="0">
                <a:latin typeface="Arial"/>
                <a:cs typeface="Arial"/>
              </a:rPr>
              <a:t>needed </a:t>
            </a:r>
            <a:r>
              <a:rPr sz="2000" b="1" dirty="0">
                <a:latin typeface="Arial"/>
                <a:cs typeface="Arial"/>
              </a:rPr>
              <a:t>that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input </a:t>
            </a:r>
            <a:r>
              <a:rPr sz="2000" b="1" spc="-5" dirty="0">
                <a:latin typeface="Arial"/>
                <a:cs typeface="Arial"/>
              </a:rPr>
              <a:t>conditions  </a:t>
            </a:r>
            <a:r>
              <a:rPr sz="2000" b="1" dirty="0">
                <a:latin typeface="Arial"/>
                <a:cs typeface="Arial"/>
              </a:rPr>
              <a:t>corresponding to present state &amp; next state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specified.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  <a:tab pos="1100455" algn="l"/>
                <a:tab pos="1585595" algn="l"/>
                <a:tab pos="2303145" algn="l"/>
                <a:tab pos="2686050" algn="l"/>
                <a:tab pos="3292475" algn="l"/>
                <a:tab pos="3815079" algn="l"/>
                <a:tab pos="4577715" algn="l"/>
                <a:tab pos="6002655" algn="l"/>
                <a:tab pos="6610984" algn="l"/>
                <a:tab pos="7357745" algn="l"/>
                <a:tab pos="8315325" algn="l"/>
              </a:tabLst>
            </a:pPr>
            <a:r>
              <a:rPr sz="2000" b="1" spc="-5" dirty="0">
                <a:latin typeface="Arial"/>
                <a:cs typeface="Arial"/>
              </a:rPr>
              <a:t>Thu</a:t>
            </a:r>
            <a:r>
              <a:rPr sz="2000" b="1" dirty="0">
                <a:latin typeface="Arial"/>
                <a:cs typeface="Arial"/>
              </a:rPr>
              <a:t>s	</a:t>
            </a:r>
            <a:r>
              <a:rPr sz="2000" b="1" spc="35" dirty="0">
                <a:latin typeface="Arial"/>
                <a:cs typeface="Arial"/>
              </a:rPr>
              <a:t>w</a:t>
            </a:r>
            <a:r>
              <a:rPr sz="2000" b="1" dirty="0">
                <a:latin typeface="Arial"/>
                <a:cs typeface="Arial"/>
              </a:rPr>
              <a:t>e	h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spc="-25" dirty="0">
                <a:latin typeface="Arial"/>
                <a:cs typeface="Arial"/>
              </a:rPr>
              <a:t>v</a:t>
            </a:r>
            <a:r>
              <a:rPr sz="2000" b="1" dirty="0">
                <a:latin typeface="Arial"/>
                <a:cs typeface="Arial"/>
              </a:rPr>
              <a:t>e	to	find	</a:t>
            </a:r>
            <a:r>
              <a:rPr sz="2000" b="1" spc="-10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he	inp</a:t>
            </a:r>
            <a:r>
              <a:rPr sz="2000" b="1" spc="-10" dirty="0">
                <a:latin typeface="Arial"/>
                <a:cs typeface="Arial"/>
              </a:rPr>
              <a:t>u</a:t>
            </a:r>
            <a:r>
              <a:rPr sz="2000" b="1" dirty="0">
                <a:latin typeface="Arial"/>
                <a:cs typeface="Arial"/>
              </a:rPr>
              <a:t>t	c</a:t>
            </a:r>
            <a:r>
              <a:rPr sz="2000" b="1" spc="-10" dirty="0">
                <a:latin typeface="Arial"/>
                <a:cs typeface="Arial"/>
              </a:rPr>
              <a:t>o</a:t>
            </a:r>
            <a:r>
              <a:rPr sz="2000" b="1" dirty="0">
                <a:latin typeface="Arial"/>
                <a:cs typeface="Arial"/>
              </a:rPr>
              <a:t>ndit</a:t>
            </a:r>
            <a:r>
              <a:rPr sz="2000" b="1" spc="-10" dirty="0">
                <a:latin typeface="Arial"/>
                <a:cs typeface="Arial"/>
              </a:rPr>
              <a:t>i</a:t>
            </a:r>
            <a:r>
              <a:rPr sz="2000" b="1" dirty="0">
                <a:latin typeface="Arial"/>
                <a:cs typeface="Arial"/>
              </a:rPr>
              <a:t>ons	that	m</a:t>
            </a:r>
            <a:r>
              <a:rPr sz="2000" b="1" spc="-20" dirty="0">
                <a:latin typeface="Arial"/>
                <a:cs typeface="Arial"/>
              </a:rPr>
              <a:t>u</a:t>
            </a:r>
            <a:r>
              <a:rPr sz="2000" b="1" dirty="0">
                <a:latin typeface="Arial"/>
                <a:cs typeface="Arial"/>
              </a:rPr>
              <a:t>st	pre</a:t>
            </a:r>
            <a:r>
              <a:rPr sz="2000" b="1" spc="-20" dirty="0">
                <a:latin typeface="Arial"/>
                <a:cs typeface="Arial"/>
              </a:rPr>
              <a:t>v</a:t>
            </a:r>
            <a:r>
              <a:rPr sz="2000" b="1" dirty="0">
                <a:latin typeface="Arial"/>
                <a:cs typeface="Arial"/>
              </a:rPr>
              <a:t>ail	to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cause the desired transition of the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4965" algn="l"/>
                <a:tab pos="355600" algn="l"/>
                <a:tab pos="6513195" algn="l"/>
              </a:tabLst>
            </a:pPr>
            <a:r>
              <a:rPr sz="2000" b="1" spc="-5" dirty="0">
                <a:latin typeface="Arial"/>
                <a:cs typeface="Arial"/>
              </a:rPr>
              <a:t>Present  state 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5" dirty="0">
                <a:latin typeface="Arial"/>
                <a:cs typeface="Arial"/>
              </a:rPr>
              <a:t>Next state </a:t>
            </a:r>
            <a:r>
              <a:rPr sz="2000" b="1" dirty="0">
                <a:latin typeface="Arial"/>
                <a:cs typeface="Arial"/>
              </a:rPr>
              <a:t>means </a:t>
            </a:r>
            <a:r>
              <a:rPr sz="2000" b="1" spc="-5" dirty="0">
                <a:latin typeface="Arial"/>
                <a:cs typeface="Arial"/>
              </a:rPr>
              <a:t>circuit</a:t>
            </a:r>
            <a:r>
              <a:rPr sz="2000" b="1" spc="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prior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	&amp; </a:t>
            </a:r>
            <a:r>
              <a:rPr sz="2000" b="1" spc="-5" dirty="0">
                <a:latin typeface="Arial"/>
                <a:cs typeface="Arial"/>
              </a:rPr>
              <a:t>after </a:t>
            </a:r>
            <a:r>
              <a:rPr sz="2000" b="1" dirty="0">
                <a:latin typeface="Arial"/>
                <a:cs typeface="Arial"/>
              </a:rPr>
              <a:t>the clock  pulse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00" y="1573275"/>
            <a:ext cx="8432800" cy="2995930"/>
            <a:chOff x="431800" y="1573275"/>
            <a:chExt cx="8432800" cy="2995930"/>
          </a:xfrm>
        </p:grpSpPr>
        <p:sp>
          <p:nvSpPr>
            <p:cNvPr id="3" name="object 3"/>
            <p:cNvSpPr/>
            <p:nvPr/>
          </p:nvSpPr>
          <p:spPr>
            <a:xfrm>
              <a:off x="457200" y="1585950"/>
              <a:ext cx="8382000" cy="1223645"/>
            </a:xfrm>
            <a:custGeom>
              <a:avLst/>
              <a:gdLst/>
              <a:ahLst/>
              <a:cxnLst/>
              <a:rect l="l" t="t" r="r" b="b"/>
              <a:pathLst>
                <a:path w="8382000" h="1223645">
                  <a:moveTo>
                    <a:pt x="1114399" y="0"/>
                  </a:moveTo>
                  <a:lnTo>
                    <a:pt x="0" y="0"/>
                  </a:lnTo>
                  <a:lnTo>
                    <a:pt x="0" y="1223035"/>
                  </a:lnTo>
                  <a:lnTo>
                    <a:pt x="1114399" y="1223035"/>
                  </a:lnTo>
                  <a:lnTo>
                    <a:pt x="1114399" y="0"/>
                  </a:lnTo>
                  <a:close/>
                </a:path>
                <a:path w="8382000" h="1223645">
                  <a:moveTo>
                    <a:pt x="8381987" y="0"/>
                  </a:moveTo>
                  <a:lnTo>
                    <a:pt x="8381987" y="0"/>
                  </a:lnTo>
                  <a:lnTo>
                    <a:pt x="1114425" y="0"/>
                  </a:lnTo>
                  <a:lnTo>
                    <a:pt x="1114425" y="1223035"/>
                  </a:lnTo>
                  <a:lnTo>
                    <a:pt x="8381987" y="1223035"/>
                  </a:lnTo>
                  <a:lnTo>
                    <a:pt x="8381987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71625" y="1579625"/>
              <a:ext cx="6031865" cy="2983230"/>
            </a:xfrm>
            <a:custGeom>
              <a:avLst/>
              <a:gdLst/>
              <a:ahLst/>
              <a:cxnLst/>
              <a:rect l="l" t="t" r="r" b="b"/>
              <a:pathLst>
                <a:path w="6031865" h="2983229">
                  <a:moveTo>
                    <a:pt x="0" y="0"/>
                  </a:moveTo>
                  <a:lnTo>
                    <a:pt x="0" y="2982849"/>
                  </a:lnTo>
                </a:path>
                <a:path w="6031865" h="2983229">
                  <a:moveTo>
                    <a:pt x="1476375" y="0"/>
                  </a:moveTo>
                  <a:lnTo>
                    <a:pt x="1476375" y="2982849"/>
                  </a:lnTo>
                </a:path>
                <a:path w="6031865" h="2983229">
                  <a:moveTo>
                    <a:pt x="2314575" y="0"/>
                  </a:moveTo>
                  <a:lnTo>
                    <a:pt x="2314575" y="2982849"/>
                  </a:lnTo>
                </a:path>
                <a:path w="6031865" h="2983229">
                  <a:moveTo>
                    <a:pt x="3076575" y="0"/>
                  </a:moveTo>
                  <a:lnTo>
                    <a:pt x="3076575" y="2982849"/>
                  </a:lnTo>
                </a:path>
                <a:path w="6031865" h="2983229">
                  <a:moveTo>
                    <a:pt x="4124325" y="0"/>
                  </a:moveTo>
                  <a:lnTo>
                    <a:pt x="4124325" y="2982849"/>
                  </a:lnTo>
                </a:path>
                <a:path w="6031865" h="2983229">
                  <a:moveTo>
                    <a:pt x="5172075" y="0"/>
                  </a:moveTo>
                  <a:lnTo>
                    <a:pt x="5172075" y="2982849"/>
                  </a:lnTo>
                </a:path>
                <a:path w="6031865" h="2983229">
                  <a:moveTo>
                    <a:pt x="6031865" y="0"/>
                  </a:moveTo>
                  <a:lnTo>
                    <a:pt x="6031865" y="298284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850" y="2808986"/>
              <a:ext cx="8394700" cy="0"/>
            </a:xfrm>
            <a:custGeom>
              <a:avLst/>
              <a:gdLst/>
              <a:ahLst/>
              <a:cxnLst/>
              <a:rect l="l" t="t" r="r" b="b"/>
              <a:pathLst>
                <a:path w="8394700">
                  <a:moveTo>
                    <a:pt x="0" y="0"/>
                  </a:moveTo>
                  <a:lnTo>
                    <a:pt x="8394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0850" y="1579625"/>
              <a:ext cx="8394700" cy="2983230"/>
            </a:xfrm>
            <a:custGeom>
              <a:avLst/>
              <a:gdLst/>
              <a:ahLst/>
              <a:cxnLst/>
              <a:rect l="l" t="t" r="r" b="b"/>
              <a:pathLst>
                <a:path w="8394700" h="2983229">
                  <a:moveTo>
                    <a:pt x="6350" y="0"/>
                  </a:moveTo>
                  <a:lnTo>
                    <a:pt x="6350" y="2982849"/>
                  </a:lnTo>
                </a:path>
                <a:path w="8394700" h="2983229">
                  <a:moveTo>
                    <a:pt x="8388350" y="0"/>
                  </a:moveTo>
                  <a:lnTo>
                    <a:pt x="8388350" y="2982849"/>
                  </a:lnTo>
                </a:path>
                <a:path w="8394700" h="2983229">
                  <a:moveTo>
                    <a:pt x="0" y="6350"/>
                  </a:moveTo>
                  <a:lnTo>
                    <a:pt x="8394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28697" y="2252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3550" y="1592325"/>
            <a:ext cx="1254125" cy="114681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100330" rIns="0" bIns="0" rtlCol="0">
            <a:spAutoFit/>
          </a:bodyPr>
          <a:lstStyle/>
          <a:p>
            <a:pPr marL="31115">
              <a:lnSpc>
                <a:spcPts val="2880"/>
              </a:lnSpc>
              <a:spcBef>
                <a:spcPts val="790"/>
              </a:spcBef>
            </a:pPr>
            <a:r>
              <a:rPr sz="2000" b="1" dirty="0">
                <a:latin typeface="Arial"/>
                <a:cs typeface="Arial"/>
              </a:rPr>
              <a:t>Exc</a:t>
            </a:r>
            <a:r>
              <a:rPr sz="2000" b="1" spc="-10" dirty="0">
                <a:latin typeface="Arial"/>
                <a:cs typeface="Arial"/>
              </a:rPr>
              <a:t>i</a:t>
            </a:r>
            <a:r>
              <a:rPr sz="2000" b="1" dirty="0">
                <a:latin typeface="Arial"/>
                <a:cs typeface="Arial"/>
              </a:rPr>
              <a:t>tation  Present  State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7975" y="1592325"/>
            <a:ext cx="1552575" cy="114681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13906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95"/>
              </a:spcBef>
            </a:pPr>
            <a:r>
              <a:rPr sz="2000" b="1" dirty="0">
                <a:latin typeface="Arial"/>
                <a:cs typeface="Arial"/>
              </a:rPr>
              <a:t>Table of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</a:t>
            </a:r>
            <a:endParaRPr sz="2000">
              <a:latin typeface="Arial"/>
              <a:cs typeface="Arial"/>
            </a:endParaRPr>
          </a:p>
          <a:p>
            <a:pPr marL="745490" marR="169545">
              <a:lnSpc>
                <a:spcPts val="2880"/>
              </a:lnSpc>
              <a:spcBef>
                <a:spcPts val="175"/>
              </a:spcBef>
            </a:pPr>
            <a:r>
              <a:rPr sz="2000" b="1" dirty="0">
                <a:latin typeface="Arial"/>
                <a:cs typeface="Arial"/>
              </a:rPr>
              <a:t>Next  State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4350" y="1657959"/>
            <a:ext cx="142240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p-Flops:</a:t>
            </a:r>
            <a:endParaRPr sz="20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  <a:spcBef>
                <a:spcPts val="480"/>
              </a:spcBef>
              <a:tabLst>
                <a:tab pos="1097915" algn="l"/>
              </a:tabLst>
            </a:pPr>
            <a:r>
              <a:rPr sz="2000" b="1" spc="-5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-R	</a:t>
            </a:r>
            <a:r>
              <a:rPr sz="2000" b="1" spc="-5" dirty="0">
                <a:latin typeface="Arial"/>
                <a:cs typeface="Arial"/>
              </a:rPr>
              <a:t>FF</a:t>
            </a:r>
            <a:endParaRPr sz="20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Sn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0200" y="2449830"/>
            <a:ext cx="366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Arial"/>
                <a:cs typeface="Arial"/>
              </a:rPr>
              <a:t>Rn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4550" y="2023719"/>
            <a:ext cx="1651000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580"/>
              </a:spcBef>
              <a:tabLst>
                <a:tab pos="1327150" algn="l"/>
              </a:tabLst>
            </a:pPr>
            <a:r>
              <a:rPr sz="2000" b="1" dirty="0">
                <a:latin typeface="Arial"/>
                <a:cs typeface="Arial"/>
              </a:rPr>
              <a:t>J-K	</a:t>
            </a:r>
            <a:r>
              <a:rPr sz="2000" b="1" spc="-5" dirty="0">
                <a:latin typeface="Arial"/>
                <a:cs typeface="Arial"/>
              </a:rPr>
              <a:t>FF</a:t>
            </a:r>
            <a:endParaRPr sz="2000">
              <a:latin typeface="Arial"/>
              <a:cs typeface="Arial"/>
            </a:endParaRPr>
          </a:p>
          <a:p>
            <a:pPr marL="41275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Jn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9253" y="2449830"/>
            <a:ext cx="366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Arial"/>
                <a:cs typeface="Arial"/>
              </a:rPr>
              <a:t>Kn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0050" y="1592325"/>
            <a:ext cx="847090" cy="1146810"/>
          </a:xfrm>
          <a:prstGeom prst="rect">
            <a:avLst/>
          </a:prstGeom>
          <a:solidFill>
            <a:srgbClr val="BADFE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  <a:spcBef>
                <a:spcPts val="1445"/>
              </a:spcBef>
            </a:pPr>
            <a:r>
              <a:rPr sz="2000" b="1" spc="-5" dirty="0">
                <a:latin typeface="Arial"/>
                <a:cs typeface="Arial"/>
              </a:rPr>
              <a:t>T-FF</a:t>
            </a:r>
            <a:endParaRPr sz="2000">
              <a:latin typeface="Arial"/>
              <a:cs typeface="Arial"/>
            </a:endParaRPr>
          </a:p>
          <a:p>
            <a:pPr marL="146050">
              <a:lnSpc>
                <a:spcPts val="2170"/>
              </a:lnSpc>
              <a:spcBef>
                <a:spcPts val="480"/>
              </a:spcBef>
            </a:pPr>
            <a:r>
              <a:rPr sz="2000" b="1" spc="-5" dirty="0">
                <a:latin typeface="Arial"/>
                <a:cs typeface="Arial"/>
              </a:rPr>
              <a:t>Tn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8434" y="2023719"/>
            <a:ext cx="60642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5" dirty="0">
                <a:latin typeface="Arial"/>
                <a:cs typeface="Arial"/>
              </a:rPr>
              <a:t>D</a:t>
            </a: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-5" dirty="0">
                <a:latin typeface="Arial"/>
                <a:cs typeface="Arial"/>
              </a:rPr>
              <a:t>FF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5" dirty="0">
                <a:latin typeface="Arial"/>
                <a:cs typeface="Arial"/>
              </a:rPr>
              <a:t>Dn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550" y="2828035"/>
            <a:ext cx="1101725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R="20383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7975" y="2828035"/>
            <a:ext cx="1463675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L="16954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4350" y="2828035"/>
            <a:ext cx="82550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92550" y="2828035"/>
            <a:ext cx="74930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R="78740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4550" y="2828035"/>
            <a:ext cx="103505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R="59690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02300" y="2828035"/>
            <a:ext cx="103505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50050" y="2828035"/>
            <a:ext cx="84709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09840" y="2828035"/>
            <a:ext cx="1223010" cy="350520"/>
          </a:xfrm>
          <a:prstGeom prst="rect">
            <a:avLst/>
          </a:prstGeom>
          <a:solidFill>
            <a:srgbClr val="E7F3F4"/>
          </a:solidFill>
        </p:spPr>
        <p:txBody>
          <a:bodyPr vert="horz" wrap="square" lIns="0" tIns="635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7200" y="3184525"/>
            <a:ext cx="1114425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R="204470" algn="ctr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1625" y="3184525"/>
            <a:ext cx="1476375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69545" algn="ctr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8000" y="3184525"/>
            <a:ext cx="83820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6200" y="3184525"/>
            <a:ext cx="76200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R="79375" algn="ctr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48200" y="3184525"/>
            <a:ext cx="104775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R="59690" algn="ctr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95950" y="3184525"/>
            <a:ext cx="104775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43700" y="3184525"/>
            <a:ext cx="85979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03490" y="3184525"/>
            <a:ext cx="1235710" cy="39370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7200" y="3577716"/>
            <a:ext cx="1114425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04470" algn="ctr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1625" y="3577716"/>
            <a:ext cx="1476375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9545" algn="ctr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48000" y="3577716"/>
            <a:ext cx="83820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0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86200" y="3577716"/>
            <a:ext cx="76200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9375" algn="ctr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48200" y="3577716"/>
            <a:ext cx="104775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9690" algn="ctr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95950" y="3577716"/>
            <a:ext cx="104775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0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43700" y="3577716"/>
            <a:ext cx="85979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03490" y="3577716"/>
            <a:ext cx="1235710" cy="393065"/>
          </a:xfrm>
          <a:prstGeom prst="rect">
            <a:avLst/>
          </a:prstGeom>
          <a:solidFill>
            <a:srgbClr val="E7F3F4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2265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7200" y="3970782"/>
            <a:ext cx="1114425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04470" algn="ctr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71625" y="3970782"/>
            <a:ext cx="1476375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9545" algn="ctr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48000" y="3970782"/>
            <a:ext cx="83820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0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86200" y="3970782"/>
            <a:ext cx="76200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9375" algn="ctr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48200" y="3970782"/>
            <a:ext cx="104775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9690" algn="ctr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95950" y="3970782"/>
            <a:ext cx="104775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0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43700" y="3970782"/>
            <a:ext cx="85979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0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03490" y="3970782"/>
            <a:ext cx="1235710" cy="585470"/>
          </a:xfrm>
          <a:prstGeom prst="rect">
            <a:avLst/>
          </a:prstGeom>
          <a:solidFill>
            <a:srgbClr val="F3F8F9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2050"/>
              </a:lnSpc>
            </a:pP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1000" y="2362200"/>
            <a:ext cx="8153400" cy="381000"/>
          </a:xfrm>
          <a:custGeom>
            <a:avLst/>
            <a:gdLst/>
            <a:ahLst/>
            <a:cxnLst/>
            <a:rect l="l" t="t" r="r" b="b"/>
            <a:pathLst>
              <a:path w="8153400" h="381000">
                <a:moveTo>
                  <a:pt x="0" y="381000"/>
                </a:moveTo>
                <a:lnTo>
                  <a:pt x="8153400" y="381000"/>
                </a:lnTo>
              </a:path>
              <a:path w="8153400" h="381000">
                <a:moveTo>
                  <a:pt x="2895600" y="0"/>
                </a:moveTo>
                <a:lnTo>
                  <a:pt x="4114800" y="0"/>
                </a:lnTo>
              </a:path>
              <a:path w="8153400" h="381000">
                <a:moveTo>
                  <a:pt x="4762500" y="0"/>
                </a:moveTo>
                <a:lnTo>
                  <a:pt x="59817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18666"/>
            <a:ext cx="9143999" cy="6016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355" y="179323"/>
            <a:ext cx="7372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Summary of the </a:t>
            </a:r>
            <a:r>
              <a:rPr sz="2800" spc="-55" dirty="0"/>
              <a:t>Types </a:t>
            </a:r>
            <a:r>
              <a:rPr sz="2800" spc="-5" dirty="0"/>
              <a:t>of </a:t>
            </a:r>
            <a:r>
              <a:rPr sz="2800" dirty="0"/>
              <a:t>Flip-flop</a:t>
            </a:r>
            <a:r>
              <a:rPr sz="2800" spc="160" dirty="0"/>
              <a:t> </a:t>
            </a:r>
            <a:r>
              <a:rPr sz="2800" spc="-5" dirty="0"/>
              <a:t>Behavior</a:t>
            </a:r>
            <a:endParaRPr sz="2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263093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/>
          <p:nvPr/>
        </p:nvSpPr>
        <p:spPr>
          <a:xfrm>
            <a:off x="4533900" y="1219200"/>
            <a:ext cx="43053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4611" y="1447800"/>
            <a:ext cx="3790188" cy="441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87653"/>
            <a:ext cx="8322309" cy="22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general </a:t>
            </a:r>
            <a:r>
              <a:rPr sz="2000" b="1" spc="-5" dirty="0">
                <a:latin typeface="Arial"/>
                <a:cs typeface="Arial"/>
              </a:rPr>
              <a:t>model for conversion from one type of </a:t>
            </a:r>
            <a:r>
              <a:rPr sz="2000" b="1" dirty="0">
                <a:latin typeface="Arial"/>
                <a:cs typeface="Arial"/>
              </a:rPr>
              <a:t>FF to another  </a:t>
            </a:r>
            <a:r>
              <a:rPr sz="2000" b="1" spc="-5" dirty="0">
                <a:latin typeface="Arial"/>
                <a:cs typeface="Arial"/>
              </a:rPr>
              <a:t>type,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design the combinational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decoder </a:t>
            </a:r>
            <a:r>
              <a:rPr sz="2000" b="1" spc="-5" dirty="0">
                <a:latin typeface="Arial"/>
                <a:cs typeface="Arial"/>
              </a:rPr>
              <a:t>(conversion  logic) </a:t>
            </a: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converting new input definitions into input </a:t>
            </a:r>
            <a:r>
              <a:rPr sz="2000" b="1" dirty="0">
                <a:latin typeface="Arial"/>
                <a:cs typeface="Arial"/>
              </a:rPr>
              <a:t>codes </a:t>
            </a:r>
            <a:r>
              <a:rPr sz="2000" b="1" spc="-5" dirty="0">
                <a:latin typeface="Arial"/>
                <a:cs typeface="Arial"/>
              </a:rPr>
              <a:t>which  </a:t>
            </a:r>
            <a:r>
              <a:rPr sz="2000" b="1" dirty="0">
                <a:latin typeface="Arial"/>
                <a:cs typeface="Arial"/>
              </a:rPr>
              <a:t>will cause the </a:t>
            </a:r>
            <a:r>
              <a:rPr sz="2000" b="1" spc="-5" dirty="0">
                <a:latin typeface="Arial"/>
                <a:cs typeface="Arial"/>
              </a:rPr>
              <a:t>given </a:t>
            </a:r>
            <a:r>
              <a:rPr sz="2000" b="1" dirty="0">
                <a:latin typeface="Arial"/>
                <a:cs typeface="Arial"/>
              </a:rPr>
              <a:t>FF to perform as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desired.</a:t>
            </a:r>
            <a:endParaRPr sz="2000">
              <a:latin typeface="Arial"/>
              <a:cs typeface="Arial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dirty="0">
                <a:latin typeface="Arial"/>
                <a:cs typeface="Arial"/>
              </a:rPr>
              <a:t>To design </a:t>
            </a:r>
            <a:r>
              <a:rPr sz="2000" b="1" spc="-5" dirty="0">
                <a:latin typeface="Arial"/>
                <a:cs typeface="Arial"/>
              </a:rPr>
              <a:t>the conversion logic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spc="-5" dirty="0">
                <a:latin typeface="Arial"/>
                <a:cs typeface="Arial"/>
              </a:rPr>
              <a:t>need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combine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excitation  tables </a:t>
            </a: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both FF’s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5" dirty="0">
                <a:latin typeface="Arial"/>
                <a:cs typeface="Arial"/>
              </a:rPr>
              <a:t>make </a:t>
            </a:r>
            <a:r>
              <a:rPr sz="2000" b="1" dirty="0">
                <a:latin typeface="Arial"/>
                <a:cs typeface="Arial"/>
              </a:rPr>
              <a:t>a truth </a:t>
            </a:r>
            <a:r>
              <a:rPr sz="2000" b="1" spc="-5" dirty="0">
                <a:latin typeface="Arial"/>
                <a:cs typeface="Arial"/>
              </a:rPr>
              <a:t>table </a:t>
            </a:r>
            <a:r>
              <a:rPr sz="2000" b="1" dirty="0">
                <a:latin typeface="Arial"/>
                <a:cs typeface="Arial"/>
              </a:rPr>
              <a:t>with </a:t>
            </a:r>
            <a:r>
              <a:rPr sz="2000" b="1" spc="-5" dirty="0">
                <a:latin typeface="Arial"/>
                <a:cs typeface="Arial"/>
              </a:rPr>
              <a:t>data inputs </a:t>
            </a:r>
            <a:r>
              <a:rPr sz="2000" b="1" dirty="0">
                <a:latin typeface="Arial"/>
                <a:cs typeface="Arial"/>
              </a:rPr>
              <a:t>&amp; Q as  the inputs and the inputs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given </a:t>
            </a:r>
            <a:r>
              <a:rPr sz="2000" b="1" dirty="0">
                <a:latin typeface="Arial"/>
                <a:cs typeface="Arial"/>
              </a:rPr>
              <a:t>FF as the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0800" y="3733800"/>
            <a:ext cx="1447800" cy="1828800"/>
          </a:xfrm>
          <a:prstGeom prst="rect">
            <a:avLst/>
          </a:prstGeom>
          <a:solidFill>
            <a:srgbClr val="BADFE2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FLIP-FLOP</a:t>
            </a:r>
            <a:endParaRPr sz="1600">
              <a:latin typeface="Arial"/>
              <a:cs typeface="Arial"/>
            </a:endParaRPr>
          </a:p>
          <a:p>
            <a:pPr marL="209550" marR="203200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Convers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5" dirty="0">
                <a:latin typeface="Arial"/>
                <a:cs typeface="Arial"/>
              </a:rPr>
              <a:t>on  logic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2811" y="3733800"/>
            <a:ext cx="1447800" cy="1828800"/>
          </a:xfrm>
          <a:prstGeom prst="rect">
            <a:avLst/>
          </a:prstGeom>
          <a:solidFill>
            <a:srgbClr val="BADFE2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R="48260" algn="ctr">
              <a:lnSpc>
                <a:spcPct val="100000"/>
              </a:lnSpc>
              <a:spcBef>
                <a:spcPts val="1105"/>
              </a:spcBef>
            </a:pPr>
            <a:r>
              <a:rPr sz="1600" spc="-5" dirty="0">
                <a:latin typeface="Arial"/>
                <a:cs typeface="Arial"/>
              </a:rPr>
              <a:t>Given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FLIP-FLOP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38427" y="3043427"/>
            <a:ext cx="6219825" cy="3133725"/>
            <a:chOff x="1138427" y="3043427"/>
            <a:chExt cx="6219825" cy="3133725"/>
          </a:xfrm>
        </p:grpSpPr>
        <p:sp>
          <p:nvSpPr>
            <p:cNvPr id="7" name="object 7"/>
            <p:cNvSpPr/>
            <p:nvPr/>
          </p:nvSpPr>
          <p:spPr>
            <a:xfrm>
              <a:off x="1181011" y="4076699"/>
              <a:ext cx="3772535" cy="1066800"/>
            </a:xfrm>
            <a:custGeom>
              <a:avLst/>
              <a:gdLst/>
              <a:ahLst/>
              <a:cxnLst/>
              <a:rect l="l" t="t" r="r" b="b"/>
              <a:pathLst>
                <a:path w="3772535" h="1066800">
                  <a:moveTo>
                    <a:pt x="1398485" y="291973"/>
                  </a:moveTo>
                  <a:lnTo>
                    <a:pt x="1346161" y="291973"/>
                  </a:lnTo>
                  <a:lnTo>
                    <a:pt x="1333500" y="291973"/>
                  </a:lnTo>
                  <a:lnTo>
                    <a:pt x="1333080" y="323596"/>
                  </a:lnTo>
                  <a:lnTo>
                    <a:pt x="1398485" y="291973"/>
                  </a:lnTo>
                  <a:close/>
                </a:path>
                <a:path w="3772535" h="1066800">
                  <a:moveTo>
                    <a:pt x="1409788" y="762000"/>
                  </a:moveTo>
                  <a:lnTo>
                    <a:pt x="1397088" y="755650"/>
                  </a:lnTo>
                  <a:lnTo>
                    <a:pt x="1333588" y="723900"/>
                  </a:lnTo>
                  <a:lnTo>
                    <a:pt x="1333588" y="755650"/>
                  </a:lnTo>
                  <a:lnTo>
                    <a:pt x="88" y="755650"/>
                  </a:lnTo>
                  <a:lnTo>
                    <a:pt x="88" y="768350"/>
                  </a:lnTo>
                  <a:lnTo>
                    <a:pt x="1333588" y="768350"/>
                  </a:lnTo>
                  <a:lnTo>
                    <a:pt x="1333588" y="800100"/>
                  </a:lnTo>
                  <a:lnTo>
                    <a:pt x="1397088" y="768350"/>
                  </a:lnTo>
                  <a:lnTo>
                    <a:pt x="1409788" y="762000"/>
                  </a:lnTo>
                  <a:close/>
                </a:path>
                <a:path w="3772535" h="1066800">
                  <a:moveTo>
                    <a:pt x="1409788" y="286512"/>
                  </a:moveTo>
                  <a:lnTo>
                    <a:pt x="1334096" y="247396"/>
                  </a:lnTo>
                  <a:lnTo>
                    <a:pt x="1333665" y="279095"/>
                  </a:lnTo>
                  <a:lnTo>
                    <a:pt x="177" y="260350"/>
                  </a:lnTo>
                  <a:lnTo>
                    <a:pt x="0" y="273050"/>
                  </a:lnTo>
                  <a:lnTo>
                    <a:pt x="1333500" y="291795"/>
                  </a:lnTo>
                  <a:lnTo>
                    <a:pt x="1346161" y="291795"/>
                  </a:lnTo>
                  <a:lnTo>
                    <a:pt x="1398854" y="291795"/>
                  </a:lnTo>
                  <a:lnTo>
                    <a:pt x="1409788" y="286512"/>
                  </a:lnTo>
                  <a:close/>
                </a:path>
                <a:path w="3772535" h="1066800">
                  <a:moveTo>
                    <a:pt x="1409788" y="38100"/>
                  </a:moveTo>
                  <a:lnTo>
                    <a:pt x="1397088" y="31750"/>
                  </a:lnTo>
                  <a:lnTo>
                    <a:pt x="1333588" y="0"/>
                  </a:lnTo>
                  <a:lnTo>
                    <a:pt x="1333588" y="31750"/>
                  </a:lnTo>
                  <a:lnTo>
                    <a:pt x="495388" y="31750"/>
                  </a:lnTo>
                  <a:lnTo>
                    <a:pt x="495388" y="44450"/>
                  </a:lnTo>
                  <a:lnTo>
                    <a:pt x="1333588" y="44450"/>
                  </a:lnTo>
                  <a:lnTo>
                    <a:pt x="1333588" y="76200"/>
                  </a:lnTo>
                  <a:lnTo>
                    <a:pt x="1397088" y="44450"/>
                  </a:lnTo>
                  <a:lnTo>
                    <a:pt x="1409788" y="38100"/>
                  </a:lnTo>
                  <a:close/>
                </a:path>
                <a:path w="3772535" h="1066800">
                  <a:moveTo>
                    <a:pt x="3771989" y="1028700"/>
                  </a:moveTo>
                  <a:lnTo>
                    <a:pt x="3759289" y="1022350"/>
                  </a:lnTo>
                  <a:lnTo>
                    <a:pt x="3695789" y="990600"/>
                  </a:lnTo>
                  <a:lnTo>
                    <a:pt x="3695789" y="1022350"/>
                  </a:lnTo>
                  <a:lnTo>
                    <a:pt x="2857589" y="1022350"/>
                  </a:lnTo>
                  <a:lnTo>
                    <a:pt x="2857589" y="1035050"/>
                  </a:lnTo>
                  <a:lnTo>
                    <a:pt x="3695789" y="1035050"/>
                  </a:lnTo>
                  <a:lnTo>
                    <a:pt x="3695789" y="1066800"/>
                  </a:lnTo>
                  <a:lnTo>
                    <a:pt x="3759289" y="1035050"/>
                  </a:lnTo>
                  <a:lnTo>
                    <a:pt x="3771989" y="1028700"/>
                  </a:lnTo>
                  <a:close/>
                </a:path>
                <a:path w="3772535" h="1066800">
                  <a:moveTo>
                    <a:pt x="3771989" y="114300"/>
                  </a:moveTo>
                  <a:lnTo>
                    <a:pt x="3759289" y="107950"/>
                  </a:lnTo>
                  <a:lnTo>
                    <a:pt x="3695789" y="76200"/>
                  </a:lnTo>
                  <a:lnTo>
                    <a:pt x="3695789" y="107950"/>
                  </a:lnTo>
                  <a:lnTo>
                    <a:pt x="2857589" y="107950"/>
                  </a:lnTo>
                  <a:lnTo>
                    <a:pt x="2857589" y="120650"/>
                  </a:lnTo>
                  <a:lnTo>
                    <a:pt x="3695789" y="120650"/>
                  </a:lnTo>
                  <a:lnTo>
                    <a:pt x="3695789" y="152400"/>
                  </a:lnTo>
                  <a:lnTo>
                    <a:pt x="3759289" y="120650"/>
                  </a:lnTo>
                  <a:lnTo>
                    <a:pt x="3771989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6400" y="3276600"/>
              <a:ext cx="5562600" cy="914400"/>
            </a:xfrm>
            <a:custGeom>
              <a:avLst/>
              <a:gdLst/>
              <a:ahLst/>
              <a:cxnLst/>
              <a:rect l="l" t="t" r="r" b="b"/>
              <a:pathLst>
                <a:path w="5562600" h="914400">
                  <a:moveTo>
                    <a:pt x="0" y="838200"/>
                  </a:moveTo>
                  <a:lnTo>
                    <a:pt x="0" y="0"/>
                  </a:lnTo>
                </a:path>
                <a:path w="5562600" h="914400">
                  <a:moveTo>
                    <a:pt x="0" y="0"/>
                  </a:moveTo>
                  <a:lnTo>
                    <a:pt x="5257800" y="0"/>
                  </a:lnTo>
                </a:path>
                <a:path w="5562600" h="914400">
                  <a:moveTo>
                    <a:pt x="4724400" y="914400"/>
                  </a:moveTo>
                  <a:lnTo>
                    <a:pt x="5562600" y="9144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72527" y="4110227"/>
              <a:ext cx="853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3276600"/>
              <a:ext cx="5257800" cy="2667000"/>
            </a:xfrm>
            <a:custGeom>
              <a:avLst/>
              <a:gdLst/>
              <a:ahLst/>
              <a:cxnLst/>
              <a:rect l="l" t="t" r="r" b="b"/>
              <a:pathLst>
                <a:path w="5257800" h="2667000">
                  <a:moveTo>
                    <a:pt x="5257800" y="0"/>
                  </a:moveTo>
                  <a:lnTo>
                    <a:pt x="5257800" y="914400"/>
                  </a:lnTo>
                </a:path>
                <a:path w="5257800" h="2667000">
                  <a:moveTo>
                    <a:pt x="0" y="2667000"/>
                  </a:moveTo>
                  <a:lnTo>
                    <a:pt x="5257800" y="2667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76400" y="5125211"/>
              <a:ext cx="914400" cy="76200"/>
            </a:xfrm>
            <a:custGeom>
              <a:avLst/>
              <a:gdLst/>
              <a:ahLst/>
              <a:cxnLst/>
              <a:rect l="l" t="t" r="r" b="b"/>
              <a:pathLst>
                <a:path w="914400" h="76200">
                  <a:moveTo>
                    <a:pt x="838200" y="0"/>
                  </a:moveTo>
                  <a:lnTo>
                    <a:pt x="838200" y="76200"/>
                  </a:lnTo>
                  <a:lnTo>
                    <a:pt x="901700" y="44450"/>
                  </a:lnTo>
                  <a:lnTo>
                    <a:pt x="850900" y="44450"/>
                  </a:lnTo>
                  <a:lnTo>
                    <a:pt x="850900" y="31750"/>
                  </a:lnTo>
                  <a:lnTo>
                    <a:pt x="901700" y="31750"/>
                  </a:lnTo>
                  <a:lnTo>
                    <a:pt x="838200" y="0"/>
                  </a:lnTo>
                  <a:close/>
                </a:path>
                <a:path w="914400" h="76200">
                  <a:moveTo>
                    <a:pt x="8382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838200" y="44450"/>
                  </a:lnTo>
                  <a:lnTo>
                    <a:pt x="838200" y="31750"/>
                  </a:lnTo>
                  <a:close/>
                </a:path>
                <a:path w="914400" h="76200">
                  <a:moveTo>
                    <a:pt x="901700" y="31750"/>
                  </a:moveTo>
                  <a:lnTo>
                    <a:pt x="850900" y="31750"/>
                  </a:lnTo>
                  <a:lnTo>
                    <a:pt x="850900" y="44450"/>
                  </a:lnTo>
                  <a:lnTo>
                    <a:pt x="901700" y="44450"/>
                  </a:lnTo>
                  <a:lnTo>
                    <a:pt x="914400" y="38100"/>
                  </a:lnTo>
                  <a:lnTo>
                    <a:pt x="9017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6400" y="5105400"/>
              <a:ext cx="5562600" cy="838200"/>
            </a:xfrm>
            <a:custGeom>
              <a:avLst/>
              <a:gdLst/>
              <a:ahLst/>
              <a:cxnLst/>
              <a:rect l="l" t="t" r="r" b="b"/>
              <a:pathLst>
                <a:path w="5562600" h="838200">
                  <a:moveTo>
                    <a:pt x="0" y="57912"/>
                  </a:moveTo>
                  <a:lnTo>
                    <a:pt x="0" y="838200"/>
                  </a:lnTo>
                </a:path>
                <a:path w="5562600" h="838200">
                  <a:moveTo>
                    <a:pt x="4724400" y="0"/>
                  </a:moveTo>
                  <a:lnTo>
                    <a:pt x="5562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72527" y="5024627"/>
              <a:ext cx="853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4199" y="51054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4000" y="3047999"/>
              <a:ext cx="5562600" cy="3124200"/>
            </a:xfrm>
            <a:custGeom>
              <a:avLst/>
              <a:gdLst/>
              <a:ahLst/>
              <a:cxnLst/>
              <a:rect l="l" t="t" r="r" b="b"/>
              <a:pathLst>
                <a:path w="5562600" h="3124200">
                  <a:moveTo>
                    <a:pt x="0" y="3124200"/>
                  </a:moveTo>
                  <a:lnTo>
                    <a:pt x="5562600" y="3124200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3124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38427" y="4262627"/>
              <a:ext cx="85343" cy="1615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38427" y="4777739"/>
              <a:ext cx="85343" cy="1615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11339" y="4110227"/>
              <a:ext cx="853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1527" y="5044439"/>
              <a:ext cx="853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34390" y="6389623"/>
            <a:ext cx="7859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Fig. </a:t>
            </a:r>
            <a:r>
              <a:rPr sz="1800" b="1" spc="-5" dirty="0">
                <a:latin typeface="Arial"/>
                <a:cs typeface="Arial"/>
              </a:rPr>
              <a:t>General </a:t>
            </a:r>
            <a:r>
              <a:rPr sz="1800" b="1" dirty="0">
                <a:latin typeface="Arial"/>
                <a:cs typeface="Arial"/>
              </a:rPr>
              <a:t>Model </a:t>
            </a:r>
            <a:r>
              <a:rPr sz="1800" b="1" spc="-5" dirty="0">
                <a:latin typeface="Arial"/>
                <a:cs typeface="Arial"/>
              </a:rPr>
              <a:t>used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10" dirty="0">
                <a:latin typeface="Arial"/>
                <a:cs typeface="Arial"/>
              </a:rPr>
              <a:t>convert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10" dirty="0">
                <a:latin typeface="Arial"/>
                <a:cs typeface="Arial"/>
              </a:rPr>
              <a:t>type </a:t>
            </a:r>
            <a:r>
              <a:rPr sz="1800" b="1" dirty="0">
                <a:latin typeface="Arial"/>
                <a:cs typeface="Arial"/>
              </a:rPr>
              <a:t>of Flip-Flop to another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728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962914"/>
            <a:ext cx="5586730" cy="21380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latin typeface="Arial"/>
                <a:cs typeface="Arial"/>
              </a:rPr>
              <a:t>Converting </a:t>
            </a:r>
            <a:r>
              <a:rPr sz="1800" b="1" dirty="0">
                <a:latin typeface="Arial"/>
                <a:cs typeface="Arial"/>
              </a:rPr>
              <a:t>One </a:t>
            </a:r>
            <a:r>
              <a:rPr sz="1800" b="1" spc="-5" dirty="0">
                <a:latin typeface="Arial"/>
                <a:cs typeface="Arial"/>
              </a:rPr>
              <a:t>Type </a:t>
            </a:r>
            <a:r>
              <a:rPr sz="1800" b="1" dirty="0">
                <a:latin typeface="Arial"/>
                <a:cs typeface="Arial"/>
              </a:rPr>
              <a:t>of FF to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another: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S-R </a:t>
            </a:r>
            <a:r>
              <a:rPr sz="1800" b="1" dirty="0">
                <a:latin typeface="Arial"/>
                <a:cs typeface="Arial"/>
              </a:rPr>
              <a:t>FF to </a:t>
            </a:r>
            <a:r>
              <a:rPr sz="1800" b="1" spc="-5" dirty="0">
                <a:latin typeface="Arial"/>
                <a:cs typeface="Arial"/>
              </a:rPr>
              <a:t>J-K</a:t>
            </a:r>
            <a:r>
              <a:rPr sz="1800" b="1" dirty="0">
                <a:latin typeface="Arial"/>
                <a:cs typeface="Arial"/>
              </a:rPr>
              <a:t> FF: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Steps for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Conversion: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Prepare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excitation</a:t>
            </a:r>
            <a:r>
              <a:rPr sz="1800" b="1" dirty="0">
                <a:latin typeface="Arial"/>
                <a:cs typeface="Arial"/>
              </a:rPr>
              <a:t> table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Prepare K-Maps &amp; </a:t>
            </a:r>
            <a:r>
              <a:rPr sz="1800" b="1" spc="-10" dirty="0">
                <a:latin typeface="Arial"/>
                <a:cs typeface="Arial"/>
              </a:rPr>
              <a:t>derive </a:t>
            </a:r>
            <a:r>
              <a:rPr sz="1800" b="1" spc="-5" dirty="0">
                <a:latin typeface="Arial"/>
                <a:cs typeface="Arial"/>
              </a:rPr>
              <a:t>minimized</a:t>
            </a:r>
            <a:r>
              <a:rPr sz="1800" b="1" spc="10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expression.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Draw </a:t>
            </a:r>
            <a:r>
              <a:rPr sz="1800" b="1" dirty="0">
                <a:latin typeface="Arial"/>
                <a:cs typeface="Arial"/>
              </a:rPr>
              <a:t>the logic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3404996"/>
            <a:ext cx="544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  <a:tab pos="3670300" algn="l"/>
              </a:tabLst>
            </a:pPr>
            <a:r>
              <a:rPr sz="1800" b="1" spc="-5" dirty="0">
                <a:latin typeface="Arial"/>
                <a:cs typeface="Arial"/>
              </a:rPr>
              <a:t>Data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Inputs	Outputs	Inputs to </a:t>
            </a:r>
            <a:r>
              <a:rPr sz="1800" b="1" spc="-5" dirty="0">
                <a:latin typeface="Arial"/>
                <a:cs typeface="Arial"/>
              </a:rPr>
              <a:t>S-R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FF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1809" y="3404996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19277" y="3734561"/>
          <a:ext cx="8002268" cy="26765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7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038">
                <a:tc>
                  <a:txBody>
                    <a:bodyPr/>
                    <a:lstStyle/>
                    <a:p>
                      <a:pPr marL="153035">
                        <a:lnSpc>
                          <a:spcPts val="203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Jn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203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Kn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03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03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203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203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88">
                <a:tc>
                  <a:txBody>
                    <a:bodyPr/>
                    <a:lstStyle/>
                    <a:p>
                      <a:pPr marL="153035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20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811"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11"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200"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277">
                <a:tc>
                  <a:txBody>
                    <a:bodyPr/>
                    <a:lstStyle/>
                    <a:p>
                      <a:pPr marL="153035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410">
                <a:tc>
                  <a:txBody>
                    <a:bodyPr/>
                    <a:lstStyle/>
                    <a:p>
                      <a:pPr marL="153035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570">
                <a:tc>
                  <a:txBody>
                    <a:bodyPr/>
                    <a:lstStyle/>
                    <a:p>
                      <a:pPr marL="153035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570">
                <a:tc>
                  <a:txBody>
                    <a:bodyPr/>
                    <a:lstStyle/>
                    <a:p>
                      <a:pPr marL="153035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08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1166" y="122936"/>
            <a:ext cx="4201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Calibri"/>
                <a:cs typeface="Calibri"/>
              </a:rPr>
              <a:t>Flip-Flop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97965"/>
            <a:ext cx="34391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S-R </a:t>
            </a:r>
            <a:r>
              <a:rPr sz="3200" spc="-14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J-K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Flip-Flop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47799"/>
            <a:ext cx="9144000" cy="5410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8325" y="246633"/>
            <a:ext cx="5464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Clock Pulse</a:t>
            </a:r>
            <a:r>
              <a:rPr sz="4400" b="0" spc="-8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Definition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5943600"/>
            <a:ext cx="6567170" cy="466725"/>
          </a:xfrm>
          <a:prstGeom prst="rect">
            <a:avLst/>
          </a:prstGeom>
          <a:ln w="9144">
            <a:solidFill>
              <a:srgbClr val="0099F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Edges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can also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be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referred </a:t>
            </a: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to as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leading and</a:t>
            </a:r>
            <a:r>
              <a:rPr sz="2400" spc="-10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trailing.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22653" y="1821179"/>
            <a:ext cx="2775585" cy="1434465"/>
            <a:chOff x="1422653" y="1821179"/>
            <a:chExt cx="2775585" cy="1434465"/>
          </a:xfrm>
        </p:grpSpPr>
        <p:sp>
          <p:nvSpPr>
            <p:cNvPr id="5" name="object 5"/>
            <p:cNvSpPr/>
            <p:nvPr/>
          </p:nvSpPr>
          <p:spPr>
            <a:xfrm>
              <a:off x="1422653" y="1846325"/>
              <a:ext cx="1859280" cy="1384300"/>
            </a:xfrm>
            <a:custGeom>
              <a:avLst/>
              <a:gdLst/>
              <a:ahLst/>
              <a:cxnLst/>
              <a:rect l="l" t="t" r="r" b="b"/>
              <a:pathLst>
                <a:path w="1859279" h="1384300">
                  <a:moveTo>
                    <a:pt x="0" y="1383791"/>
                  </a:moveTo>
                  <a:lnTo>
                    <a:pt x="940308" y="1383791"/>
                  </a:lnTo>
                </a:path>
                <a:path w="1859279" h="1384300">
                  <a:moveTo>
                    <a:pt x="918972" y="0"/>
                  </a:moveTo>
                  <a:lnTo>
                    <a:pt x="1859280" y="0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6479" y="1835657"/>
              <a:ext cx="50800" cy="1374775"/>
            </a:xfrm>
            <a:custGeom>
              <a:avLst/>
              <a:gdLst/>
              <a:ahLst/>
              <a:cxnLst/>
              <a:rect l="l" t="t" r="r" b="b"/>
              <a:pathLst>
                <a:path w="50800" h="1374775">
                  <a:moveTo>
                    <a:pt x="50291" y="0"/>
                  </a:moveTo>
                  <a:lnTo>
                    <a:pt x="0" y="0"/>
                  </a:lnTo>
                  <a:lnTo>
                    <a:pt x="0" y="1374647"/>
                  </a:lnTo>
                  <a:lnTo>
                    <a:pt x="50291" y="1374647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59074" y="3184397"/>
              <a:ext cx="939165" cy="0"/>
            </a:xfrm>
            <a:custGeom>
              <a:avLst/>
              <a:gdLst/>
              <a:ahLst/>
              <a:cxnLst/>
              <a:rect l="l" t="t" r="r" b="b"/>
              <a:pathLst>
                <a:path w="939164">
                  <a:moveTo>
                    <a:pt x="0" y="0"/>
                  </a:moveTo>
                  <a:lnTo>
                    <a:pt x="938784" y="0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7831" y="1829561"/>
              <a:ext cx="50800" cy="1374775"/>
            </a:xfrm>
            <a:custGeom>
              <a:avLst/>
              <a:gdLst/>
              <a:ahLst/>
              <a:cxnLst/>
              <a:rect l="l" t="t" r="r" b="b"/>
              <a:pathLst>
                <a:path w="50800" h="1374775">
                  <a:moveTo>
                    <a:pt x="50292" y="0"/>
                  </a:moveTo>
                  <a:lnTo>
                    <a:pt x="0" y="0"/>
                  </a:lnTo>
                  <a:lnTo>
                    <a:pt x="0" y="1374648"/>
                  </a:lnTo>
                  <a:lnTo>
                    <a:pt x="50292" y="1374648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324100" y="3326891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44450" y="63500"/>
                </a:moveTo>
                <a:lnTo>
                  <a:pt x="31750" y="63500"/>
                </a:lnTo>
                <a:lnTo>
                  <a:pt x="31750" y="507492"/>
                </a:lnTo>
                <a:lnTo>
                  <a:pt x="44450" y="507492"/>
                </a:lnTo>
                <a:lnTo>
                  <a:pt x="44450" y="63500"/>
                </a:lnTo>
                <a:close/>
              </a:path>
              <a:path w="76200" h="508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08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0879" y="3307079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5">
                <a:moveTo>
                  <a:pt x="44449" y="63500"/>
                </a:moveTo>
                <a:lnTo>
                  <a:pt x="31749" y="63500"/>
                </a:lnTo>
                <a:lnTo>
                  <a:pt x="31749" y="505968"/>
                </a:lnTo>
                <a:lnTo>
                  <a:pt x="44449" y="505968"/>
                </a:lnTo>
                <a:lnTo>
                  <a:pt x="44449" y="63500"/>
                </a:lnTo>
                <a:close/>
              </a:path>
              <a:path w="76200" h="506095">
                <a:moveTo>
                  <a:pt x="38099" y="0"/>
                </a:moveTo>
                <a:lnTo>
                  <a:pt x="0" y="76200"/>
                </a:lnTo>
                <a:lnTo>
                  <a:pt x="31749" y="76200"/>
                </a:lnTo>
                <a:lnTo>
                  <a:pt x="31749" y="63500"/>
                </a:lnTo>
                <a:lnTo>
                  <a:pt x="69849" y="63500"/>
                </a:lnTo>
                <a:lnTo>
                  <a:pt x="38099" y="0"/>
                </a:lnTo>
                <a:close/>
              </a:path>
              <a:path w="76200" h="506095">
                <a:moveTo>
                  <a:pt x="69849" y="63500"/>
                </a:moveTo>
                <a:lnTo>
                  <a:pt x="44449" y="63500"/>
                </a:lnTo>
                <a:lnTo>
                  <a:pt x="44449" y="76200"/>
                </a:lnTo>
                <a:lnTo>
                  <a:pt x="76199" y="76200"/>
                </a:lnTo>
                <a:lnTo>
                  <a:pt x="69849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65147" y="1365631"/>
            <a:ext cx="1457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Positive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Pulse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0329" y="3829634"/>
            <a:ext cx="18986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953769" algn="l"/>
              </a:tabLst>
            </a:pPr>
            <a:r>
              <a:rPr sz="2000" dirty="0">
                <a:latin typeface="Times New Roman"/>
                <a:cs typeface="Times New Roman"/>
              </a:rPr>
              <a:t>Posi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ive	</a:t>
            </a:r>
            <a:r>
              <a:rPr sz="3000" baseline="1388" dirty="0">
                <a:latin typeface="Times New Roman"/>
                <a:cs typeface="Times New Roman"/>
              </a:rPr>
              <a:t>Negat</a:t>
            </a:r>
            <a:r>
              <a:rPr sz="3000" spc="-15" baseline="1388" dirty="0">
                <a:latin typeface="Times New Roman"/>
                <a:cs typeface="Times New Roman"/>
              </a:rPr>
              <a:t>i</a:t>
            </a:r>
            <a:r>
              <a:rPr sz="3000" baseline="1388" dirty="0">
                <a:latin typeface="Times New Roman"/>
                <a:cs typeface="Times New Roman"/>
              </a:rPr>
              <a:t>ve</a:t>
            </a:r>
            <a:endParaRPr sz="3000" baseline="1388">
              <a:latin typeface="Times New Roman"/>
              <a:cs typeface="Times New Roman"/>
            </a:endParaRPr>
          </a:p>
          <a:p>
            <a:pPr marR="43180" algn="ctr">
              <a:lnSpc>
                <a:spcPct val="100000"/>
              </a:lnSpc>
              <a:tabLst>
                <a:tab pos="1004569" algn="l"/>
              </a:tabLst>
            </a:pPr>
            <a:r>
              <a:rPr sz="2000" dirty="0">
                <a:latin typeface="Times New Roman"/>
                <a:cs typeface="Times New Roman"/>
              </a:rPr>
              <a:t>Edge	</a:t>
            </a:r>
            <a:r>
              <a:rPr sz="3000" baseline="1388" dirty="0">
                <a:latin typeface="Times New Roman"/>
                <a:cs typeface="Times New Roman"/>
              </a:rPr>
              <a:t>Edge</a:t>
            </a:r>
            <a:endParaRPr sz="3000" baseline="1388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73446" y="1787651"/>
            <a:ext cx="2783205" cy="1423670"/>
            <a:chOff x="5473446" y="1787651"/>
            <a:chExt cx="2783205" cy="1423670"/>
          </a:xfrm>
        </p:grpSpPr>
        <p:sp>
          <p:nvSpPr>
            <p:cNvPr id="14" name="object 14"/>
            <p:cNvSpPr/>
            <p:nvPr/>
          </p:nvSpPr>
          <p:spPr>
            <a:xfrm>
              <a:off x="5473446" y="1837181"/>
              <a:ext cx="1877695" cy="1348740"/>
            </a:xfrm>
            <a:custGeom>
              <a:avLst/>
              <a:gdLst/>
              <a:ahLst/>
              <a:cxnLst/>
              <a:rect l="l" t="t" r="r" b="b"/>
              <a:pathLst>
                <a:path w="1877695" h="1348739">
                  <a:moveTo>
                    <a:pt x="888491" y="1348739"/>
                  </a:moveTo>
                  <a:lnTo>
                    <a:pt x="1877568" y="1348739"/>
                  </a:lnTo>
                </a:path>
                <a:path w="1877695" h="1348739">
                  <a:moveTo>
                    <a:pt x="0" y="0"/>
                  </a:moveTo>
                  <a:lnTo>
                    <a:pt x="938783" y="0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52032" y="1817369"/>
              <a:ext cx="50800" cy="1374775"/>
            </a:xfrm>
            <a:custGeom>
              <a:avLst/>
              <a:gdLst/>
              <a:ahLst/>
              <a:cxnLst/>
              <a:rect l="l" t="t" r="r" b="b"/>
              <a:pathLst>
                <a:path w="50800" h="1374775">
                  <a:moveTo>
                    <a:pt x="50292" y="0"/>
                  </a:moveTo>
                  <a:lnTo>
                    <a:pt x="0" y="0"/>
                  </a:lnTo>
                  <a:lnTo>
                    <a:pt x="0" y="1374647"/>
                  </a:lnTo>
                  <a:lnTo>
                    <a:pt x="50292" y="1374647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5962" y="1803653"/>
              <a:ext cx="940435" cy="1374775"/>
            </a:xfrm>
            <a:custGeom>
              <a:avLst/>
              <a:gdLst/>
              <a:ahLst/>
              <a:cxnLst/>
              <a:rect l="l" t="t" r="r" b="b"/>
              <a:pathLst>
                <a:path w="940434" h="1374775">
                  <a:moveTo>
                    <a:pt x="0" y="9144"/>
                  </a:moveTo>
                  <a:lnTo>
                    <a:pt x="940308" y="9144"/>
                  </a:lnTo>
                </a:path>
                <a:path w="940434" h="1374775">
                  <a:moveTo>
                    <a:pt x="13716" y="1374648"/>
                  </a:moveTo>
                  <a:lnTo>
                    <a:pt x="13716" y="0"/>
                  </a:lnTo>
                </a:path>
              </a:pathLst>
            </a:custGeom>
            <a:ln w="5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361176" y="3331464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44450" y="63500"/>
                </a:moveTo>
                <a:lnTo>
                  <a:pt x="31750" y="63500"/>
                </a:lnTo>
                <a:lnTo>
                  <a:pt x="31750" y="507492"/>
                </a:lnTo>
                <a:lnTo>
                  <a:pt x="44450" y="507492"/>
                </a:lnTo>
                <a:lnTo>
                  <a:pt x="44450" y="63500"/>
                </a:lnTo>
                <a:close/>
              </a:path>
              <a:path w="76200" h="5080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080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13676" y="3320796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5">
                <a:moveTo>
                  <a:pt x="44450" y="63500"/>
                </a:moveTo>
                <a:lnTo>
                  <a:pt x="31750" y="63500"/>
                </a:lnTo>
                <a:lnTo>
                  <a:pt x="31750" y="505967"/>
                </a:lnTo>
                <a:lnTo>
                  <a:pt x="44450" y="505967"/>
                </a:lnTo>
                <a:lnTo>
                  <a:pt x="44450" y="63500"/>
                </a:lnTo>
                <a:close/>
              </a:path>
              <a:path w="76200" h="50609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50609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39103" y="1346707"/>
            <a:ext cx="1557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Negative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Pulse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2493" y="3798189"/>
            <a:ext cx="84518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si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ive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Edge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77814" y="3803141"/>
            <a:ext cx="9448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Ne</a:t>
            </a:r>
            <a:r>
              <a:rPr sz="2000" spc="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ive  Edge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0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650494"/>
            <a:ext cx="835025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Flip-Flops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Flip-flops are the fundamental element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sequential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567055" lvl="1" indent="-212090">
              <a:lnSpc>
                <a:spcPct val="100000"/>
              </a:lnSpc>
              <a:buChar char="–"/>
              <a:tabLst>
                <a:tab pos="567690" algn="l"/>
              </a:tabLst>
            </a:pPr>
            <a:r>
              <a:rPr sz="2000" b="1" dirty="0">
                <a:latin typeface="Arial"/>
                <a:cs typeface="Arial"/>
              </a:rPr>
              <a:t>bistable</a:t>
            </a:r>
            <a:endParaRPr sz="2000">
              <a:latin typeface="Arial"/>
              <a:cs typeface="Arial"/>
            </a:endParaRPr>
          </a:p>
          <a:p>
            <a:pPr marL="567055" lvl="1" indent="-212090">
              <a:lnSpc>
                <a:spcPct val="100000"/>
              </a:lnSpc>
              <a:buChar char="–"/>
              <a:tabLst>
                <a:tab pos="567690" algn="l"/>
              </a:tabLst>
            </a:pPr>
            <a:r>
              <a:rPr sz="2000" b="1" dirty="0">
                <a:latin typeface="Arial"/>
                <a:cs typeface="Arial"/>
              </a:rPr>
              <a:t>(gates are the fundamental element for combinational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Flip-flops are essentially 1-bit storage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devices</a:t>
            </a:r>
            <a:endParaRPr sz="2000">
              <a:latin typeface="Arial"/>
              <a:cs typeface="Arial"/>
            </a:endParaRPr>
          </a:p>
          <a:p>
            <a:pPr marL="567055" lvl="1" indent="-212090">
              <a:lnSpc>
                <a:spcPct val="100000"/>
              </a:lnSpc>
              <a:buChar char="–"/>
              <a:tabLst>
                <a:tab pos="567690" algn="l"/>
              </a:tabLst>
            </a:pPr>
            <a:r>
              <a:rPr sz="2000" b="1" dirty="0">
                <a:latin typeface="Arial"/>
                <a:cs typeface="Arial"/>
              </a:rPr>
              <a:t>outputs can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set to store either 0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1 depending on the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inputs</a:t>
            </a:r>
            <a:endParaRPr sz="2000">
              <a:latin typeface="Arial"/>
              <a:cs typeface="Arial"/>
            </a:endParaRPr>
          </a:p>
          <a:p>
            <a:pPr marL="571500" marR="342265" lvl="1" indent="-216535">
              <a:lnSpc>
                <a:spcPct val="100000"/>
              </a:lnSpc>
              <a:buChar char="–"/>
              <a:tabLst>
                <a:tab pos="567690" algn="l"/>
              </a:tabLst>
            </a:pPr>
            <a:r>
              <a:rPr sz="2000" b="1" spc="-5" dirty="0">
                <a:latin typeface="Arial"/>
                <a:cs typeface="Arial"/>
              </a:rPr>
              <a:t>even </a:t>
            </a:r>
            <a:r>
              <a:rPr sz="2000" b="1" spc="10" dirty="0">
                <a:latin typeface="Arial"/>
                <a:cs typeface="Arial"/>
              </a:rPr>
              <a:t>when </a:t>
            </a:r>
            <a:r>
              <a:rPr sz="2000" b="1" dirty="0">
                <a:latin typeface="Arial"/>
                <a:cs typeface="Arial"/>
              </a:rPr>
              <a:t>the inputs are de-asserted, the outputs retain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their  prescribed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Flip-flops </a:t>
            </a:r>
            <a:r>
              <a:rPr sz="2000" b="1" spc="-5" dirty="0">
                <a:latin typeface="Arial"/>
                <a:cs typeface="Arial"/>
              </a:rPr>
              <a:t>have (normally) </a:t>
            </a:r>
            <a:r>
              <a:rPr sz="2000" b="1" dirty="0">
                <a:latin typeface="Arial"/>
                <a:cs typeface="Arial"/>
              </a:rPr>
              <a:t>2 complimentary outputs Q &amp;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Three </a:t>
            </a:r>
            <a:r>
              <a:rPr sz="2000" b="1" spc="-5" dirty="0">
                <a:latin typeface="Arial"/>
                <a:cs typeface="Arial"/>
              </a:rPr>
              <a:t>main </a:t>
            </a:r>
            <a:r>
              <a:rPr sz="2000" b="1" spc="-10" dirty="0">
                <a:latin typeface="Arial"/>
                <a:cs typeface="Arial"/>
              </a:rPr>
              <a:t>types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flip-flop</a:t>
            </a:r>
            <a:endParaRPr sz="2000">
              <a:latin typeface="Arial"/>
              <a:cs typeface="Arial"/>
            </a:endParaRPr>
          </a:p>
          <a:p>
            <a:pPr marL="567055" lvl="1" indent="-212090">
              <a:lnSpc>
                <a:spcPct val="100000"/>
              </a:lnSpc>
              <a:buChar char="–"/>
              <a:tabLst>
                <a:tab pos="567690" algn="l"/>
                <a:tab pos="1911350" algn="l"/>
                <a:tab pos="2826385" algn="l"/>
              </a:tabLst>
            </a:pPr>
            <a:r>
              <a:rPr sz="2000" b="1" dirty="0">
                <a:latin typeface="Arial"/>
                <a:cs typeface="Arial"/>
              </a:rPr>
              <a:t>R-S	J-K	</a:t>
            </a:r>
            <a:r>
              <a:rPr sz="2000" b="1" spc="-5" dirty="0">
                <a:latin typeface="Arial"/>
                <a:cs typeface="Arial"/>
              </a:rPr>
              <a:t>D-type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30261" y="31249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9302" y="34798"/>
            <a:ext cx="2027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Flip-flop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941" y="702690"/>
            <a:ext cx="8652510" cy="55676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Flip-flop is </a:t>
            </a:r>
            <a:r>
              <a:rPr sz="1800" b="1" spc="-5" dirty="0">
                <a:latin typeface="Arial"/>
                <a:cs typeface="Arial"/>
              </a:rPr>
              <a:t>also </a:t>
            </a:r>
            <a:r>
              <a:rPr sz="1800" b="1" spc="5" dirty="0">
                <a:latin typeface="Arial"/>
                <a:cs typeface="Arial"/>
              </a:rPr>
              <a:t>known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basic </a:t>
            </a:r>
            <a:r>
              <a:rPr sz="1800" b="1" dirty="0">
                <a:latin typeface="Arial"/>
                <a:cs typeface="Arial"/>
              </a:rPr>
              <a:t>digital </a:t>
            </a:r>
            <a:r>
              <a:rPr sz="1800" b="1" spc="-5" dirty="0">
                <a:latin typeface="Arial"/>
                <a:cs typeface="Arial"/>
              </a:rPr>
              <a:t>memory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circuit.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It has </a:t>
            </a:r>
            <a:r>
              <a:rPr sz="1800" b="1" spc="10" dirty="0">
                <a:latin typeface="Arial"/>
                <a:cs typeface="Arial"/>
              </a:rPr>
              <a:t>two </a:t>
            </a:r>
            <a:r>
              <a:rPr sz="1800" b="1" spc="-5" dirty="0">
                <a:latin typeface="Arial"/>
                <a:cs typeface="Arial"/>
              </a:rPr>
              <a:t>stable states, memory </a:t>
            </a:r>
            <a:r>
              <a:rPr sz="1800" b="1" dirty="0">
                <a:latin typeface="Arial"/>
                <a:cs typeface="Arial"/>
              </a:rPr>
              <a:t>logic </a:t>
            </a:r>
            <a:r>
              <a:rPr sz="1800" b="1" spc="-5" dirty="0">
                <a:latin typeface="Arial"/>
                <a:cs typeface="Arial"/>
              </a:rPr>
              <a:t>1 state &amp; </a:t>
            </a:r>
            <a:r>
              <a:rPr sz="1800" b="1" dirty="0">
                <a:latin typeface="Arial"/>
                <a:cs typeface="Arial"/>
              </a:rPr>
              <a:t>logic </a:t>
            </a:r>
            <a:r>
              <a:rPr sz="1800" b="1" spc="-5" dirty="0">
                <a:latin typeface="Arial"/>
                <a:cs typeface="Arial"/>
              </a:rPr>
              <a:t>0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We </a:t>
            </a:r>
            <a:r>
              <a:rPr sz="1800" b="1" spc="-5" dirty="0">
                <a:latin typeface="Arial"/>
                <a:cs typeface="Arial"/>
              </a:rPr>
              <a:t>can </a:t>
            </a:r>
            <a:r>
              <a:rPr sz="1800" b="1" dirty="0">
                <a:latin typeface="Arial"/>
                <a:cs typeface="Arial"/>
              </a:rPr>
              <a:t>design it, by using either NOR or </a:t>
            </a:r>
            <a:r>
              <a:rPr sz="1800" b="1" spc="-20" dirty="0">
                <a:latin typeface="Arial"/>
                <a:cs typeface="Arial"/>
              </a:rPr>
              <a:t>NAND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gates.</a:t>
            </a:r>
            <a:endParaRPr sz="180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flip-flop </a:t>
            </a:r>
            <a:r>
              <a:rPr sz="1800" b="1" spc="-10" dirty="0">
                <a:latin typeface="Arial"/>
                <a:cs typeface="Arial"/>
              </a:rPr>
              <a:t>can </a:t>
            </a:r>
            <a:r>
              <a:rPr sz="1800" b="1" dirty="0">
                <a:latin typeface="Arial"/>
                <a:cs typeface="Arial"/>
              </a:rPr>
              <a:t>be </a:t>
            </a:r>
            <a:r>
              <a:rPr sz="1800" b="1" spc="-5" dirty="0">
                <a:latin typeface="Arial"/>
                <a:cs typeface="Arial"/>
              </a:rPr>
              <a:t>designed </a:t>
            </a:r>
            <a:r>
              <a:rPr sz="1800" b="1" dirty="0">
                <a:latin typeface="Arial"/>
                <a:cs typeface="Arial"/>
              </a:rPr>
              <a:t>by using </a:t>
            </a:r>
            <a:r>
              <a:rPr sz="1800" b="1" spc="-10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fundamental </a:t>
            </a:r>
            <a:r>
              <a:rPr sz="1800" b="1" spc="-5" dirty="0">
                <a:latin typeface="Arial"/>
                <a:cs typeface="Arial"/>
              </a:rPr>
              <a:t>circuit </a:t>
            </a:r>
            <a:r>
              <a:rPr sz="1800" b="1" dirty="0">
                <a:latin typeface="Arial"/>
                <a:cs typeface="Arial"/>
              </a:rPr>
              <a:t>which is </a:t>
            </a:r>
            <a:r>
              <a:rPr sz="1800" b="1" spc="-5" dirty="0">
                <a:latin typeface="Arial"/>
                <a:cs typeface="Arial"/>
              </a:rPr>
              <a:t>also  called as </a:t>
            </a:r>
            <a:r>
              <a:rPr sz="1800" b="1" dirty="0">
                <a:latin typeface="Arial"/>
                <a:cs typeface="Arial"/>
              </a:rPr>
              <a:t>cross coupled </a:t>
            </a:r>
            <a:r>
              <a:rPr sz="1800" b="1" spc="-5" dirty="0">
                <a:latin typeface="Arial"/>
                <a:cs typeface="Arial"/>
              </a:rPr>
              <a:t>inverter circuit, as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10" dirty="0">
                <a:latin typeface="Arial"/>
                <a:cs typeface="Arial"/>
              </a:rPr>
              <a:t>NAND </a:t>
            </a:r>
            <a:r>
              <a:rPr sz="1800" b="1" spc="-5" dirty="0">
                <a:latin typeface="Arial"/>
                <a:cs typeface="Arial"/>
              </a:rPr>
              <a:t>gates in this circuit  basically act as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inverter.</a:t>
            </a:r>
            <a:endParaRPr sz="18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cross </a:t>
            </a:r>
            <a:r>
              <a:rPr sz="1800" b="1" dirty="0">
                <a:latin typeface="Arial"/>
                <a:cs typeface="Arial"/>
              </a:rPr>
              <a:t>coupled </a:t>
            </a:r>
            <a:r>
              <a:rPr sz="1800" b="1" spc="-5" dirty="0">
                <a:latin typeface="Arial"/>
                <a:cs typeface="Arial"/>
              </a:rPr>
              <a:t>inverter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capable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clocking </a:t>
            </a:r>
            <a:r>
              <a:rPr sz="1800" b="1" dirty="0">
                <a:latin typeface="Arial"/>
                <a:cs typeface="Arial"/>
              </a:rPr>
              <a:t>or batching the  information, </a:t>
            </a:r>
            <a:r>
              <a:rPr sz="1800" b="1" spc="-5" dirty="0">
                <a:latin typeface="Arial"/>
                <a:cs typeface="Arial"/>
              </a:rPr>
              <a:t>&amp; </a:t>
            </a:r>
            <a:r>
              <a:rPr sz="1800" b="1" dirty="0">
                <a:latin typeface="Arial"/>
                <a:cs typeface="Arial"/>
              </a:rPr>
              <a:t>hence this </a:t>
            </a:r>
            <a:r>
              <a:rPr sz="1800" b="1" spc="-5" dirty="0">
                <a:latin typeface="Arial"/>
                <a:cs typeface="Arial"/>
              </a:rPr>
              <a:t>circuit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also called as latch.</a:t>
            </a:r>
            <a:endParaRPr sz="1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2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disadvantage</a:t>
            </a:r>
            <a:r>
              <a:rPr sz="1800" b="1" spc="2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2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2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circuit</a:t>
            </a:r>
            <a:r>
              <a:rPr sz="1800" b="1" spc="2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229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that</a:t>
            </a:r>
            <a:r>
              <a:rPr sz="1800" b="1" spc="20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we</a:t>
            </a:r>
            <a:r>
              <a:rPr sz="1800" b="1" spc="229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can’t</a:t>
            </a:r>
            <a:r>
              <a:rPr sz="1800" b="1" spc="2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enter</a:t>
            </a:r>
            <a:r>
              <a:rPr sz="1800" b="1" spc="2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22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disturbed</a:t>
            </a:r>
            <a:r>
              <a:rPr sz="1800" b="1" spc="2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signal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data into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it.</a:t>
            </a:r>
            <a:endParaRPr sz="1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Latch is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distable </a:t>
            </a:r>
            <a:r>
              <a:rPr sz="1800" b="1" spc="-5" dirty="0">
                <a:latin typeface="Arial"/>
                <a:cs typeface="Arial"/>
              </a:rPr>
              <a:t>element </a:t>
            </a:r>
            <a:r>
              <a:rPr sz="1800" b="1" spc="5" dirty="0">
                <a:latin typeface="Arial"/>
                <a:cs typeface="Arial"/>
              </a:rPr>
              <a:t>with two </a:t>
            </a:r>
            <a:r>
              <a:rPr sz="1800" b="1" spc="-5" dirty="0">
                <a:latin typeface="Arial"/>
                <a:cs typeface="Arial"/>
              </a:rPr>
              <a:t>stable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states.</a:t>
            </a:r>
            <a:endParaRPr sz="1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It has </a:t>
            </a:r>
            <a:r>
              <a:rPr sz="1800" b="1" spc="10" dirty="0">
                <a:latin typeface="Arial"/>
                <a:cs typeface="Arial"/>
              </a:rPr>
              <a:t>two </a:t>
            </a:r>
            <a:r>
              <a:rPr sz="1800" b="1" dirty="0">
                <a:latin typeface="Arial"/>
                <a:cs typeface="Arial"/>
              </a:rPr>
              <a:t>outputs, Q </a:t>
            </a:r>
            <a:r>
              <a:rPr sz="1800" b="1" spc="-5" dirty="0">
                <a:latin typeface="Arial"/>
                <a:cs typeface="Arial"/>
              </a:rPr>
              <a:t>&amp; </a:t>
            </a:r>
            <a:r>
              <a:rPr sz="1800" b="1" dirty="0">
                <a:latin typeface="Arial"/>
                <a:cs typeface="Arial"/>
              </a:rPr>
              <a:t>Q </a:t>
            </a:r>
            <a:r>
              <a:rPr sz="1800" b="1" spc="5" dirty="0">
                <a:latin typeface="Arial"/>
                <a:cs typeface="Arial"/>
              </a:rPr>
              <a:t>which </a:t>
            </a:r>
            <a:r>
              <a:rPr sz="1800" b="1" spc="-5" dirty="0">
                <a:latin typeface="Arial"/>
                <a:cs typeface="Arial"/>
              </a:rPr>
              <a:t>are complement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each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other.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Latch </a:t>
            </a:r>
            <a:r>
              <a:rPr sz="1800" b="1" dirty="0">
                <a:latin typeface="Arial"/>
                <a:cs typeface="Arial"/>
              </a:rPr>
              <a:t>is a sequential </a:t>
            </a:r>
            <a:r>
              <a:rPr sz="1800" b="1" spc="-5" dirty="0">
                <a:latin typeface="Arial"/>
                <a:cs typeface="Arial"/>
              </a:rPr>
              <a:t>logic circuit </a:t>
            </a:r>
            <a:r>
              <a:rPr sz="1800" b="1" spc="5" dirty="0">
                <a:latin typeface="Arial"/>
                <a:cs typeface="Arial"/>
              </a:rPr>
              <a:t>which </a:t>
            </a:r>
            <a:r>
              <a:rPr sz="1800" b="1" spc="-10" dirty="0">
                <a:latin typeface="Arial"/>
                <a:cs typeface="Arial"/>
              </a:rPr>
              <a:t>checks </a:t>
            </a:r>
            <a:r>
              <a:rPr sz="1800" b="1" spc="-5" dirty="0">
                <a:latin typeface="Arial"/>
                <a:cs typeface="Arial"/>
              </a:rPr>
              <a:t>all </a:t>
            </a:r>
            <a:r>
              <a:rPr sz="1800" b="1" dirty="0">
                <a:latin typeface="Arial"/>
                <a:cs typeface="Arial"/>
              </a:rPr>
              <a:t>its inputs </a:t>
            </a:r>
            <a:r>
              <a:rPr sz="1800" b="1" spc="-5" dirty="0">
                <a:latin typeface="Arial"/>
                <a:cs typeface="Arial"/>
              </a:rPr>
              <a:t>continuously </a:t>
            </a:r>
            <a:r>
              <a:rPr sz="1800" b="1" dirty="0">
                <a:latin typeface="Arial"/>
                <a:cs typeface="Arial"/>
              </a:rPr>
              <a:t>&amp;  will </a:t>
            </a:r>
            <a:r>
              <a:rPr sz="1800" b="1" spc="-5" dirty="0">
                <a:latin typeface="Arial"/>
                <a:cs typeface="Arial"/>
              </a:rPr>
              <a:t>change its </a:t>
            </a:r>
            <a:r>
              <a:rPr sz="1800" b="1" dirty="0">
                <a:latin typeface="Arial"/>
                <a:cs typeface="Arial"/>
              </a:rPr>
              <a:t>output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soon </a:t>
            </a:r>
            <a:r>
              <a:rPr sz="1800" b="1" spc="-5" dirty="0">
                <a:latin typeface="Arial"/>
                <a:cs typeface="Arial"/>
              </a:rPr>
              <a:t>as </a:t>
            </a:r>
            <a:r>
              <a:rPr sz="1800" b="1" dirty="0">
                <a:latin typeface="Arial"/>
                <a:cs typeface="Arial"/>
              </a:rPr>
              <a:t>the input </a:t>
            </a:r>
            <a:r>
              <a:rPr sz="1800" b="1" spc="-5" dirty="0">
                <a:latin typeface="Arial"/>
                <a:cs typeface="Arial"/>
              </a:rPr>
              <a:t>changes </a:t>
            </a:r>
            <a:r>
              <a:rPr sz="1800" b="1" dirty="0">
                <a:latin typeface="Arial"/>
                <a:cs typeface="Arial"/>
              </a:rPr>
              <a:t>without waiting for </a:t>
            </a:r>
            <a:r>
              <a:rPr sz="1800" b="1" spc="-5" dirty="0">
                <a:latin typeface="Arial"/>
                <a:cs typeface="Arial"/>
              </a:rPr>
              <a:t>the  </a:t>
            </a:r>
            <a:r>
              <a:rPr sz="1800" b="1" dirty="0">
                <a:latin typeface="Arial"/>
                <a:cs typeface="Arial"/>
              </a:rPr>
              <a:t>clock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signal.</a:t>
            </a:r>
            <a:endParaRPr sz="18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Generally an enable </a:t>
            </a:r>
            <a:r>
              <a:rPr sz="1800" b="1" dirty="0">
                <a:latin typeface="Arial"/>
                <a:cs typeface="Arial"/>
              </a:rPr>
              <a:t>signal is </a:t>
            </a:r>
            <a:r>
              <a:rPr sz="1800" b="1" spc="-5" dirty="0">
                <a:latin typeface="Arial"/>
                <a:cs typeface="Arial"/>
              </a:rPr>
              <a:t>provided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a latch </a:t>
            </a:r>
            <a:r>
              <a:rPr sz="1800" b="1" spc="5" dirty="0">
                <a:latin typeface="Arial"/>
                <a:cs typeface="Arial"/>
              </a:rPr>
              <a:t>when </a:t>
            </a:r>
            <a:r>
              <a:rPr sz="1800" b="1" dirty="0">
                <a:latin typeface="Arial"/>
                <a:cs typeface="Arial"/>
              </a:rPr>
              <a:t>the enable </a:t>
            </a:r>
            <a:r>
              <a:rPr sz="1800" b="1" spc="-5" dirty="0">
                <a:latin typeface="Arial"/>
                <a:cs typeface="Arial"/>
              </a:rPr>
              <a:t>signal </a:t>
            </a:r>
            <a:r>
              <a:rPr sz="1800" b="1" dirty="0">
                <a:latin typeface="Arial"/>
                <a:cs typeface="Arial"/>
              </a:rPr>
              <a:t>is  </a:t>
            </a:r>
            <a:r>
              <a:rPr sz="1800" b="1" spc="-10" dirty="0">
                <a:latin typeface="Arial"/>
                <a:cs typeface="Arial"/>
              </a:rPr>
              <a:t>active </a:t>
            </a:r>
            <a:r>
              <a:rPr sz="1800" b="1" dirty="0">
                <a:latin typeface="Arial"/>
                <a:cs typeface="Arial"/>
              </a:rPr>
              <a:t>the output </a:t>
            </a:r>
            <a:r>
              <a:rPr sz="1800" b="1" spc="5" dirty="0">
                <a:latin typeface="Arial"/>
                <a:cs typeface="Arial"/>
              </a:rPr>
              <a:t>will </a:t>
            </a:r>
            <a:r>
              <a:rPr sz="1800" b="1" spc="-5" dirty="0">
                <a:latin typeface="Arial"/>
                <a:cs typeface="Arial"/>
              </a:rPr>
              <a:t>change as </a:t>
            </a:r>
            <a:r>
              <a:rPr sz="1800" b="1" dirty="0">
                <a:latin typeface="Arial"/>
                <a:cs typeface="Arial"/>
              </a:rPr>
              <a:t>soon </a:t>
            </a:r>
            <a:r>
              <a:rPr sz="1800" b="1" spc="-5" dirty="0">
                <a:latin typeface="Arial"/>
                <a:cs typeface="Arial"/>
              </a:rPr>
              <a:t>as there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a change </a:t>
            </a:r>
            <a:r>
              <a:rPr sz="1800" b="1" dirty="0">
                <a:latin typeface="Arial"/>
                <a:cs typeface="Arial"/>
              </a:rPr>
              <a:t>in input.</a:t>
            </a:r>
            <a:endParaRPr sz="18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S-R (Set-Reset) latch </a:t>
            </a:r>
            <a:r>
              <a:rPr sz="1800" b="1" dirty="0">
                <a:latin typeface="Arial"/>
                <a:cs typeface="Arial"/>
              </a:rPr>
              <a:t>is the </a:t>
            </a:r>
            <a:r>
              <a:rPr sz="1800" b="1" spc="-5" dirty="0">
                <a:latin typeface="Arial"/>
                <a:cs typeface="Arial"/>
              </a:rPr>
              <a:t>simplest type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latch.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3917" y="41917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399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9302" y="0"/>
            <a:ext cx="2027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Flip-flop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58114"/>
            <a:ext cx="8651875" cy="58153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Difference </a:t>
            </a:r>
            <a:r>
              <a:rPr sz="1800" b="1" dirty="0">
                <a:latin typeface="Arial"/>
                <a:cs typeface="Arial"/>
              </a:rPr>
              <a:t>between </a:t>
            </a:r>
            <a:r>
              <a:rPr sz="1800" b="1" spc="-5" dirty="0">
                <a:latin typeface="Arial"/>
                <a:cs typeface="Arial"/>
              </a:rPr>
              <a:t>a latch &amp; a </a:t>
            </a:r>
            <a:r>
              <a:rPr sz="1800" b="1" dirty="0">
                <a:latin typeface="Arial"/>
                <a:cs typeface="Arial"/>
              </a:rPr>
              <a:t>Flip-flop.</a:t>
            </a:r>
            <a:endParaRPr sz="18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Latch </a:t>
            </a:r>
            <a:r>
              <a:rPr sz="1800" b="1" spc="-5" dirty="0">
                <a:latin typeface="Arial"/>
                <a:cs typeface="Arial"/>
              </a:rPr>
              <a:t>&amp; </a:t>
            </a:r>
            <a:r>
              <a:rPr sz="1800" b="1" dirty="0">
                <a:latin typeface="Arial"/>
                <a:cs typeface="Arial"/>
              </a:rPr>
              <a:t>Flip-flop both </a:t>
            </a:r>
            <a:r>
              <a:rPr sz="1800" b="1" spc="-5" dirty="0">
                <a:latin typeface="Arial"/>
                <a:cs typeface="Arial"/>
              </a:rPr>
              <a:t>are basically </a:t>
            </a:r>
            <a:r>
              <a:rPr sz="1800" b="1" dirty="0">
                <a:latin typeface="Arial"/>
                <a:cs typeface="Arial"/>
              </a:rPr>
              <a:t>the bistable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elements.</a:t>
            </a:r>
            <a:endParaRPr sz="1800" dirty="0">
              <a:latin typeface="Arial"/>
              <a:cs typeface="Arial"/>
            </a:endParaRPr>
          </a:p>
          <a:p>
            <a:pPr marL="355600" marR="6350" indent="-342900" algn="just">
              <a:lnSpc>
                <a:spcPct val="90100"/>
              </a:lnSpc>
              <a:spcBef>
                <a:spcPts val="43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Latch is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dual </a:t>
            </a:r>
            <a:r>
              <a:rPr sz="1800" b="1" spc="-5" dirty="0">
                <a:latin typeface="Arial"/>
                <a:cs typeface="Arial"/>
              </a:rPr>
              <a:t>triggered </a:t>
            </a:r>
            <a:r>
              <a:rPr sz="1800" b="1" dirty="0">
                <a:latin typeface="Arial"/>
                <a:cs typeface="Arial"/>
              </a:rPr>
              <a:t>flip-flop but </a:t>
            </a:r>
            <a:r>
              <a:rPr sz="1800" b="1" spc="-5" dirty="0">
                <a:latin typeface="Arial"/>
                <a:cs typeface="Arial"/>
              </a:rPr>
              <a:t>flip-flop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sequential </a:t>
            </a:r>
            <a:r>
              <a:rPr sz="1800" b="1" spc="-5" dirty="0">
                <a:latin typeface="Arial"/>
                <a:cs typeface="Arial"/>
              </a:rPr>
              <a:t>circuit </a:t>
            </a:r>
            <a:r>
              <a:rPr sz="1800" b="1" dirty="0">
                <a:latin typeface="Arial"/>
                <a:cs typeface="Arial"/>
              </a:rPr>
              <a:t>which  </a:t>
            </a:r>
            <a:r>
              <a:rPr sz="1800" b="1" spc="-5" dirty="0">
                <a:latin typeface="Arial"/>
                <a:cs typeface="Arial"/>
              </a:rPr>
              <a:t>generally </a:t>
            </a:r>
            <a:r>
              <a:rPr sz="1800" b="1" dirty="0">
                <a:latin typeface="Arial"/>
                <a:cs typeface="Arial"/>
              </a:rPr>
              <a:t>samples inputs </a:t>
            </a:r>
            <a:r>
              <a:rPr sz="1800" b="1" spc="-5" dirty="0">
                <a:latin typeface="Arial"/>
                <a:cs typeface="Arial"/>
              </a:rPr>
              <a:t>&amp; changes </a:t>
            </a:r>
            <a:r>
              <a:rPr sz="1800" b="1" dirty="0">
                <a:latin typeface="Arial"/>
                <a:cs typeface="Arial"/>
              </a:rPr>
              <a:t>its outputs only </a:t>
            </a:r>
            <a:r>
              <a:rPr sz="1800" b="1" spc="-5" dirty="0">
                <a:latin typeface="Arial"/>
                <a:cs typeface="Arial"/>
              </a:rPr>
              <a:t>at </a:t>
            </a:r>
            <a:r>
              <a:rPr sz="1800" b="1" dirty="0">
                <a:latin typeface="Arial"/>
                <a:cs typeface="Arial"/>
              </a:rPr>
              <a:t>particular </a:t>
            </a:r>
            <a:r>
              <a:rPr sz="1800" b="1" spc="-5" dirty="0">
                <a:latin typeface="Arial"/>
                <a:cs typeface="Arial"/>
              </a:rPr>
              <a:t>instants 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times &amp;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continuously.</a:t>
            </a:r>
            <a:endParaRPr sz="1800" dirty="0">
              <a:latin typeface="Arial"/>
              <a:cs typeface="Arial"/>
            </a:endParaRPr>
          </a:p>
          <a:p>
            <a:pPr marL="355600" marR="7620" indent="-342900" algn="just">
              <a:lnSpc>
                <a:spcPts val="1939"/>
              </a:lnSpc>
              <a:spcBef>
                <a:spcPts val="465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Five types </a:t>
            </a:r>
            <a:r>
              <a:rPr sz="1800" b="1" dirty="0">
                <a:latin typeface="Arial"/>
                <a:cs typeface="Arial"/>
              </a:rPr>
              <a:t>of flip-flops </a:t>
            </a:r>
            <a:r>
              <a:rPr sz="1800" b="1" spc="-5" dirty="0">
                <a:latin typeface="Arial"/>
                <a:cs typeface="Arial"/>
              </a:rPr>
              <a:t>are as </a:t>
            </a:r>
            <a:r>
              <a:rPr sz="1800" b="1" dirty="0">
                <a:latin typeface="Arial"/>
                <a:cs typeface="Arial"/>
              </a:rPr>
              <a:t>follows: </a:t>
            </a:r>
            <a:r>
              <a:rPr sz="1800" b="1" spc="-5" dirty="0">
                <a:latin typeface="Arial"/>
                <a:cs typeface="Arial"/>
              </a:rPr>
              <a:t>S-R Flip-flop, J-K </a:t>
            </a:r>
            <a:r>
              <a:rPr sz="1800" b="1" dirty="0">
                <a:latin typeface="Arial"/>
                <a:cs typeface="Arial"/>
              </a:rPr>
              <a:t>Flip-flop, </a:t>
            </a:r>
            <a:r>
              <a:rPr sz="1800" b="1" spc="-5" dirty="0">
                <a:latin typeface="Arial"/>
                <a:cs typeface="Arial"/>
              </a:rPr>
              <a:t>Master  </a:t>
            </a:r>
            <a:r>
              <a:rPr sz="1800" b="1" spc="-10" dirty="0">
                <a:latin typeface="Arial"/>
                <a:cs typeface="Arial"/>
              </a:rPr>
              <a:t>Slave </a:t>
            </a:r>
            <a:r>
              <a:rPr sz="1800" b="1" spc="-5" dirty="0">
                <a:latin typeface="Arial"/>
                <a:cs typeface="Arial"/>
              </a:rPr>
              <a:t>J-K </a:t>
            </a:r>
            <a:r>
              <a:rPr sz="1800" b="1" dirty="0">
                <a:latin typeface="Arial"/>
                <a:cs typeface="Arial"/>
              </a:rPr>
              <a:t>Flip-flop, T- Flip-flop, </a:t>
            </a:r>
            <a:r>
              <a:rPr sz="1800" b="1" spc="-5" dirty="0">
                <a:latin typeface="Arial"/>
                <a:cs typeface="Arial"/>
              </a:rPr>
              <a:t>D- </a:t>
            </a:r>
            <a:r>
              <a:rPr sz="1800" b="1" dirty="0">
                <a:latin typeface="Arial"/>
                <a:cs typeface="Arial"/>
              </a:rPr>
              <a:t>Flip-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flop</a:t>
            </a:r>
            <a:endParaRPr sz="1800" dirty="0">
              <a:latin typeface="Arial"/>
              <a:cs typeface="Arial"/>
            </a:endParaRPr>
          </a:p>
          <a:p>
            <a:pPr marL="355600" marR="5715" indent="-342900" algn="just">
              <a:lnSpc>
                <a:spcPts val="1939"/>
              </a:lnSpc>
              <a:spcBef>
                <a:spcPts val="440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S-R flip-flop output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uncertain </a:t>
            </a:r>
            <a:r>
              <a:rPr sz="1800" b="1" dirty="0">
                <a:latin typeface="Arial"/>
                <a:cs typeface="Arial"/>
              </a:rPr>
              <a:t>and is not </a:t>
            </a:r>
            <a:r>
              <a:rPr sz="1800" b="1" spc="-5" dirty="0">
                <a:latin typeface="Arial"/>
                <a:cs typeface="Arial"/>
              </a:rPr>
              <a:t>according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assumption </a:t>
            </a:r>
            <a:r>
              <a:rPr sz="1800" b="1" spc="5" dirty="0">
                <a:latin typeface="Arial"/>
                <a:cs typeface="Arial"/>
              </a:rPr>
              <a:t>when  </a:t>
            </a:r>
            <a:r>
              <a:rPr sz="1800" b="1" dirty="0">
                <a:latin typeface="Arial"/>
                <a:cs typeface="Arial"/>
              </a:rPr>
              <a:t>both S </a:t>
            </a:r>
            <a:r>
              <a:rPr sz="1800" b="1" spc="-5" dirty="0">
                <a:latin typeface="Arial"/>
                <a:cs typeface="Arial"/>
              </a:rPr>
              <a:t>&amp; R are </a:t>
            </a:r>
            <a:r>
              <a:rPr sz="1800" b="1" dirty="0">
                <a:latin typeface="Arial"/>
                <a:cs typeface="Arial"/>
              </a:rPr>
              <a:t>equal 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1.</a:t>
            </a:r>
            <a:endParaRPr sz="18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When initial conditions of flip-flops is to be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dirty="0">
                <a:latin typeface="Arial"/>
                <a:cs typeface="Arial"/>
              </a:rPr>
              <a:t>then </a:t>
            </a:r>
            <a:r>
              <a:rPr sz="1800" b="1" spc="15" dirty="0">
                <a:latin typeface="Arial"/>
                <a:cs typeface="Arial"/>
              </a:rPr>
              <a:t>we </a:t>
            </a:r>
            <a:r>
              <a:rPr sz="1800" b="1" dirty="0">
                <a:latin typeface="Arial"/>
                <a:cs typeface="Arial"/>
              </a:rPr>
              <a:t>use the</a:t>
            </a:r>
            <a:r>
              <a:rPr sz="1800" b="1" spc="-1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preset.</a:t>
            </a:r>
            <a:endParaRPr sz="1800" dirty="0">
              <a:latin typeface="Arial"/>
              <a:cs typeface="Arial"/>
            </a:endParaRPr>
          </a:p>
          <a:p>
            <a:pPr marL="355600" marR="7620" indent="-342900" algn="just">
              <a:lnSpc>
                <a:spcPts val="1939"/>
              </a:lnSpc>
              <a:spcBef>
                <a:spcPts val="459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Disadvantages </a:t>
            </a:r>
            <a:r>
              <a:rPr sz="1800" b="1" dirty="0">
                <a:latin typeface="Arial"/>
                <a:cs typeface="Arial"/>
              </a:rPr>
              <a:t>of output </a:t>
            </a:r>
            <a:r>
              <a:rPr sz="1800" b="1" spc="-5" dirty="0">
                <a:latin typeface="Arial"/>
                <a:cs typeface="Arial"/>
              </a:rPr>
              <a:t>being indeterminate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S-R </a:t>
            </a:r>
            <a:r>
              <a:rPr sz="1800" b="1" dirty="0">
                <a:latin typeface="Arial"/>
                <a:cs typeface="Arial"/>
              </a:rPr>
              <a:t>flip-flop is </a:t>
            </a:r>
            <a:r>
              <a:rPr sz="1800" b="1" spc="-5" dirty="0">
                <a:latin typeface="Arial"/>
                <a:cs typeface="Arial"/>
              </a:rPr>
              <a:t>overcome  </a:t>
            </a:r>
            <a:r>
              <a:rPr sz="1800" b="1" dirty="0">
                <a:latin typeface="Arial"/>
                <a:cs typeface="Arial"/>
              </a:rPr>
              <a:t>using </a:t>
            </a:r>
            <a:r>
              <a:rPr sz="1800" b="1" spc="-5" dirty="0">
                <a:latin typeface="Arial"/>
                <a:cs typeface="Arial"/>
              </a:rPr>
              <a:t>J-K </a:t>
            </a:r>
            <a:r>
              <a:rPr sz="1800" b="1" dirty="0">
                <a:latin typeface="Arial"/>
                <a:cs typeface="Arial"/>
              </a:rPr>
              <a:t>flip-flop.</a:t>
            </a:r>
            <a:endParaRPr sz="18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90100"/>
              </a:lnSpc>
              <a:spcBef>
                <a:spcPts val="409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sz="1800" b="1" dirty="0" smtClean="0">
                <a:latin typeface="Arial"/>
                <a:cs typeface="Arial"/>
              </a:rPr>
              <a:t>In JK </a:t>
            </a:r>
            <a:r>
              <a:rPr lang="en-US" sz="1800" b="1" dirty="0" err="1" smtClean="0">
                <a:latin typeface="Arial"/>
                <a:cs typeface="Arial"/>
              </a:rPr>
              <a:t>ff</a:t>
            </a:r>
            <a:r>
              <a:rPr lang="en-US" sz="1800" b="1" dirty="0" smtClean="0">
                <a:latin typeface="Arial"/>
                <a:cs typeface="Arial"/>
              </a:rPr>
              <a:t>, f</a:t>
            </a:r>
            <a:r>
              <a:rPr sz="1800" b="1" dirty="0" smtClean="0">
                <a:latin typeface="Arial"/>
                <a:cs typeface="Arial"/>
              </a:rPr>
              <a:t>or </a:t>
            </a:r>
            <a:r>
              <a:rPr lang="el-GR" sz="1800" b="1" dirty="0" smtClean="0">
                <a:latin typeface="Arial"/>
                <a:cs typeface="Arial"/>
              </a:rPr>
              <a:t>Δ</a:t>
            </a:r>
            <a:r>
              <a:rPr sz="1800" b="1" dirty="0" smtClean="0">
                <a:latin typeface="Arial"/>
                <a:cs typeface="Arial"/>
              </a:rPr>
              <a:t>t </a:t>
            </a:r>
            <a:r>
              <a:rPr sz="1800" b="1" dirty="0">
                <a:latin typeface="Arial"/>
                <a:cs typeface="Arial"/>
              </a:rPr>
              <a:t>time period </a:t>
            </a:r>
            <a:r>
              <a:rPr sz="1800" b="1" spc="5" dirty="0">
                <a:latin typeface="Arial"/>
                <a:cs typeface="Arial"/>
              </a:rPr>
              <a:t>which </a:t>
            </a:r>
            <a:r>
              <a:rPr sz="1800" b="1" dirty="0">
                <a:latin typeface="Arial"/>
                <a:cs typeface="Arial"/>
              </a:rPr>
              <a:t>is the </a:t>
            </a:r>
            <a:r>
              <a:rPr sz="1800" b="1" spc="-5" dirty="0">
                <a:latin typeface="Arial"/>
                <a:cs typeface="Arial"/>
              </a:rPr>
              <a:t>propagation </a:t>
            </a:r>
            <a:r>
              <a:rPr sz="1800" b="1" dirty="0">
                <a:latin typeface="Arial"/>
                <a:cs typeface="Arial"/>
              </a:rPr>
              <a:t>delay time of flip-flop, </a:t>
            </a:r>
            <a:r>
              <a:rPr sz="1800" b="1" spc="-5" dirty="0">
                <a:latin typeface="Arial"/>
                <a:cs typeface="Arial"/>
              </a:rPr>
              <a:t>the  </a:t>
            </a:r>
            <a:r>
              <a:rPr sz="1800" b="1" dirty="0">
                <a:latin typeface="Arial"/>
                <a:cs typeface="Arial"/>
              </a:rPr>
              <a:t>output </a:t>
            </a:r>
            <a:r>
              <a:rPr sz="1800" b="1" spc="-5" dirty="0">
                <a:latin typeface="Arial"/>
                <a:cs typeface="Arial"/>
              </a:rPr>
              <a:t>fluctuates </a:t>
            </a:r>
            <a:r>
              <a:rPr sz="1800" b="1" dirty="0">
                <a:latin typeface="Arial"/>
                <a:cs typeface="Arial"/>
              </a:rPr>
              <a:t>between 0 </a:t>
            </a:r>
            <a:r>
              <a:rPr sz="1800" b="1" spc="-5" dirty="0">
                <a:latin typeface="Arial"/>
                <a:cs typeface="Arial"/>
              </a:rPr>
              <a:t>and </a:t>
            </a:r>
            <a:r>
              <a:rPr sz="1800" b="1" dirty="0">
                <a:latin typeface="Arial"/>
                <a:cs typeface="Arial"/>
              </a:rPr>
              <a:t>1 &amp; therefore is not </a:t>
            </a:r>
            <a:r>
              <a:rPr sz="1800" b="1" spc="-5" dirty="0">
                <a:latin typeface="Arial"/>
                <a:cs typeface="Arial"/>
              </a:rPr>
              <a:t>certain. Fluctuation </a:t>
            </a:r>
            <a:r>
              <a:rPr sz="1800" b="1" dirty="0">
                <a:latin typeface="Arial"/>
                <a:cs typeface="Arial"/>
              </a:rPr>
              <a:t>of  output </a:t>
            </a:r>
            <a:r>
              <a:rPr sz="1800" b="1" spc="-5" dirty="0">
                <a:latin typeface="Arial"/>
                <a:cs typeface="Arial"/>
              </a:rPr>
              <a:t>reduces </a:t>
            </a:r>
            <a:r>
              <a:rPr sz="1800" b="1" dirty="0">
                <a:latin typeface="Arial"/>
                <a:cs typeface="Arial"/>
              </a:rPr>
              <a:t>life time 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IC.</a:t>
            </a:r>
            <a:endParaRPr sz="1800" dirty="0">
              <a:latin typeface="Arial"/>
              <a:cs typeface="Arial"/>
            </a:endParaRPr>
          </a:p>
          <a:p>
            <a:pPr marL="355600" marR="6350" indent="-342900" algn="just">
              <a:lnSpc>
                <a:spcPts val="1939"/>
              </a:lnSpc>
              <a:spcBef>
                <a:spcPts val="459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In computer </a:t>
            </a:r>
            <a:r>
              <a:rPr sz="1800" b="1" spc="-5" dirty="0">
                <a:latin typeface="Arial"/>
                <a:cs typeface="Arial"/>
              </a:rPr>
              <a:t>memory </a:t>
            </a:r>
            <a:r>
              <a:rPr sz="1800" b="1" dirty="0">
                <a:latin typeface="Arial"/>
                <a:cs typeface="Arial"/>
              </a:rPr>
              <a:t>master </a:t>
            </a:r>
            <a:r>
              <a:rPr sz="1800" b="1" spc="-5" dirty="0">
                <a:latin typeface="Arial"/>
                <a:cs typeface="Arial"/>
              </a:rPr>
              <a:t>slave </a:t>
            </a:r>
            <a:r>
              <a:rPr sz="1800" b="1" dirty="0">
                <a:latin typeface="Arial"/>
                <a:cs typeface="Arial"/>
              </a:rPr>
              <a:t>principle is </a:t>
            </a:r>
            <a:r>
              <a:rPr sz="1800" b="1" spc="-5" dirty="0">
                <a:latin typeface="Arial"/>
                <a:cs typeface="Arial"/>
              </a:rPr>
              <a:t>used </a:t>
            </a:r>
            <a:r>
              <a:rPr sz="1800" b="1" spc="-10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drive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10" dirty="0">
                <a:latin typeface="Arial"/>
                <a:cs typeface="Arial"/>
              </a:rPr>
              <a:t>slave </a:t>
            </a:r>
            <a:r>
              <a:rPr sz="1800" b="1" spc="5" dirty="0">
                <a:latin typeface="Arial"/>
                <a:cs typeface="Arial"/>
              </a:rPr>
              <a:t>while  </a:t>
            </a:r>
            <a:r>
              <a:rPr sz="1800" b="1" dirty="0">
                <a:latin typeface="Arial"/>
                <a:cs typeface="Arial"/>
              </a:rPr>
              <a:t>the other 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master.</a:t>
            </a:r>
            <a:endParaRPr sz="1800" dirty="0">
              <a:latin typeface="Arial"/>
              <a:cs typeface="Arial"/>
            </a:endParaRPr>
          </a:p>
          <a:p>
            <a:pPr marL="355600" indent="-342900" algn="just">
              <a:lnSpc>
                <a:spcPts val="2050"/>
              </a:lnSpc>
              <a:spcBef>
                <a:spcPts val="195"/>
              </a:spcBef>
              <a:buFont typeface="Wingdings"/>
              <a:buChar char="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D-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Flip-flop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can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used</a:t>
            </a:r>
            <a:r>
              <a:rPr sz="1800" b="1" spc="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delay</a:t>
            </a:r>
            <a:r>
              <a:rPr sz="1800" b="1" spc="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latch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element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circuit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delay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endParaRPr sz="1800" dirty="0">
              <a:latin typeface="Arial"/>
              <a:cs typeface="Arial"/>
            </a:endParaRPr>
          </a:p>
          <a:p>
            <a:pPr marL="355600">
              <a:lnSpc>
                <a:spcPts val="2050"/>
              </a:lnSpc>
            </a:pPr>
            <a:r>
              <a:rPr sz="1800" b="1" dirty="0">
                <a:latin typeface="Arial"/>
                <a:cs typeface="Arial"/>
              </a:rPr>
              <a:t>output.</a:t>
            </a:r>
            <a:endParaRPr sz="1800" dirty="0">
              <a:latin typeface="Arial"/>
              <a:cs typeface="Arial"/>
            </a:endParaRPr>
          </a:p>
          <a:p>
            <a:pPr marL="355600" marR="6985" indent="-342900">
              <a:lnSpc>
                <a:spcPts val="1939"/>
              </a:lnSpc>
              <a:spcBef>
                <a:spcPts val="46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T- </a:t>
            </a:r>
            <a:r>
              <a:rPr sz="1800" b="1" spc="-5" dirty="0">
                <a:latin typeface="Arial"/>
                <a:cs typeface="Arial"/>
              </a:rPr>
              <a:t>Flip-flop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-5" dirty="0">
                <a:latin typeface="Arial"/>
                <a:cs typeface="Arial"/>
              </a:rPr>
              <a:t>used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toggling input. In </a:t>
            </a:r>
            <a:r>
              <a:rPr sz="1800" b="1" dirty="0">
                <a:latin typeface="Arial"/>
                <a:cs typeface="Arial"/>
              </a:rPr>
              <a:t>this </a:t>
            </a:r>
            <a:r>
              <a:rPr sz="1800" b="1" spc="-5" dirty="0">
                <a:latin typeface="Arial"/>
                <a:cs typeface="Arial"/>
              </a:rPr>
              <a:t>case </a:t>
            </a:r>
            <a:r>
              <a:rPr sz="1800" b="1" dirty="0">
                <a:latin typeface="Arial"/>
                <a:cs typeface="Arial"/>
              </a:rPr>
              <a:t>output is </a:t>
            </a:r>
            <a:r>
              <a:rPr sz="1800" b="1" spc="-5" dirty="0">
                <a:latin typeface="Arial"/>
                <a:cs typeface="Arial"/>
              </a:rPr>
              <a:t>always </a:t>
            </a:r>
            <a:r>
              <a:rPr sz="1800" b="1" dirty="0">
                <a:latin typeface="Arial"/>
                <a:cs typeface="Arial"/>
              </a:rPr>
              <a:t>the  </a:t>
            </a:r>
            <a:r>
              <a:rPr sz="1800" b="1" spc="-5" dirty="0">
                <a:latin typeface="Arial"/>
                <a:cs typeface="Arial"/>
              </a:rPr>
              <a:t>complement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1490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42" y="943247"/>
            <a:ext cx="8683625" cy="56476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Arial"/>
                <a:cs typeface="Arial"/>
              </a:rPr>
              <a:t>Application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Flip-Flop: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Bounce Elimination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Switch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Latch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Registers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Counters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Memory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Elements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2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Bounce Elimination Switch: (Fig 7.23 on Pg.256 R. P.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Jain)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In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sequential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circuit,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if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1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be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entered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through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switch,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then</a:t>
            </a:r>
            <a:r>
              <a:rPr sz="2000" b="1" spc="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switch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spc="5" dirty="0">
                <a:latin typeface="Arial"/>
                <a:cs typeface="Arial"/>
              </a:rPr>
              <a:t>thrown </a:t>
            </a:r>
            <a:r>
              <a:rPr sz="2000" b="1" dirty="0">
                <a:latin typeface="Arial"/>
                <a:cs typeface="Arial"/>
              </a:rPr>
              <a:t>to the corresponding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position.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But </a:t>
            </a:r>
            <a:r>
              <a:rPr sz="2000" b="1" spc="5" dirty="0">
                <a:latin typeface="Arial"/>
                <a:cs typeface="Arial"/>
              </a:rPr>
              <a:t>when </a:t>
            </a:r>
            <a:r>
              <a:rPr sz="2000" b="1" spc="-5" dirty="0">
                <a:latin typeface="Arial"/>
                <a:cs typeface="Arial"/>
              </a:rPr>
              <a:t>the switch is </a:t>
            </a:r>
            <a:r>
              <a:rPr sz="2000" b="1" dirty="0">
                <a:latin typeface="Arial"/>
                <a:cs typeface="Arial"/>
              </a:rPr>
              <a:t>thrown to position 1,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output </a:t>
            </a:r>
            <a:r>
              <a:rPr sz="2000" b="1" spc="-5" dirty="0">
                <a:latin typeface="Arial"/>
                <a:cs typeface="Arial"/>
              </a:rPr>
              <a:t>oscillates </a:t>
            </a:r>
            <a:r>
              <a:rPr sz="2000" b="1" spc="5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between 0 &amp; 1 </a:t>
            </a:r>
            <a:r>
              <a:rPr sz="2000" b="1" spc="-5" dirty="0">
                <a:latin typeface="Arial"/>
                <a:cs typeface="Arial"/>
              </a:rPr>
              <a:t>for some </a:t>
            </a:r>
            <a:r>
              <a:rPr sz="2000" b="1" dirty="0">
                <a:latin typeface="Arial"/>
                <a:cs typeface="Arial"/>
              </a:rPr>
              <a:t>time </a:t>
            </a:r>
            <a:r>
              <a:rPr sz="2000" b="1" spc="-5" dirty="0">
                <a:latin typeface="Arial"/>
                <a:cs typeface="Arial"/>
              </a:rPr>
              <a:t>due </a:t>
            </a:r>
            <a:r>
              <a:rPr sz="2000" b="1" dirty="0">
                <a:latin typeface="Arial"/>
                <a:cs typeface="Arial"/>
              </a:rPr>
              <a:t>to make &amp; </a:t>
            </a:r>
            <a:r>
              <a:rPr sz="2000" b="1" spc="-5" dirty="0">
                <a:latin typeface="Arial"/>
                <a:cs typeface="Arial"/>
              </a:rPr>
              <a:t>break </a:t>
            </a:r>
            <a:r>
              <a:rPr sz="2000" b="1" dirty="0">
                <a:latin typeface="Arial"/>
                <a:cs typeface="Arial"/>
              </a:rPr>
              <a:t>(bouncing)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 switch at the point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contact before coming to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rest.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This changes the output of </a:t>
            </a:r>
            <a:r>
              <a:rPr sz="2000" b="1" spc="-5" dirty="0">
                <a:latin typeface="Arial"/>
                <a:cs typeface="Arial"/>
              </a:rPr>
              <a:t>the circuit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creates difficulties in </a:t>
            </a:r>
            <a:r>
              <a:rPr sz="2000" b="1" dirty="0">
                <a:latin typeface="Arial"/>
                <a:cs typeface="Arial"/>
              </a:rPr>
              <a:t>the  operation </a:t>
            </a:r>
            <a:r>
              <a:rPr sz="2000" b="1" spc="-10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system. </a:t>
            </a:r>
            <a:r>
              <a:rPr sz="2000" b="1" dirty="0">
                <a:latin typeface="Arial"/>
                <a:cs typeface="Arial"/>
              </a:rPr>
              <a:t>This problem </a:t>
            </a:r>
            <a:r>
              <a:rPr sz="2000" b="1" spc="-5" dirty="0">
                <a:latin typeface="Arial"/>
                <a:cs typeface="Arial"/>
              </a:rPr>
              <a:t>is eliminated </a:t>
            </a: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using  bounce-elimination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switch.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79026"/>
            <a:ext cx="8437245" cy="50330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400" b="1" dirty="0">
                <a:latin typeface="Arial"/>
                <a:cs typeface="Arial"/>
              </a:rPr>
              <a:t>Registers: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It is </a:t>
            </a:r>
            <a:r>
              <a:rPr sz="2000" dirty="0">
                <a:latin typeface="Arial"/>
                <a:cs typeface="Arial"/>
              </a:rPr>
              <a:t>composed of a group of </a:t>
            </a:r>
            <a:r>
              <a:rPr sz="2000" spc="-5" dirty="0">
                <a:latin typeface="Arial"/>
                <a:cs typeface="Arial"/>
              </a:rPr>
              <a:t>FF’s to </a:t>
            </a:r>
            <a:r>
              <a:rPr sz="2000" dirty="0">
                <a:latin typeface="Arial"/>
                <a:cs typeface="Arial"/>
              </a:rPr>
              <a:t>store a group of bits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(word).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FF can store 1-bit of digital information &amp; also called as 1-bit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register.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280"/>
              </a:lnSpc>
              <a:spcBef>
                <a:spcPts val="24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409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number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FF</a:t>
            </a:r>
            <a:r>
              <a:rPr sz="2000" spc="4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required</a:t>
            </a:r>
            <a:r>
              <a:rPr sz="2000" spc="409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is</a:t>
            </a:r>
            <a:r>
              <a:rPr sz="2000" spc="409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equal</a:t>
            </a:r>
            <a:r>
              <a:rPr sz="2000" spc="409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to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4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number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bits</a:t>
            </a:r>
            <a:r>
              <a:rPr sz="2000" spc="4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</a:t>
            </a:r>
            <a:r>
              <a:rPr sz="2000" spc="409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binary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word.</a:t>
            </a:r>
            <a:endParaRPr sz="2000">
              <a:latin typeface="Arial"/>
              <a:cs typeface="Arial"/>
            </a:endParaRPr>
          </a:p>
          <a:p>
            <a:pPr marL="355600" marR="8255" indent="-342900" algn="just">
              <a:lnSpc>
                <a:spcPts val="2160"/>
              </a:lnSpc>
              <a:spcBef>
                <a:spcPts val="51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E.g. </a:t>
            </a:r>
            <a:r>
              <a:rPr sz="2000" dirty="0">
                <a:latin typeface="Arial"/>
                <a:cs typeface="Arial"/>
              </a:rPr>
              <a:t>8085 </a:t>
            </a:r>
            <a:r>
              <a:rPr sz="2000" spc="-5" dirty="0">
                <a:latin typeface="Arial"/>
                <a:cs typeface="Arial"/>
              </a:rPr>
              <a:t>have </a:t>
            </a:r>
            <a:r>
              <a:rPr sz="2000" dirty="0">
                <a:latin typeface="Arial"/>
                <a:cs typeface="Arial"/>
              </a:rPr>
              <a:t>seven </a:t>
            </a:r>
            <a:r>
              <a:rPr sz="2000" spc="-5" dirty="0">
                <a:latin typeface="Arial"/>
                <a:cs typeface="Arial"/>
              </a:rPr>
              <a:t>8-bit registers </a:t>
            </a:r>
            <a:r>
              <a:rPr sz="2000" dirty="0">
                <a:latin typeface="Arial"/>
                <a:cs typeface="Arial"/>
              </a:rPr>
              <a:t>called as </a:t>
            </a:r>
            <a:r>
              <a:rPr sz="2000" spc="-5" dirty="0">
                <a:latin typeface="Arial"/>
                <a:cs typeface="Arial"/>
              </a:rPr>
              <a:t>general </a:t>
            </a:r>
            <a:r>
              <a:rPr sz="2000" dirty="0">
                <a:latin typeface="Arial"/>
                <a:cs typeface="Arial"/>
              </a:rPr>
              <a:t>purpose </a:t>
            </a:r>
            <a:r>
              <a:rPr sz="2000" spc="-5" dirty="0">
                <a:latin typeface="Arial"/>
                <a:cs typeface="Arial"/>
              </a:rPr>
              <a:t>register  </a:t>
            </a:r>
            <a:r>
              <a:rPr sz="2000" dirty="0">
                <a:latin typeface="Arial"/>
                <a:cs typeface="Arial"/>
              </a:rPr>
              <a:t>&amp; </a:t>
            </a:r>
            <a:r>
              <a:rPr sz="2000" spc="-5" dirty="0">
                <a:latin typeface="Arial"/>
                <a:cs typeface="Arial"/>
              </a:rPr>
              <a:t>five </a:t>
            </a:r>
            <a:r>
              <a:rPr sz="2000" dirty="0">
                <a:latin typeface="Arial"/>
                <a:cs typeface="Arial"/>
              </a:rPr>
              <a:t>1-bit register called 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flags.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ts val="216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data can be entered </a:t>
            </a:r>
            <a:r>
              <a:rPr sz="2000" spc="-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serial (one bit at a </a:t>
            </a:r>
            <a:r>
              <a:rPr sz="2000" spc="-5" dirty="0">
                <a:latin typeface="Arial"/>
                <a:cs typeface="Arial"/>
              </a:rPr>
              <a:t>time) </a:t>
            </a:r>
            <a:r>
              <a:rPr sz="2000" dirty="0">
                <a:latin typeface="Arial"/>
                <a:cs typeface="Arial"/>
              </a:rPr>
              <a:t>or </a:t>
            </a:r>
            <a:r>
              <a:rPr sz="2000" spc="-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parallel </a:t>
            </a:r>
            <a:r>
              <a:rPr sz="2000" spc="-5" dirty="0">
                <a:latin typeface="Arial"/>
                <a:cs typeface="Arial"/>
              </a:rPr>
              <a:t>form  </a:t>
            </a:r>
            <a:r>
              <a:rPr sz="2000" dirty="0">
                <a:latin typeface="Arial"/>
                <a:cs typeface="Arial"/>
              </a:rPr>
              <a:t>(all the </a:t>
            </a:r>
            <a:r>
              <a:rPr sz="2000" spc="-5" dirty="0">
                <a:latin typeface="Arial"/>
                <a:cs typeface="Arial"/>
              </a:rPr>
              <a:t>bits simultaneously) </a:t>
            </a:r>
            <a:r>
              <a:rPr sz="2000" dirty="0">
                <a:latin typeface="Arial"/>
                <a:cs typeface="Arial"/>
              </a:rPr>
              <a:t>and can be </a:t>
            </a:r>
            <a:r>
              <a:rPr sz="2000" spc="-5" dirty="0">
                <a:latin typeface="Arial"/>
                <a:cs typeface="Arial"/>
              </a:rPr>
              <a:t>retrieved in </a:t>
            </a:r>
            <a:r>
              <a:rPr sz="2000" spc="-10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serial </a:t>
            </a:r>
            <a:r>
              <a:rPr sz="2000" spc="-10" dirty="0">
                <a:latin typeface="Arial"/>
                <a:cs typeface="Arial"/>
              </a:rPr>
              <a:t>or </a:t>
            </a:r>
            <a:r>
              <a:rPr sz="2000" dirty="0">
                <a:latin typeface="Arial"/>
                <a:cs typeface="Arial"/>
              </a:rPr>
              <a:t>parallel  form.</a:t>
            </a:r>
            <a:endParaRPr sz="2000">
              <a:latin typeface="Arial"/>
              <a:cs typeface="Arial"/>
            </a:endParaRPr>
          </a:p>
          <a:p>
            <a:pPr marL="355600" marR="10795" indent="-342900" algn="just">
              <a:lnSpc>
                <a:spcPts val="216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Data </a:t>
            </a:r>
            <a:r>
              <a:rPr sz="2000" spc="-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serial </a:t>
            </a:r>
            <a:r>
              <a:rPr sz="2000" spc="-5" dirty="0">
                <a:latin typeface="Arial"/>
                <a:cs typeface="Arial"/>
              </a:rPr>
              <a:t>form is </a:t>
            </a:r>
            <a:r>
              <a:rPr sz="2000" dirty="0">
                <a:latin typeface="Arial"/>
                <a:cs typeface="Arial"/>
              </a:rPr>
              <a:t>also called </a:t>
            </a:r>
            <a:r>
              <a:rPr sz="2000" spc="-10" dirty="0">
                <a:latin typeface="Arial"/>
                <a:cs typeface="Arial"/>
              </a:rPr>
              <a:t>as </a:t>
            </a:r>
            <a:r>
              <a:rPr sz="2000" spc="-5" dirty="0">
                <a:latin typeface="Arial"/>
                <a:cs typeface="Arial"/>
              </a:rPr>
              <a:t>temporal </a:t>
            </a:r>
            <a:r>
              <a:rPr sz="2000" dirty="0">
                <a:latin typeface="Arial"/>
                <a:cs typeface="Arial"/>
              </a:rPr>
              <a:t>code &amp; </a:t>
            </a:r>
            <a:r>
              <a:rPr sz="2000" spc="-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parallel </a:t>
            </a:r>
            <a:r>
              <a:rPr sz="2000" spc="-5" dirty="0">
                <a:latin typeface="Arial"/>
                <a:cs typeface="Arial"/>
              </a:rPr>
              <a:t>form </a:t>
            </a:r>
            <a:r>
              <a:rPr sz="2000" spc="-15" dirty="0">
                <a:latin typeface="Arial"/>
                <a:cs typeface="Arial"/>
              </a:rPr>
              <a:t>as </a:t>
            </a:r>
            <a:r>
              <a:rPr sz="2000" spc="5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spacial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ts val="2280"/>
              </a:lnSpc>
              <a:spcBef>
                <a:spcPts val="20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For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serial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input/output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it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requires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only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one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line</a:t>
            </a:r>
            <a:r>
              <a:rPr sz="2000" spc="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for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data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input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&amp;</a:t>
            </a:r>
            <a:r>
              <a:rPr sz="2000" spc="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one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for data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ouput.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ts val="2160"/>
              </a:lnSpc>
              <a:spcBef>
                <a:spcPts val="51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Whereas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dirty="0">
                <a:latin typeface="Arial"/>
                <a:cs typeface="Arial"/>
              </a:rPr>
              <a:t>parallel </a:t>
            </a:r>
            <a:r>
              <a:rPr sz="2000" spc="-5" dirty="0">
                <a:latin typeface="Arial"/>
                <a:cs typeface="Arial"/>
              </a:rPr>
              <a:t>input/output it </a:t>
            </a:r>
            <a:r>
              <a:rPr sz="2000" dirty="0">
                <a:latin typeface="Arial"/>
                <a:cs typeface="Arial"/>
              </a:rPr>
              <a:t>requires lines </a:t>
            </a:r>
            <a:r>
              <a:rPr sz="2000" spc="-5" dirty="0">
                <a:latin typeface="Arial"/>
                <a:cs typeface="Arial"/>
              </a:rPr>
              <a:t>equal to the </a:t>
            </a:r>
            <a:r>
              <a:rPr sz="2000" dirty="0">
                <a:latin typeface="Arial"/>
                <a:cs typeface="Arial"/>
              </a:rPr>
              <a:t>number of  bits.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4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11453"/>
            <a:ext cx="151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Registers: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33602"/>
            <a:ext cx="51581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905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  <a:tab pos="1544320" algn="l"/>
                <a:tab pos="2037714" algn="l"/>
                <a:tab pos="3228340" algn="l"/>
                <a:tab pos="4533265" algn="l"/>
              </a:tabLst>
            </a:pP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spc="-5" dirty="0">
                <a:latin typeface="Arial"/>
                <a:cs typeface="Arial"/>
              </a:rPr>
              <a:t>st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rs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are</a:t>
            </a:r>
            <a:r>
              <a:rPr sz="1800" b="1" dirty="0">
                <a:latin typeface="Arial"/>
                <a:cs typeface="Arial"/>
              </a:rPr>
              <a:t>	cl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spc="-1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ed	</a:t>
            </a:r>
            <a:r>
              <a:rPr sz="1800" b="1" spc="-10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ep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b="1" spc="5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g	</a:t>
            </a:r>
            <a:r>
              <a:rPr sz="1800" b="1" spc="-10" dirty="0">
                <a:latin typeface="Arial"/>
                <a:cs typeface="Arial"/>
              </a:rPr>
              <a:t>up</a:t>
            </a:r>
            <a:r>
              <a:rPr sz="1800" b="1" dirty="0">
                <a:latin typeface="Arial"/>
                <a:cs typeface="Arial"/>
              </a:rPr>
              <a:t>on  </a:t>
            </a:r>
            <a:r>
              <a:rPr sz="1800" b="1" spc="-5" dirty="0">
                <a:latin typeface="Arial"/>
                <a:cs typeface="Arial"/>
              </a:rPr>
              <a:t>entered &amp;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retrieved.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There are </a:t>
            </a:r>
            <a:r>
              <a:rPr sz="1800" b="1" dirty="0">
                <a:latin typeface="Arial"/>
                <a:cs typeface="Arial"/>
              </a:rPr>
              <a:t>four possible modes of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operation:</a:t>
            </a:r>
            <a:endParaRPr sz="18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1800" b="1" spc="-5" dirty="0">
                <a:latin typeface="Arial"/>
                <a:cs typeface="Arial"/>
              </a:rPr>
              <a:t>Serial-In, Serial-Out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(SISO)</a:t>
            </a:r>
            <a:endParaRPr sz="18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1800" b="1" spc="-5" dirty="0">
                <a:latin typeface="Arial"/>
                <a:cs typeface="Arial"/>
              </a:rPr>
              <a:t>Serial-In, Parallel-Out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(SIPO)</a:t>
            </a:r>
            <a:endParaRPr sz="18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1800" b="1" spc="-5" dirty="0">
                <a:latin typeface="Arial"/>
                <a:cs typeface="Arial"/>
              </a:rPr>
              <a:t>Parallel-In, Serial-Out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(PISO)</a:t>
            </a:r>
            <a:endParaRPr sz="18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1800" b="1" spc="-5" dirty="0">
                <a:latin typeface="Arial"/>
                <a:cs typeface="Arial"/>
              </a:rPr>
              <a:t>Parallel-In, Parallel-Out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(PIPO)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1748" y="1133602"/>
            <a:ext cx="3205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745" algn="l"/>
                <a:tab pos="1082675" algn="l"/>
                <a:tab pos="1431290" algn="l"/>
                <a:tab pos="2231390" algn="l"/>
                <a:tab pos="2849245" algn="l"/>
              </a:tabLst>
            </a:pPr>
            <a:r>
              <a:rPr sz="1800" b="1" spc="-1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he	</a:t>
            </a:r>
            <a:r>
              <a:rPr sz="1800" b="1" spc="35" dirty="0">
                <a:latin typeface="Arial"/>
                <a:cs typeface="Arial"/>
              </a:rPr>
              <a:t>w</a:t>
            </a:r>
            <a:r>
              <a:rPr sz="1800" b="1" spc="-5" dirty="0">
                <a:latin typeface="Arial"/>
                <a:cs typeface="Arial"/>
              </a:rPr>
              <a:t>ay</a:t>
            </a:r>
            <a:r>
              <a:rPr sz="1800" b="1" dirty="0">
                <a:latin typeface="Arial"/>
                <a:cs typeface="Arial"/>
              </a:rPr>
              <a:t>	in	</a:t>
            </a:r>
            <a:r>
              <a:rPr sz="1800" b="1" spc="35" dirty="0">
                <a:latin typeface="Arial"/>
                <a:cs typeface="Arial"/>
              </a:rPr>
              <a:t>w</a:t>
            </a:r>
            <a:r>
              <a:rPr sz="1800" b="1" spc="-10" dirty="0">
                <a:latin typeface="Arial"/>
                <a:cs typeface="Arial"/>
              </a:rPr>
              <a:t>h</a:t>
            </a:r>
            <a:r>
              <a:rPr sz="1800" b="1" dirty="0">
                <a:latin typeface="Arial"/>
                <a:cs typeface="Arial"/>
              </a:rPr>
              <a:t>ich	da</a:t>
            </a:r>
            <a:r>
              <a:rPr sz="1800" b="1" spc="-15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040" y="3654425"/>
            <a:ext cx="8573770" cy="29927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90"/>
              </a:spcBef>
            </a:pPr>
            <a:r>
              <a:rPr sz="2400" b="1" spc="-5" dirty="0">
                <a:latin typeface="Arial"/>
                <a:cs typeface="Arial"/>
              </a:rPr>
              <a:t>Counters:</a:t>
            </a:r>
            <a:endParaRPr sz="24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1800" b="1" spc="-5" dirty="0">
                <a:latin typeface="Arial"/>
                <a:cs typeface="Arial"/>
              </a:rPr>
              <a:t>A circuit used </a:t>
            </a:r>
            <a:r>
              <a:rPr sz="1800" b="1" dirty="0">
                <a:latin typeface="Arial"/>
                <a:cs typeface="Arial"/>
              </a:rPr>
              <a:t>for counting the </a:t>
            </a:r>
            <a:r>
              <a:rPr sz="1800" b="1" spc="-5" dirty="0">
                <a:latin typeface="Arial"/>
                <a:cs typeface="Arial"/>
              </a:rPr>
              <a:t>pulses </a:t>
            </a:r>
            <a:r>
              <a:rPr sz="1800" b="1" dirty="0">
                <a:latin typeface="Arial"/>
                <a:cs typeface="Arial"/>
              </a:rPr>
              <a:t>is </a:t>
            </a:r>
            <a:r>
              <a:rPr sz="1800" b="1" spc="5" dirty="0">
                <a:latin typeface="Arial"/>
                <a:cs typeface="Arial"/>
              </a:rPr>
              <a:t>known </a:t>
            </a:r>
            <a:r>
              <a:rPr sz="1800" b="1" spc="-5" dirty="0">
                <a:latin typeface="Arial"/>
                <a:cs typeface="Arial"/>
              </a:rPr>
              <a:t>as a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counter.</a:t>
            </a:r>
            <a:endParaRPr sz="18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1800" b="1" dirty="0">
                <a:latin typeface="Arial"/>
                <a:cs typeface="Arial"/>
              </a:rPr>
              <a:t>Most </a:t>
            </a:r>
            <a:r>
              <a:rPr sz="1800" b="1" spc="5" dirty="0">
                <a:latin typeface="Arial"/>
                <a:cs typeface="Arial"/>
              </a:rPr>
              <a:t>widely </a:t>
            </a:r>
            <a:r>
              <a:rPr sz="1800" b="1" spc="-5" dirty="0">
                <a:latin typeface="Arial"/>
                <a:cs typeface="Arial"/>
              </a:rPr>
              <a:t>used </a:t>
            </a:r>
            <a:r>
              <a:rPr sz="1800" b="1" dirty="0">
                <a:latin typeface="Arial"/>
                <a:cs typeface="Arial"/>
              </a:rPr>
              <a:t>sequential </a:t>
            </a:r>
            <a:r>
              <a:rPr sz="1800" b="1" spc="-5" dirty="0">
                <a:latin typeface="Arial"/>
                <a:cs typeface="Arial"/>
              </a:rPr>
              <a:t>circuits are registers &amp;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counters.</a:t>
            </a:r>
            <a:endParaRPr sz="18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1800" b="1" spc="-5" dirty="0">
                <a:latin typeface="Arial"/>
                <a:cs typeface="Arial"/>
              </a:rPr>
              <a:t>Counters are composed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Flip-Flops.</a:t>
            </a:r>
            <a:endParaRPr sz="1800">
              <a:latin typeface="Arial"/>
              <a:cs typeface="Arial"/>
            </a:endParaRPr>
          </a:p>
          <a:p>
            <a:pPr marL="419100" marR="81280" indent="-34290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418465" algn="l"/>
                <a:tab pos="419100" algn="l"/>
                <a:tab pos="2697480" algn="l"/>
              </a:tabLst>
            </a:pPr>
            <a:r>
              <a:rPr sz="1800" b="1" dirty="0">
                <a:latin typeface="Arial"/>
                <a:cs typeface="Arial"/>
              </a:rPr>
              <a:t>E.g. </a:t>
            </a:r>
            <a:r>
              <a:rPr sz="1800" b="1" spc="-5" dirty="0">
                <a:latin typeface="Arial"/>
                <a:cs typeface="Arial"/>
              </a:rPr>
              <a:t>A circuit</a:t>
            </a:r>
            <a:r>
              <a:rPr sz="1800" b="1" spc="1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	FF’s </a:t>
            </a:r>
            <a:r>
              <a:rPr sz="1800" b="1" spc="-5" dirty="0">
                <a:latin typeface="Arial"/>
                <a:cs typeface="Arial"/>
              </a:rPr>
              <a:t>has 2</a:t>
            </a:r>
            <a:r>
              <a:rPr sz="1800" b="1" spc="-7" baseline="25462" dirty="0">
                <a:latin typeface="Arial"/>
                <a:cs typeface="Arial"/>
              </a:rPr>
              <a:t>n </a:t>
            </a:r>
            <a:r>
              <a:rPr sz="1800" b="1" dirty="0">
                <a:latin typeface="Arial"/>
                <a:cs typeface="Arial"/>
              </a:rPr>
              <a:t>possible </a:t>
            </a:r>
            <a:r>
              <a:rPr sz="1800" b="1" spc="-5" dirty="0">
                <a:latin typeface="Arial"/>
                <a:cs typeface="Arial"/>
              </a:rPr>
              <a:t>states. Therefore a 3-bit </a:t>
            </a:r>
            <a:r>
              <a:rPr sz="1800" b="1" dirty="0">
                <a:latin typeface="Arial"/>
                <a:cs typeface="Arial"/>
              </a:rPr>
              <a:t>counter  </a:t>
            </a:r>
            <a:r>
              <a:rPr sz="1800" b="1" spc="-5" dirty="0">
                <a:latin typeface="Arial"/>
                <a:cs typeface="Arial"/>
              </a:rPr>
              <a:t>can </a:t>
            </a:r>
            <a:r>
              <a:rPr sz="1800" b="1" dirty="0">
                <a:latin typeface="Arial"/>
                <a:cs typeface="Arial"/>
              </a:rPr>
              <a:t>count from </a:t>
            </a:r>
            <a:r>
              <a:rPr sz="1800" b="1" spc="-5" dirty="0">
                <a:latin typeface="Arial"/>
                <a:cs typeface="Arial"/>
              </a:rPr>
              <a:t>decimal 0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7.</a:t>
            </a:r>
            <a:endParaRPr sz="18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1800" b="1" spc="-5" dirty="0">
                <a:latin typeface="Arial"/>
                <a:cs typeface="Arial"/>
              </a:rPr>
              <a:t>Flip-Flop’s are cleared </a:t>
            </a:r>
            <a:r>
              <a:rPr sz="1800" b="1" spc="5" dirty="0">
                <a:latin typeface="Arial"/>
                <a:cs typeface="Arial"/>
              </a:rPr>
              <a:t>by </a:t>
            </a:r>
            <a:r>
              <a:rPr sz="1800" b="1" spc="-5" dirty="0">
                <a:latin typeface="Arial"/>
                <a:cs typeface="Arial"/>
              </a:rPr>
              <a:t>applying logic </a:t>
            </a:r>
            <a:r>
              <a:rPr sz="1800" b="1" dirty="0">
                <a:latin typeface="Arial"/>
                <a:cs typeface="Arial"/>
              </a:rPr>
              <a:t>0 </a:t>
            </a:r>
            <a:r>
              <a:rPr sz="1800" b="1" spc="-5" dirty="0">
                <a:latin typeface="Arial"/>
                <a:cs typeface="Arial"/>
              </a:rPr>
              <a:t>at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clear </a:t>
            </a:r>
            <a:r>
              <a:rPr sz="1800" b="1" dirty="0">
                <a:latin typeface="Arial"/>
                <a:cs typeface="Arial"/>
              </a:rPr>
              <a:t>input</a:t>
            </a:r>
            <a:r>
              <a:rPr sz="1800" b="1" spc="3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terminal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momentarily.</a:t>
            </a:r>
            <a:endParaRPr sz="1800">
              <a:latin typeface="Arial"/>
              <a:cs typeface="Arial"/>
            </a:endParaRPr>
          </a:p>
          <a:p>
            <a:pPr marL="419100" indent="-34290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normal </a:t>
            </a:r>
            <a:r>
              <a:rPr sz="1800" b="1" dirty="0">
                <a:latin typeface="Arial"/>
                <a:cs typeface="Arial"/>
              </a:rPr>
              <a:t>counting operation, it is maintained </a:t>
            </a:r>
            <a:r>
              <a:rPr sz="1800" b="1" spc="-5" dirty="0">
                <a:latin typeface="Arial"/>
                <a:cs typeface="Arial"/>
              </a:rPr>
              <a:t>at </a:t>
            </a:r>
            <a:r>
              <a:rPr sz="1800" b="1" dirty="0">
                <a:latin typeface="Arial"/>
                <a:cs typeface="Arial"/>
              </a:rPr>
              <a:t>logic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364" y="110998"/>
            <a:ext cx="6349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Arial"/>
                <a:cs typeface="Arial"/>
              </a:rPr>
              <a:t>Basic shift register</a:t>
            </a:r>
            <a:r>
              <a:rPr b="0" spc="20" dirty="0">
                <a:latin typeface="Arial"/>
                <a:cs typeface="Arial"/>
              </a:rPr>
              <a:t> </a:t>
            </a:r>
            <a:r>
              <a:rPr b="0" spc="-5" dirty="0">
                <a:latin typeface="Arial"/>
                <a:cs typeface="Arial"/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920171"/>
            <a:ext cx="8149590" cy="51390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 register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a digital circuit with basic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functions:</a:t>
            </a:r>
            <a:endParaRPr sz="2000">
              <a:latin typeface="Arial"/>
              <a:cs typeface="Arial"/>
            </a:endParaRPr>
          </a:p>
          <a:p>
            <a:pPr marL="756285" lvl="1" indent="-343535">
              <a:lnSpc>
                <a:spcPct val="100000"/>
              </a:lnSpc>
              <a:spcBef>
                <a:spcPts val="630"/>
              </a:spcBef>
              <a:buFont typeface="Wingdings"/>
              <a:buChar char=""/>
              <a:tabLst>
                <a:tab pos="756285" algn="l"/>
                <a:tab pos="756920" algn="l"/>
              </a:tabLst>
            </a:pPr>
            <a:r>
              <a:rPr sz="1600" spc="-10" dirty="0">
                <a:latin typeface="Arial"/>
                <a:cs typeface="Arial"/>
              </a:rPr>
              <a:t>Data </a:t>
            </a:r>
            <a:r>
              <a:rPr sz="1600" spc="-5" dirty="0">
                <a:latin typeface="Arial"/>
                <a:cs typeface="Arial"/>
              </a:rPr>
              <a:t>storage and </a:t>
            </a:r>
            <a:r>
              <a:rPr sz="1600" spc="-10" dirty="0">
                <a:latin typeface="Arial"/>
                <a:cs typeface="Arial"/>
              </a:rPr>
              <a:t>Data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movement</a:t>
            </a:r>
            <a:endParaRPr sz="1600">
              <a:latin typeface="Arial"/>
              <a:cs typeface="Arial"/>
            </a:endParaRPr>
          </a:p>
          <a:p>
            <a:pPr marL="355600" marR="5715" indent="-342900">
              <a:lnSpc>
                <a:spcPct val="110000"/>
              </a:lnSpc>
              <a:spcBef>
                <a:spcPts val="43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storage </a:t>
            </a:r>
            <a:r>
              <a:rPr sz="2000" dirty="0">
                <a:latin typeface="Arial"/>
                <a:cs typeface="Arial"/>
              </a:rPr>
              <a:t>capacity of a </a:t>
            </a:r>
            <a:r>
              <a:rPr sz="2000" spc="-5" dirty="0">
                <a:latin typeface="Arial"/>
                <a:cs typeface="Arial"/>
              </a:rPr>
              <a:t>register is the total number </a:t>
            </a:r>
            <a:r>
              <a:rPr sz="2000" dirty="0">
                <a:latin typeface="Arial"/>
                <a:cs typeface="Arial"/>
              </a:rPr>
              <a:t>of bits </a:t>
            </a:r>
            <a:r>
              <a:rPr sz="2000" spc="-5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can  retain.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Shift registers consists of an arrangement of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flips-flops.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Each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stage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(flip-flop)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shift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register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represents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one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bit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storage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capacity.</a:t>
            </a:r>
            <a:endParaRPr sz="2000">
              <a:latin typeface="Arial"/>
              <a:cs typeface="Arial"/>
            </a:endParaRPr>
          </a:p>
          <a:p>
            <a:pPr marL="355600" marR="6985" indent="-342900" algn="just">
              <a:lnSpc>
                <a:spcPct val="11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shifting capacity </a:t>
            </a:r>
            <a:r>
              <a:rPr sz="2000" spc="-5" dirty="0">
                <a:latin typeface="Arial"/>
                <a:cs typeface="Arial"/>
              </a:rPr>
              <a:t>permits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movement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data from stage </a:t>
            </a:r>
            <a:r>
              <a:rPr sz="2000" spc="-10" dirty="0">
                <a:latin typeface="Arial"/>
                <a:cs typeface="Arial"/>
              </a:rPr>
              <a:t>to  </a:t>
            </a:r>
            <a:r>
              <a:rPr sz="2000" dirty="0">
                <a:latin typeface="Arial"/>
                <a:cs typeface="Arial"/>
              </a:rPr>
              <a:t>stage within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register </a:t>
            </a:r>
            <a:r>
              <a:rPr sz="2000" spc="-10" dirty="0">
                <a:latin typeface="Arial"/>
                <a:cs typeface="Arial"/>
              </a:rPr>
              <a:t>or </a:t>
            </a:r>
            <a:r>
              <a:rPr sz="2000" dirty="0">
                <a:latin typeface="Arial"/>
                <a:cs typeface="Arial"/>
              </a:rPr>
              <a:t>into or </a:t>
            </a:r>
            <a:r>
              <a:rPr sz="2000" spc="-5" dirty="0">
                <a:latin typeface="Arial"/>
                <a:cs typeface="Arial"/>
              </a:rPr>
              <a:t>out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register </a:t>
            </a:r>
            <a:r>
              <a:rPr sz="2000" dirty="0">
                <a:latin typeface="Arial"/>
                <a:cs typeface="Arial"/>
              </a:rPr>
              <a:t>upon </a:t>
            </a:r>
            <a:r>
              <a:rPr sz="2000" spc="-5" dirty="0">
                <a:latin typeface="Arial"/>
                <a:cs typeface="Arial"/>
              </a:rPr>
              <a:t>application  </a:t>
            </a:r>
            <a:r>
              <a:rPr sz="2000" dirty="0">
                <a:latin typeface="Arial"/>
                <a:cs typeface="Arial"/>
              </a:rPr>
              <a:t>of clock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pulses.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1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basic difference between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5" dirty="0">
                <a:latin typeface="Arial"/>
                <a:cs typeface="Arial"/>
              </a:rPr>
              <a:t>register and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5" dirty="0">
                <a:latin typeface="Arial"/>
                <a:cs typeface="Arial"/>
              </a:rPr>
              <a:t>counter is </a:t>
            </a:r>
            <a:r>
              <a:rPr sz="2000" spc="-10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a  </a:t>
            </a:r>
            <a:r>
              <a:rPr sz="2000" spc="-5" dirty="0">
                <a:latin typeface="Arial"/>
                <a:cs typeface="Arial"/>
              </a:rPr>
              <a:t>register has </a:t>
            </a:r>
            <a:r>
              <a:rPr sz="2000" dirty="0">
                <a:latin typeface="Arial"/>
                <a:cs typeface="Arial"/>
              </a:rPr>
              <a:t>no </a:t>
            </a:r>
            <a:r>
              <a:rPr sz="2000" spc="-5" dirty="0">
                <a:latin typeface="Arial"/>
                <a:cs typeface="Arial"/>
              </a:rPr>
              <a:t>specified </a:t>
            </a:r>
            <a:r>
              <a:rPr sz="2000" dirty="0">
                <a:latin typeface="Arial"/>
                <a:cs typeface="Arial"/>
              </a:rPr>
              <a:t>sequence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states, </a:t>
            </a:r>
            <a:r>
              <a:rPr sz="2000" spc="-5" dirty="0">
                <a:latin typeface="Arial"/>
                <a:cs typeface="Arial"/>
              </a:rPr>
              <a:t>except in </a:t>
            </a:r>
            <a:r>
              <a:rPr sz="2000" dirty="0">
                <a:latin typeface="Arial"/>
                <a:cs typeface="Arial"/>
              </a:rPr>
              <a:t>certain </a:t>
            </a:r>
            <a:r>
              <a:rPr sz="2000" spc="-5" dirty="0">
                <a:latin typeface="Arial"/>
                <a:cs typeface="Arial"/>
              </a:rPr>
              <a:t>very  </a:t>
            </a:r>
            <a:r>
              <a:rPr sz="2000" dirty="0">
                <a:latin typeface="Arial"/>
                <a:cs typeface="Arial"/>
              </a:rPr>
              <a:t>specialized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applications.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 register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used solely for storing and shifting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290" y="483234"/>
            <a:ext cx="79508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Serial in/serial out shift</a:t>
            </a:r>
            <a:r>
              <a:rPr sz="4400" b="0" spc="-7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registers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79025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Arial"/>
                <a:cs typeface="Arial"/>
              </a:rPr>
              <a:t>It accepts </a:t>
            </a:r>
            <a:r>
              <a:rPr sz="3000" spc="-5" dirty="0">
                <a:latin typeface="Arial"/>
                <a:cs typeface="Arial"/>
              </a:rPr>
              <a:t>data </a:t>
            </a:r>
            <a:r>
              <a:rPr sz="3000" dirty="0">
                <a:latin typeface="Arial"/>
                <a:cs typeface="Arial"/>
              </a:rPr>
              <a:t>serially, </a:t>
            </a:r>
            <a:r>
              <a:rPr sz="3000" spc="-5" dirty="0">
                <a:latin typeface="Arial"/>
                <a:cs typeface="Arial"/>
              </a:rPr>
              <a:t>one bit </a:t>
            </a:r>
            <a:r>
              <a:rPr sz="3000" dirty="0">
                <a:latin typeface="Arial"/>
                <a:cs typeface="Arial"/>
              </a:rPr>
              <a:t>at </a:t>
            </a:r>
            <a:r>
              <a:rPr sz="3000" spc="-5" dirty="0">
                <a:latin typeface="Arial"/>
                <a:cs typeface="Arial"/>
              </a:rPr>
              <a:t>a </a:t>
            </a:r>
            <a:r>
              <a:rPr sz="3000" dirty="0">
                <a:latin typeface="Arial"/>
                <a:cs typeface="Arial"/>
              </a:rPr>
              <a:t>time </a:t>
            </a:r>
            <a:r>
              <a:rPr sz="3000" spc="-5" dirty="0">
                <a:latin typeface="Arial"/>
                <a:cs typeface="Arial"/>
              </a:rPr>
              <a:t>on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a  </a:t>
            </a:r>
            <a:r>
              <a:rPr sz="3000" dirty="0">
                <a:latin typeface="Arial"/>
                <a:cs typeface="Arial"/>
              </a:rPr>
              <a:t>single line, </a:t>
            </a:r>
            <a:r>
              <a:rPr sz="3000" spc="-5" dirty="0">
                <a:latin typeface="Arial"/>
                <a:cs typeface="Arial"/>
              </a:rPr>
              <a:t>and produces </a:t>
            </a:r>
            <a:r>
              <a:rPr sz="3000" dirty="0">
                <a:latin typeface="Arial"/>
                <a:cs typeface="Arial"/>
              </a:rPr>
              <a:t>the </a:t>
            </a:r>
            <a:r>
              <a:rPr sz="3000" spc="-5" dirty="0">
                <a:latin typeface="Arial"/>
                <a:cs typeface="Arial"/>
              </a:rPr>
              <a:t>sorted  information on </a:t>
            </a:r>
            <a:r>
              <a:rPr sz="3000" dirty="0">
                <a:latin typeface="Arial"/>
                <a:cs typeface="Arial"/>
              </a:rPr>
              <a:t>its output </a:t>
            </a:r>
            <a:r>
              <a:rPr sz="3000" spc="-5" dirty="0">
                <a:latin typeface="Arial"/>
                <a:cs typeface="Arial"/>
              </a:rPr>
              <a:t>also in a serial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form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1244" y="3785615"/>
            <a:ext cx="5653405" cy="1654810"/>
            <a:chOff x="1571244" y="3785615"/>
            <a:chExt cx="5653405" cy="1654810"/>
          </a:xfrm>
        </p:grpSpPr>
        <p:sp>
          <p:nvSpPr>
            <p:cNvPr id="5" name="object 5"/>
            <p:cNvSpPr/>
            <p:nvPr/>
          </p:nvSpPr>
          <p:spPr>
            <a:xfrm>
              <a:off x="1645920" y="3860291"/>
              <a:ext cx="5578602" cy="15796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1244" y="3785615"/>
              <a:ext cx="5577839" cy="15788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290" y="483234"/>
            <a:ext cx="79508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Serial in/serial out shift</a:t>
            </a:r>
            <a:r>
              <a:rPr sz="4400" b="0" spc="-7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registers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87602"/>
            <a:ext cx="7155180" cy="188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4 bit register</a:t>
            </a:r>
            <a:endParaRPr sz="22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It needs 4 </a:t>
            </a:r>
            <a:r>
              <a:rPr sz="2200" dirty="0">
                <a:latin typeface="Arial"/>
                <a:cs typeface="Arial"/>
              </a:rPr>
              <a:t>clock </a:t>
            </a:r>
            <a:r>
              <a:rPr sz="2200" spc="-5" dirty="0">
                <a:latin typeface="Arial"/>
                <a:cs typeface="Arial"/>
              </a:rPr>
              <a:t>pulses to store 4</a:t>
            </a:r>
            <a:r>
              <a:rPr sz="2200" spc="4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bits</a:t>
            </a:r>
            <a:endParaRPr sz="22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Example:</a:t>
            </a:r>
            <a:endParaRPr sz="2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Illustrate entry of the 4 bits 1010 into the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register.</a:t>
            </a:r>
            <a:endParaRPr sz="2000">
              <a:latin typeface="Arial"/>
              <a:cs typeface="Arial"/>
            </a:endParaRPr>
          </a:p>
          <a:p>
            <a:pPr marL="756285" marR="5080" lvl="1" indent="-287020">
              <a:lnSpc>
                <a:spcPts val="1920"/>
              </a:lnSpc>
              <a:spcBef>
                <a:spcPts val="464"/>
              </a:spcBef>
              <a:buChar char="–"/>
              <a:tabLst>
                <a:tab pos="756285" algn="l"/>
                <a:tab pos="756920" algn="l"/>
                <a:tab pos="1855470" algn="l"/>
              </a:tabLst>
            </a:pPr>
            <a:r>
              <a:rPr sz="2000" dirty="0">
                <a:latin typeface="Arial"/>
                <a:cs typeface="Arial"/>
              </a:rPr>
              <a:t>Illustrate	serially shifting the 4 bits out of the register,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i.e.  clearing 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register.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127" y="3572255"/>
            <a:ext cx="8312784" cy="2924175"/>
            <a:chOff x="643127" y="3572255"/>
            <a:chExt cx="8312784" cy="2924175"/>
          </a:xfrm>
        </p:grpSpPr>
        <p:sp>
          <p:nvSpPr>
            <p:cNvPr id="5" name="object 5"/>
            <p:cNvSpPr/>
            <p:nvPr/>
          </p:nvSpPr>
          <p:spPr>
            <a:xfrm>
              <a:off x="717803" y="3646931"/>
              <a:ext cx="8237982" cy="284911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127" y="3572255"/>
              <a:ext cx="8237220" cy="28483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902" y="26923"/>
            <a:ext cx="4789298" cy="635000"/>
          </a:xfrm>
        </p:spPr>
        <p:txBody>
          <a:bodyPr/>
          <a:lstStyle/>
          <a:p>
            <a:r>
              <a:rPr lang="en-US" dirty="0" smtClean="0"/>
              <a:t>SISO Shift Register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5728955" cy="196748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187729"/>
              </p:ext>
            </p:extLst>
          </p:nvPr>
        </p:nvGraphicFramePr>
        <p:xfrm>
          <a:off x="6795755" y="661923"/>
          <a:ext cx="1981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1531415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4254397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00479141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</a:t>
                      </a:r>
                      <a:endParaRPr lang="en-US" sz="3200" b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3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4373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01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91749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11182"/>
              </p:ext>
            </p:extLst>
          </p:nvPr>
        </p:nvGraphicFramePr>
        <p:xfrm>
          <a:off x="533400" y="3134498"/>
          <a:ext cx="2971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1802473259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300020607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324140093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505992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 err="1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Ck</a:t>
                      </a:r>
                      <a:endParaRPr lang="en-US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Q2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Q1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Q0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2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24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55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362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0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2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04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6960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11023"/>
            <a:ext cx="8024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Example: </a:t>
            </a:r>
            <a:r>
              <a:rPr sz="2400" b="0" spc="-5" dirty="0">
                <a:latin typeface="Arial"/>
                <a:cs typeface="Arial"/>
              </a:rPr>
              <a:t>Show </a:t>
            </a:r>
            <a:r>
              <a:rPr sz="2400" b="0" dirty="0">
                <a:latin typeface="Arial"/>
                <a:cs typeface="Arial"/>
              </a:rPr>
              <a:t>the states of the </a:t>
            </a:r>
            <a:r>
              <a:rPr sz="2400" b="0" spc="-5" dirty="0">
                <a:latin typeface="Arial"/>
                <a:cs typeface="Arial"/>
              </a:rPr>
              <a:t>5-bit shift register </a:t>
            </a:r>
            <a:r>
              <a:rPr sz="2400" b="0" dirty="0">
                <a:latin typeface="Arial"/>
                <a:cs typeface="Arial"/>
              </a:rPr>
              <a:t>for the  </a:t>
            </a:r>
            <a:r>
              <a:rPr sz="2400" b="0" spc="-5" dirty="0">
                <a:latin typeface="Arial"/>
                <a:cs typeface="Arial"/>
              </a:rPr>
              <a:t>specified data input and clock </a:t>
            </a:r>
            <a:r>
              <a:rPr sz="2400" b="0" dirty="0">
                <a:latin typeface="Arial"/>
                <a:cs typeface="Arial"/>
              </a:rPr>
              <a:t>waveforms. </a:t>
            </a:r>
            <a:r>
              <a:rPr sz="2400" b="0" spc="-5">
                <a:latin typeface="Arial"/>
                <a:cs typeface="Arial"/>
              </a:rPr>
              <a:t>The </a:t>
            </a:r>
            <a:r>
              <a:rPr sz="2400" b="0" spc="-5" smtClean="0">
                <a:latin typeface="Arial"/>
                <a:cs typeface="Arial"/>
              </a:rPr>
              <a:t>register </a:t>
            </a:r>
            <a:r>
              <a:rPr sz="2400" b="0" spc="-5" dirty="0">
                <a:latin typeface="Arial"/>
                <a:cs typeface="Arial"/>
              </a:rPr>
              <a:t>is  initially</a:t>
            </a:r>
            <a:r>
              <a:rPr sz="2400" b="0" spc="30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cleared.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8011" y="1571242"/>
            <a:ext cx="7893684" cy="5257165"/>
            <a:chOff x="858011" y="1571242"/>
            <a:chExt cx="7893684" cy="5257165"/>
          </a:xfrm>
        </p:grpSpPr>
        <p:sp>
          <p:nvSpPr>
            <p:cNvPr id="4" name="object 4"/>
            <p:cNvSpPr/>
            <p:nvPr/>
          </p:nvSpPr>
          <p:spPr>
            <a:xfrm>
              <a:off x="932687" y="1645920"/>
              <a:ext cx="7818881" cy="51823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8011" y="1571242"/>
              <a:ext cx="7818120" cy="518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188" y="147955"/>
            <a:ext cx="611695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 marR="5080" indent="-1974214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Serial in/parallel out</a:t>
            </a:r>
            <a:r>
              <a:rPr sz="4400" b="0" spc="-8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shift  registers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7925434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Data </a:t>
            </a:r>
            <a:r>
              <a:rPr sz="3200" spc="-5" dirty="0">
                <a:latin typeface="Arial"/>
                <a:cs typeface="Arial"/>
              </a:rPr>
              <a:t>bits </a:t>
            </a:r>
            <a:r>
              <a:rPr sz="3200" dirty="0">
                <a:latin typeface="Arial"/>
                <a:cs typeface="Arial"/>
              </a:rPr>
              <a:t>are </a:t>
            </a:r>
            <a:r>
              <a:rPr sz="3200" spc="-5" dirty="0">
                <a:latin typeface="Arial"/>
                <a:cs typeface="Arial"/>
              </a:rPr>
              <a:t>entered </a:t>
            </a:r>
            <a:r>
              <a:rPr sz="3200" dirty="0">
                <a:latin typeface="Arial"/>
                <a:cs typeface="Arial"/>
              </a:rPr>
              <a:t>serially as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illustrated  </a:t>
            </a:r>
            <a:r>
              <a:rPr sz="3200" dirty="0">
                <a:latin typeface="Arial"/>
                <a:cs typeface="Arial"/>
              </a:rPr>
              <a:t>before</a:t>
            </a:r>
            <a:endParaRPr sz="3200">
              <a:latin typeface="Arial"/>
              <a:cs typeface="Arial"/>
            </a:endParaRPr>
          </a:p>
          <a:p>
            <a:pPr marL="355600" marR="275590" indent="-343535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Once </a:t>
            </a:r>
            <a:r>
              <a:rPr sz="3200" spc="-5" dirty="0">
                <a:latin typeface="Arial"/>
                <a:cs typeface="Arial"/>
              </a:rPr>
              <a:t>the data are </a:t>
            </a:r>
            <a:r>
              <a:rPr sz="3200" dirty="0">
                <a:latin typeface="Arial"/>
                <a:cs typeface="Arial"/>
              </a:rPr>
              <a:t>stored, </a:t>
            </a:r>
            <a:r>
              <a:rPr sz="3200" spc="-5" dirty="0">
                <a:latin typeface="Arial"/>
                <a:cs typeface="Arial"/>
              </a:rPr>
              <a:t>the output of  each </a:t>
            </a:r>
            <a:r>
              <a:rPr sz="3200" dirty="0">
                <a:latin typeface="Arial"/>
                <a:cs typeface="Arial"/>
              </a:rPr>
              <a:t>stage is </a:t>
            </a:r>
            <a:r>
              <a:rPr sz="3200" spc="-5" dirty="0">
                <a:latin typeface="Arial"/>
                <a:cs typeface="Arial"/>
              </a:rPr>
              <a:t>available </a:t>
            </a:r>
            <a:r>
              <a:rPr sz="3200" dirty="0">
                <a:latin typeface="Arial"/>
                <a:cs typeface="Arial"/>
              </a:rPr>
              <a:t>on its </a:t>
            </a:r>
            <a:r>
              <a:rPr sz="3200" spc="-5" dirty="0">
                <a:latin typeface="Arial"/>
                <a:cs typeface="Arial"/>
              </a:rPr>
              <a:t>output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line.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29383" y="3928871"/>
            <a:ext cx="4932680" cy="2649855"/>
            <a:chOff x="1929383" y="3928871"/>
            <a:chExt cx="4932680" cy="2649855"/>
          </a:xfrm>
        </p:grpSpPr>
        <p:sp>
          <p:nvSpPr>
            <p:cNvPr id="5" name="object 5"/>
            <p:cNvSpPr/>
            <p:nvPr/>
          </p:nvSpPr>
          <p:spPr>
            <a:xfrm>
              <a:off x="2004059" y="4003547"/>
              <a:ext cx="4857749" cy="25747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9383" y="3928871"/>
              <a:ext cx="4856988" cy="25740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0077" y="263093"/>
            <a:ext cx="3324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Shift</a:t>
            </a:r>
            <a:r>
              <a:rPr spc="-60" dirty="0"/>
              <a:t> </a:t>
            </a:r>
            <a:r>
              <a:rPr spc="-5" dirty="0"/>
              <a:t>Register</a:t>
            </a:r>
          </a:p>
        </p:txBody>
      </p:sp>
      <p:sp>
        <p:nvSpPr>
          <p:cNvPr id="3" name="object 3"/>
          <p:cNvSpPr/>
          <p:nvPr/>
        </p:nvSpPr>
        <p:spPr>
          <a:xfrm>
            <a:off x="482525" y="1263909"/>
            <a:ext cx="8233440" cy="48269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188" y="147955"/>
            <a:ext cx="611695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 marR="5080" indent="-1974214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Serial in/parallel out</a:t>
            </a:r>
            <a:r>
              <a:rPr sz="4400" b="0" spc="-8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shift  registers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26263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"/>
                <a:cs typeface="Arial"/>
              </a:rPr>
              <a:t>4-bit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register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4755" y="2857500"/>
            <a:ext cx="7425690" cy="3237865"/>
            <a:chOff x="714755" y="2857500"/>
            <a:chExt cx="7425690" cy="3237865"/>
          </a:xfrm>
        </p:grpSpPr>
        <p:sp>
          <p:nvSpPr>
            <p:cNvPr id="5" name="object 5"/>
            <p:cNvSpPr/>
            <p:nvPr/>
          </p:nvSpPr>
          <p:spPr>
            <a:xfrm>
              <a:off x="789431" y="2932176"/>
              <a:ext cx="7351014" cy="31630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4755" y="2857500"/>
              <a:ext cx="7350252" cy="3162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642" y="1311655"/>
            <a:ext cx="8327390" cy="265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287020">
              <a:lnSpc>
                <a:spcPct val="100000"/>
              </a:lnSpc>
              <a:spcBef>
                <a:spcPts val="10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The bits </a:t>
            </a:r>
            <a:r>
              <a:rPr sz="2400" spc="-5" dirty="0">
                <a:latin typeface="Arial"/>
                <a:cs typeface="Arial"/>
              </a:rPr>
              <a:t>are entered simultaneously into their respective  </a:t>
            </a:r>
            <a:r>
              <a:rPr sz="2400" dirty="0">
                <a:latin typeface="Arial"/>
                <a:cs typeface="Arial"/>
              </a:rPr>
              <a:t>stages.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serial </a:t>
            </a:r>
            <a:r>
              <a:rPr sz="2400" dirty="0">
                <a:latin typeface="Arial"/>
                <a:cs typeface="Arial"/>
              </a:rPr>
              <a:t>output </a:t>
            </a:r>
            <a:r>
              <a:rPr sz="2400" spc="-5" dirty="0">
                <a:latin typeface="Arial"/>
                <a:cs typeface="Arial"/>
              </a:rPr>
              <a:t>appears bit by bit per clock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pulse.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store 4 bits, </a:t>
            </a:r>
            <a:r>
              <a:rPr sz="2400" spc="-1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need 1 clock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pulse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shift </a:t>
            </a:r>
            <a:r>
              <a:rPr sz="2400" dirty="0">
                <a:latin typeface="Arial"/>
                <a:cs typeface="Arial"/>
              </a:rPr>
              <a:t>them out them, </a:t>
            </a:r>
            <a:r>
              <a:rPr sz="2400" spc="-5" dirty="0">
                <a:latin typeface="Arial"/>
                <a:cs typeface="Arial"/>
              </a:rPr>
              <a:t>we need another 3 clock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pulses.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4-bit parallel in/serial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out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6741" y="147955"/>
            <a:ext cx="6427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Parallel In/Serial Out</a:t>
            </a:r>
            <a:r>
              <a:rPr sz="4400" b="0" spc="-80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Shift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77946" y="818514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Registers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00883" y="4357115"/>
            <a:ext cx="5220970" cy="2302510"/>
            <a:chOff x="2500883" y="4357115"/>
            <a:chExt cx="5220970" cy="2302510"/>
          </a:xfrm>
        </p:grpSpPr>
        <p:sp>
          <p:nvSpPr>
            <p:cNvPr id="6" name="object 6"/>
            <p:cNvSpPr/>
            <p:nvPr/>
          </p:nvSpPr>
          <p:spPr>
            <a:xfrm>
              <a:off x="2575559" y="4431791"/>
              <a:ext cx="5145786" cy="22273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00883" y="4357115"/>
              <a:ext cx="5145024" cy="22265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593" y="147955"/>
            <a:ext cx="7276465" cy="162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0" marR="5080" indent="-2021205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Parallel In/Serial Out</a:t>
            </a:r>
            <a:r>
              <a:rPr sz="4400" b="0" spc="-80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Shift  Registers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ts val="2039"/>
              </a:lnSpc>
            </a:pPr>
            <a:r>
              <a:rPr sz="2400" b="0" spc="-5" dirty="0">
                <a:latin typeface="Arial"/>
                <a:cs typeface="Arial"/>
              </a:rPr>
              <a:t>4-bit parallel in/serial</a:t>
            </a:r>
            <a:r>
              <a:rPr sz="2400" b="0" spc="50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out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5195" y="2357627"/>
            <a:ext cx="8437880" cy="4337050"/>
            <a:chOff x="425195" y="2357627"/>
            <a:chExt cx="8437880" cy="4337050"/>
          </a:xfrm>
        </p:grpSpPr>
        <p:sp>
          <p:nvSpPr>
            <p:cNvPr id="4" name="object 4"/>
            <p:cNvSpPr/>
            <p:nvPr/>
          </p:nvSpPr>
          <p:spPr>
            <a:xfrm>
              <a:off x="499871" y="2432303"/>
              <a:ext cx="8362950" cy="42618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5195" y="2357627"/>
              <a:ext cx="8362188" cy="42611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5549"/>
            <a:ext cx="792734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The bits </a:t>
            </a:r>
            <a:r>
              <a:rPr sz="2400" dirty="0">
                <a:latin typeface="Arial"/>
                <a:cs typeface="Arial"/>
              </a:rPr>
              <a:t>are </a:t>
            </a:r>
            <a:r>
              <a:rPr sz="2400" spc="-5" dirty="0">
                <a:latin typeface="Arial"/>
                <a:cs typeface="Arial"/>
              </a:rPr>
              <a:t>entered simultaneously into their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respective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stages.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Immediately,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bits appear on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parallel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0358" y="147955"/>
            <a:ext cx="686117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9805" marR="5080" indent="-223774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Parallel In/Parallel Out</a:t>
            </a:r>
            <a:r>
              <a:rPr sz="4400" b="0" spc="-9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Shift  Registers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54451" y="4357115"/>
            <a:ext cx="5135245" cy="2230755"/>
            <a:chOff x="2854451" y="4357115"/>
            <a:chExt cx="5135245" cy="2230755"/>
          </a:xfrm>
        </p:grpSpPr>
        <p:sp>
          <p:nvSpPr>
            <p:cNvPr id="5" name="object 5"/>
            <p:cNvSpPr/>
            <p:nvPr/>
          </p:nvSpPr>
          <p:spPr>
            <a:xfrm>
              <a:off x="2929127" y="4431791"/>
              <a:ext cx="5060441" cy="21556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54451" y="4357115"/>
              <a:ext cx="5059680" cy="21549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07465" y="4669917"/>
            <a:ext cx="1685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4-bit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version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593" y="1092834"/>
            <a:ext cx="25825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4-bit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version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2752" y="1650"/>
            <a:ext cx="62350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7239" marR="5080" indent="-2035175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Arial"/>
                <a:cs typeface="Arial"/>
              </a:rPr>
              <a:t>Parallel In/Parallel Out Shift  Registers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4400" y="1981200"/>
            <a:ext cx="7590790" cy="4528820"/>
            <a:chOff x="914400" y="1981200"/>
            <a:chExt cx="7590790" cy="4528820"/>
          </a:xfrm>
        </p:grpSpPr>
        <p:sp>
          <p:nvSpPr>
            <p:cNvPr id="5" name="object 5"/>
            <p:cNvSpPr/>
            <p:nvPr/>
          </p:nvSpPr>
          <p:spPr>
            <a:xfrm>
              <a:off x="989076" y="2055876"/>
              <a:ext cx="7515606" cy="445389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1981200"/>
              <a:ext cx="7514844" cy="44531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541" y="483234"/>
            <a:ext cx="6581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Bidirectional Shift</a:t>
            </a:r>
            <a:r>
              <a:rPr sz="4400" b="0" spc="-8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Register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8016875" cy="2016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A </a:t>
            </a:r>
            <a:r>
              <a:rPr sz="3200" spc="-5" dirty="0">
                <a:latin typeface="Arial"/>
                <a:cs typeface="Arial"/>
              </a:rPr>
              <a:t>bidirectional </a:t>
            </a:r>
            <a:r>
              <a:rPr sz="3200" dirty="0">
                <a:latin typeface="Arial"/>
                <a:cs typeface="Arial"/>
              </a:rPr>
              <a:t>shift register is </a:t>
            </a:r>
            <a:r>
              <a:rPr sz="3200" spc="-5" dirty="0">
                <a:latin typeface="Arial"/>
                <a:cs typeface="Arial"/>
              </a:rPr>
              <a:t>one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which  the </a:t>
            </a:r>
            <a:r>
              <a:rPr sz="3200" spc="-5" dirty="0">
                <a:latin typeface="Arial"/>
                <a:cs typeface="Arial"/>
              </a:rPr>
              <a:t>data </a:t>
            </a:r>
            <a:r>
              <a:rPr sz="3200" dirty="0">
                <a:latin typeface="Arial"/>
                <a:cs typeface="Arial"/>
              </a:rPr>
              <a:t>can </a:t>
            </a:r>
            <a:r>
              <a:rPr sz="3200" spc="-10" dirty="0">
                <a:latin typeface="Arial"/>
                <a:cs typeface="Arial"/>
              </a:rPr>
              <a:t>be </a:t>
            </a:r>
            <a:r>
              <a:rPr sz="3200" spc="-5" dirty="0">
                <a:latin typeface="Arial"/>
                <a:cs typeface="Arial"/>
              </a:rPr>
              <a:t>shifted either left or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right.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400">
              <a:latin typeface="Arial"/>
              <a:cs typeface="Arial"/>
            </a:endParaRPr>
          </a:p>
          <a:p>
            <a:pPr marL="912494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4-bit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version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14244" y="4000500"/>
            <a:ext cx="3714750" cy="1873885"/>
            <a:chOff x="2714244" y="4000500"/>
            <a:chExt cx="3714750" cy="1873885"/>
          </a:xfrm>
        </p:grpSpPr>
        <p:sp>
          <p:nvSpPr>
            <p:cNvPr id="5" name="object 5"/>
            <p:cNvSpPr/>
            <p:nvPr/>
          </p:nvSpPr>
          <p:spPr>
            <a:xfrm>
              <a:off x="2788920" y="4075176"/>
              <a:ext cx="3640074" cy="17990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14244" y="4000500"/>
              <a:ext cx="3639311" cy="17983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1109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03503"/>
            <a:ext cx="8705850" cy="51473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Applications </a:t>
            </a:r>
            <a:r>
              <a:rPr sz="2000" b="1" spc="-5" dirty="0">
                <a:latin typeface="Arial"/>
                <a:cs typeface="Arial"/>
              </a:rPr>
              <a:t>of Shift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Registers: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sz="2000" b="1" spc="-5" dirty="0">
                <a:latin typeface="Arial"/>
                <a:cs typeface="Arial"/>
              </a:rPr>
              <a:t>Time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Delays: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time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delay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can</a:t>
            </a:r>
            <a:r>
              <a:rPr sz="2000" b="1" spc="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adjusted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by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controlling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the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number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stages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register.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using </a:t>
            </a:r>
            <a:r>
              <a:rPr sz="2000" b="1" spc="-5" dirty="0">
                <a:latin typeface="Arial"/>
                <a:cs typeface="Arial"/>
              </a:rPr>
              <a:t>serial-in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5" dirty="0">
                <a:latin typeface="Arial"/>
                <a:cs typeface="Arial"/>
              </a:rPr>
              <a:t>parallel-out registers </a:t>
            </a:r>
            <a:r>
              <a:rPr sz="2000" b="1" dirty="0">
                <a:latin typeface="Arial"/>
                <a:cs typeface="Arial"/>
              </a:rPr>
              <a:t>and by taking the serial  output </a:t>
            </a:r>
            <a:r>
              <a:rPr sz="2000" b="1" spc="-10" dirty="0">
                <a:latin typeface="Arial"/>
                <a:cs typeface="Arial"/>
              </a:rPr>
              <a:t>at </a:t>
            </a:r>
            <a:r>
              <a:rPr sz="2000" b="1" spc="-5" dirty="0">
                <a:latin typeface="Arial"/>
                <a:cs typeface="Arial"/>
              </a:rPr>
              <a:t>any one 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intermediate </a:t>
            </a:r>
            <a:r>
              <a:rPr sz="2000" b="1" dirty="0">
                <a:latin typeface="Arial"/>
                <a:cs typeface="Arial"/>
              </a:rPr>
              <a:t>stages,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can delay output </a:t>
            </a:r>
            <a:r>
              <a:rPr sz="2000" b="1" spc="10" dirty="0">
                <a:latin typeface="Arial"/>
                <a:cs typeface="Arial"/>
              </a:rPr>
              <a:t>by  </a:t>
            </a:r>
            <a:r>
              <a:rPr sz="2000" b="1" dirty="0">
                <a:latin typeface="Arial"/>
                <a:cs typeface="Arial"/>
              </a:rPr>
              <a:t>any number of clock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pulses.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484"/>
              </a:spcBef>
            </a:pPr>
            <a:r>
              <a:rPr sz="2000" b="1" dirty="0">
                <a:latin typeface="Arial"/>
                <a:cs typeface="Arial"/>
              </a:rPr>
              <a:t>2. </a:t>
            </a:r>
            <a:r>
              <a:rPr sz="2000" b="1" spc="-5" dirty="0">
                <a:latin typeface="Arial"/>
                <a:cs typeface="Arial"/>
              </a:rPr>
              <a:t>Serial/Parallel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Conversion: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Data can </a:t>
            </a:r>
            <a:r>
              <a:rPr sz="2000" b="1" spc="-5" dirty="0">
                <a:latin typeface="Arial"/>
                <a:cs typeface="Arial"/>
              </a:rPr>
              <a:t>be available in </a:t>
            </a:r>
            <a:r>
              <a:rPr sz="2000" b="1" dirty="0">
                <a:latin typeface="Arial"/>
                <a:cs typeface="Arial"/>
              </a:rPr>
              <a:t>serial/parallel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form.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transfer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data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parallel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much faster than serial</a:t>
            </a:r>
            <a:r>
              <a:rPr sz="2000" b="1" spc="-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form.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Shift registers </a:t>
            </a:r>
            <a:r>
              <a:rPr sz="2000" b="1" dirty="0">
                <a:latin typeface="Arial"/>
                <a:cs typeface="Arial"/>
              </a:rPr>
              <a:t>are used </a:t>
            </a:r>
            <a:r>
              <a:rPr sz="2000" b="1" spc="-5" dirty="0">
                <a:latin typeface="Arial"/>
                <a:cs typeface="Arial"/>
              </a:rPr>
              <a:t>for converting </a:t>
            </a:r>
            <a:r>
              <a:rPr sz="2000" b="1" dirty="0">
                <a:latin typeface="Arial"/>
                <a:cs typeface="Arial"/>
              </a:rPr>
              <a:t>serial </a:t>
            </a:r>
            <a:r>
              <a:rPr sz="2000" b="1" spc="-5" dirty="0">
                <a:latin typeface="Arial"/>
                <a:cs typeface="Arial"/>
              </a:rPr>
              <a:t>data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parallel form,</a:t>
            </a:r>
            <a:r>
              <a:rPr sz="2000" b="1" spc="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so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that a serial input can </a:t>
            </a:r>
            <a:r>
              <a:rPr sz="2000" b="1" spc="-5" dirty="0">
                <a:latin typeface="Arial"/>
                <a:cs typeface="Arial"/>
              </a:rPr>
              <a:t>be </a:t>
            </a:r>
            <a:r>
              <a:rPr sz="2000" b="1" dirty="0">
                <a:latin typeface="Arial"/>
                <a:cs typeface="Arial"/>
              </a:rPr>
              <a:t>processed </a:t>
            </a:r>
            <a:r>
              <a:rPr sz="2000" b="1" spc="-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a parallel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serial-in, serial-out, shift register can be used to </a:t>
            </a:r>
            <a:r>
              <a:rPr sz="2000" b="1" dirty="0">
                <a:latin typeface="Arial"/>
                <a:cs typeface="Arial"/>
              </a:rPr>
              <a:t>perform serial to  </a:t>
            </a:r>
            <a:r>
              <a:rPr sz="2000" b="1" spc="-5" dirty="0">
                <a:latin typeface="Arial"/>
                <a:cs typeface="Arial"/>
              </a:rPr>
              <a:t>parallel conversion </a:t>
            </a:r>
            <a:r>
              <a:rPr sz="2000" b="1" dirty="0">
                <a:latin typeface="Arial"/>
                <a:cs typeface="Arial"/>
              </a:rPr>
              <a:t>&amp; a parallel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serial </a:t>
            </a:r>
            <a:r>
              <a:rPr sz="2000" b="1" spc="-5" dirty="0">
                <a:latin typeface="Arial"/>
                <a:cs typeface="Arial"/>
              </a:rPr>
              <a:t>out, shift register </a:t>
            </a:r>
            <a:r>
              <a:rPr sz="2000" b="1" dirty="0">
                <a:latin typeface="Arial"/>
                <a:cs typeface="Arial"/>
              </a:rPr>
              <a:t>can  perform </a:t>
            </a:r>
            <a:r>
              <a:rPr sz="2000" b="1" spc="-5" dirty="0">
                <a:latin typeface="Arial"/>
                <a:cs typeface="Arial"/>
              </a:rPr>
              <a:t>parallel-to-serial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conversion.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8697" y="225298"/>
            <a:ext cx="4089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Sequential</a:t>
            </a:r>
            <a:r>
              <a:rPr spc="-30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79703"/>
            <a:ext cx="8379459" cy="56959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Arial"/>
                <a:cs typeface="Arial"/>
              </a:rPr>
              <a:t>3. Ring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Counters: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Ring counters </a:t>
            </a:r>
            <a:r>
              <a:rPr sz="2000" b="1" spc="-5" dirty="0">
                <a:latin typeface="Arial"/>
                <a:cs typeface="Arial"/>
              </a:rPr>
              <a:t>are </a:t>
            </a:r>
            <a:r>
              <a:rPr sz="2000" b="1" dirty="0">
                <a:latin typeface="Arial"/>
                <a:cs typeface="Arial"/>
              </a:rPr>
              <a:t>constructed </a:t>
            </a: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spc="-5" dirty="0">
                <a:latin typeface="Arial"/>
                <a:cs typeface="Arial"/>
              </a:rPr>
              <a:t>modifying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serial-in, serial-  </a:t>
            </a:r>
            <a:r>
              <a:rPr sz="2000" b="1" dirty="0">
                <a:latin typeface="Arial"/>
                <a:cs typeface="Arial"/>
              </a:rPr>
              <a:t>out, </a:t>
            </a:r>
            <a:r>
              <a:rPr sz="2000" b="1" spc="-5" dirty="0">
                <a:latin typeface="Arial"/>
                <a:cs typeface="Arial"/>
              </a:rPr>
              <a:t>shift registers. There are </a:t>
            </a:r>
            <a:r>
              <a:rPr sz="2000" b="1" dirty="0">
                <a:latin typeface="Arial"/>
                <a:cs typeface="Arial"/>
              </a:rPr>
              <a:t>two </a:t>
            </a:r>
            <a:r>
              <a:rPr sz="2000" b="1" spc="-5" dirty="0">
                <a:latin typeface="Arial"/>
                <a:cs typeface="Arial"/>
              </a:rPr>
              <a:t>types </a:t>
            </a:r>
            <a:r>
              <a:rPr sz="2000" b="1" dirty="0">
                <a:latin typeface="Arial"/>
                <a:cs typeface="Arial"/>
              </a:rPr>
              <a:t>of ring </a:t>
            </a:r>
            <a:r>
              <a:rPr sz="2000" b="1" spc="-5" dirty="0">
                <a:latin typeface="Arial"/>
                <a:cs typeface="Arial"/>
              </a:rPr>
              <a:t>counters- basic  </a:t>
            </a:r>
            <a:r>
              <a:rPr sz="2000" b="1" dirty="0">
                <a:latin typeface="Arial"/>
                <a:cs typeface="Arial"/>
              </a:rPr>
              <a:t>ring counter &amp; johnson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counter.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basic </a:t>
            </a:r>
            <a:r>
              <a:rPr sz="2000" b="1" spc="-5" dirty="0">
                <a:latin typeface="Arial"/>
                <a:cs typeface="Arial"/>
              </a:rPr>
              <a:t>ring </a:t>
            </a:r>
            <a:r>
              <a:rPr sz="2000" b="1" dirty="0">
                <a:latin typeface="Arial"/>
                <a:cs typeface="Arial"/>
              </a:rPr>
              <a:t>counter </a:t>
            </a:r>
            <a:r>
              <a:rPr sz="2000" b="1" spc="-5" dirty="0">
                <a:latin typeface="Arial"/>
                <a:cs typeface="Arial"/>
              </a:rPr>
              <a:t>can be obtained from </a:t>
            </a: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serial-in, serial-out,  shift register </a:t>
            </a:r>
            <a:r>
              <a:rPr sz="2000" b="1" spc="5" dirty="0">
                <a:latin typeface="Arial"/>
                <a:cs typeface="Arial"/>
              </a:rPr>
              <a:t>by </a:t>
            </a:r>
            <a:r>
              <a:rPr sz="2000" b="1" dirty="0">
                <a:latin typeface="Arial"/>
                <a:cs typeface="Arial"/>
              </a:rPr>
              <a:t>connecting Q output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10" dirty="0">
                <a:latin typeface="Arial"/>
                <a:cs typeface="Arial"/>
              </a:rPr>
              <a:t>last </a:t>
            </a:r>
            <a:r>
              <a:rPr sz="2000" b="1" dirty="0">
                <a:latin typeface="Arial"/>
                <a:cs typeface="Arial"/>
              </a:rPr>
              <a:t>FF to D </a:t>
            </a:r>
            <a:r>
              <a:rPr sz="2000" b="1" spc="-5" dirty="0">
                <a:latin typeface="Arial"/>
                <a:cs typeface="Arial"/>
              </a:rPr>
              <a:t>input </a:t>
            </a:r>
            <a:r>
              <a:rPr sz="2000" b="1" spc="-15" dirty="0">
                <a:latin typeface="Arial"/>
                <a:cs typeface="Arial"/>
              </a:rPr>
              <a:t>of  </a:t>
            </a:r>
            <a:r>
              <a:rPr sz="2000" b="1" dirty="0">
                <a:latin typeface="Arial"/>
                <a:cs typeface="Arial"/>
              </a:rPr>
              <a:t>first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FF.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ring counter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decimal </a:t>
            </a:r>
            <a:r>
              <a:rPr sz="2000" b="1" spc="-5" dirty="0">
                <a:latin typeface="Arial"/>
                <a:cs typeface="Arial"/>
              </a:rPr>
              <a:t>counter. It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divide-by-N counter,  where </a:t>
            </a:r>
            <a:r>
              <a:rPr sz="2000" b="1" dirty="0">
                <a:latin typeface="Arial"/>
                <a:cs typeface="Arial"/>
              </a:rPr>
              <a:t>N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the number </a:t>
            </a:r>
            <a:r>
              <a:rPr sz="2000" b="1" spc="-5" dirty="0">
                <a:latin typeface="Arial"/>
                <a:cs typeface="Arial"/>
              </a:rPr>
              <a:t>of stages. The keyboard </a:t>
            </a:r>
            <a:r>
              <a:rPr sz="2000" b="1" dirty="0">
                <a:latin typeface="Arial"/>
                <a:cs typeface="Arial"/>
              </a:rPr>
              <a:t>encoder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an  application </a:t>
            </a:r>
            <a:r>
              <a:rPr sz="2000" b="1" spc="-5" dirty="0">
                <a:latin typeface="Arial"/>
                <a:cs typeface="Arial"/>
              </a:rPr>
              <a:t>of </a:t>
            </a:r>
            <a:r>
              <a:rPr sz="2000" b="1" dirty="0">
                <a:latin typeface="Arial"/>
                <a:cs typeface="Arial"/>
              </a:rPr>
              <a:t>a ring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counter.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4. UART (Universal Asynchronous Receiver</a:t>
            </a:r>
            <a:r>
              <a:rPr sz="2000" b="1" spc="-2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Transmitter):</a:t>
            </a:r>
            <a:endParaRPr sz="2000">
              <a:latin typeface="Arial"/>
              <a:cs typeface="Arial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Computers &amp; microprocessor-based </a:t>
            </a:r>
            <a:r>
              <a:rPr sz="2000" b="1" spc="-5" dirty="0">
                <a:latin typeface="Arial"/>
                <a:cs typeface="Arial"/>
              </a:rPr>
              <a:t>systems </a:t>
            </a:r>
            <a:r>
              <a:rPr sz="2000" b="1" dirty="0">
                <a:latin typeface="Arial"/>
                <a:cs typeface="Arial"/>
              </a:rPr>
              <a:t>often </a:t>
            </a:r>
            <a:r>
              <a:rPr sz="2000" b="1" spc="-5" dirty="0">
                <a:latin typeface="Arial"/>
                <a:cs typeface="Arial"/>
              </a:rPr>
              <a:t>send </a:t>
            </a:r>
            <a:r>
              <a:rPr sz="2000" b="1" dirty="0">
                <a:latin typeface="Arial"/>
                <a:cs typeface="Arial"/>
              </a:rPr>
              <a:t>&amp;  </a:t>
            </a:r>
            <a:r>
              <a:rPr sz="2000" b="1" spc="-5" dirty="0">
                <a:latin typeface="Arial"/>
                <a:cs typeface="Arial"/>
              </a:rPr>
              <a:t>receive </a:t>
            </a:r>
            <a:r>
              <a:rPr sz="2000" b="1" dirty="0">
                <a:latin typeface="Arial"/>
                <a:cs typeface="Arial"/>
              </a:rPr>
              <a:t>data </a:t>
            </a:r>
            <a:r>
              <a:rPr sz="2000" b="1" spc="-5" dirty="0">
                <a:latin typeface="Arial"/>
                <a:cs typeface="Arial"/>
              </a:rPr>
              <a:t>in </a:t>
            </a:r>
            <a:r>
              <a:rPr sz="2000" b="1" dirty="0">
                <a:latin typeface="Arial"/>
                <a:cs typeface="Arial"/>
              </a:rPr>
              <a:t>a parallel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format.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They frequently communicate with external </a:t>
            </a:r>
            <a:r>
              <a:rPr sz="2000" b="1" spc="-5" dirty="0">
                <a:latin typeface="Arial"/>
                <a:cs typeface="Arial"/>
              </a:rPr>
              <a:t>devices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send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and/or </a:t>
            </a:r>
            <a:r>
              <a:rPr sz="2000" b="1" spc="-5" dirty="0">
                <a:latin typeface="Arial"/>
                <a:cs typeface="Arial"/>
              </a:rPr>
              <a:t>receive </a:t>
            </a:r>
            <a:r>
              <a:rPr sz="2000" b="1" dirty="0">
                <a:latin typeface="Arial"/>
                <a:cs typeface="Arial"/>
              </a:rPr>
              <a:t>serial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  <a:p>
            <a:pPr marL="355600" marR="8890" indent="-342900" algn="just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An </a:t>
            </a:r>
            <a:r>
              <a:rPr sz="2000" b="1" spc="-5" dirty="0">
                <a:latin typeface="Arial"/>
                <a:cs typeface="Arial"/>
              </a:rPr>
              <a:t>interfacing device </a:t>
            </a:r>
            <a:r>
              <a:rPr sz="2000" b="1" dirty="0">
                <a:latin typeface="Arial"/>
                <a:cs typeface="Arial"/>
              </a:rPr>
              <a:t>used to accomplish </a:t>
            </a:r>
            <a:r>
              <a:rPr sz="2000" b="1" spc="-5" dirty="0">
                <a:latin typeface="Arial"/>
                <a:cs typeface="Arial"/>
              </a:rPr>
              <a:t>these conversions </a:t>
            </a:r>
            <a:r>
              <a:rPr sz="2000" b="1" spc="-10" dirty="0">
                <a:latin typeface="Arial"/>
                <a:cs typeface="Arial"/>
              </a:rPr>
              <a:t>is 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UART.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6298" y="1996567"/>
            <a:ext cx="285115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1" dirty="0">
                <a:latin typeface="Arial"/>
                <a:cs typeface="Arial"/>
              </a:rPr>
              <a:t>A</a:t>
            </a:r>
            <a:r>
              <a:rPr sz="5000" b="1" spc="-80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Review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31770" y="3526917"/>
            <a:ext cx="3682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Sequential</a:t>
            </a:r>
            <a:r>
              <a:rPr sz="3600" b="1" spc="-10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Logic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0" y="360933"/>
            <a:ext cx="67684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Basic RS Flip-Flop</a:t>
            </a:r>
            <a:r>
              <a:rPr sz="4400" b="0" spc="-80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(NAND)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5181600"/>
            <a:ext cx="3191510" cy="832485"/>
          </a:xfrm>
          <a:prstGeom prst="rect">
            <a:avLst/>
          </a:prstGeom>
          <a:ln w="9144">
            <a:solidFill>
              <a:srgbClr val="0099F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 marR="10668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0099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flip-flop holds 1</a:t>
            </a:r>
            <a:r>
              <a:rPr sz="2400" spc="-225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"bit".  "Bit" ::= "binary</a:t>
            </a:r>
            <a:r>
              <a:rPr sz="2400" spc="-120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9FF"/>
                </a:solidFill>
                <a:latin typeface="Times New Roman"/>
                <a:cs typeface="Times New Roman"/>
              </a:rPr>
              <a:t>digit."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353" y="1669542"/>
            <a:ext cx="1242060" cy="561340"/>
          </a:xfrm>
          <a:custGeom>
            <a:avLst/>
            <a:gdLst/>
            <a:ahLst/>
            <a:cxnLst/>
            <a:rect l="l" t="t" r="r" b="b"/>
            <a:pathLst>
              <a:path w="1242060" h="561339">
                <a:moveTo>
                  <a:pt x="0" y="9144"/>
                </a:moveTo>
                <a:lnTo>
                  <a:pt x="374904" y="9144"/>
                </a:lnTo>
              </a:path>
              <a:path w="1242060" h="561339">
                <a:moveTo>
                  <a:pt x="374904" y="1524"/>
                </a:moveTo>
                <a:lnTo>
                  <a:pt x="374904" y="560832"/>
                </a:lnTo>
              </a:path>
              <a:path w="1242060" h="561339">
                <a:moveTo>
                  <a:pt x="374904" y="542544"/>
                </a:moveTo>
                <a:lnTo>
                  <a:pt x="856488" y="542544"/>
                </a:lnTo>
              </a:path>
              <a:path w="1242060" h="561339">
                <a:moveTo>
                  <a:pt x="865632" y="560832"/>
                </a:moveTo>
                <a:lnTo>
                  <a:pt x="867156" y="0"/>
                </a:lnTo>
              </a:path>
              <a:path w="1242060" h="561339">
                <a:moveTo>
                  <a:pt x="867156" y="9144"/>
                </a:moveTo>
                <a:lnTo>
                  <a:pt x="1242060" y="914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022854" y="2118360"/>
            <a:ext cx="2098675" cy="1584960"/>
            <a:chOff x="3022854" y="2118360"/>
            <a:chExt cx="2098675" cy="1584960"/>
          </a:xfrm>
        </p:grpSpPr>
        <p:sp>
          <p:nvSpPr>
            <p:cNvPr id="6" name="object 6"/>
            <p:cNvSpPr/>
            <p:nvPr/>
          </p:nvSpPr>
          <p:spPr>
            <a:xfrm>
              <a:off x="3618738" y="2132838"/>
              <a:ext cx="585470" cy="489584"/>
            </a:xfrm>
            <a:custGeom>
              <a:avLst/>
              <a:gdLst/>
              <a:ahLst/>
              <a:cxnLst/>
              <a:rect l="l" t="t" r="r" b="b"/>
              <a:pathLst>
                <a:path w="585470" h="489585">
                  <a:moveTo>
                    <a:pt x="0" y="0"/>
                  </a:moveTo>
                  <a:lnTo>
                    <a:pt x="292608" y="0"/>
                  </a:lnTo>
                  <a:lnTo>
                    <a:pt x="345189" y="3939"/>
                  </a:lnTo>
                  <a:lnTo>
                    <a:pt x="394684" y="15298"/>
                  </a:lnTo>
                  <a:lnTo>
                    <a:pt x="440266" y="33386"/>
                  </a:lnTo>
                  <a:lnTo>
                    <a:pt x="481107" y="57514"/>
                  </a:lnTo>
                  <a:lnTo>
                    <a:pt x="516378" y="86992"/>
                  </a:lnTo>
                  <a:lnTo>
                    <a:pt x="545253" y="121129"/>
                  </a:lnTo>
                  <a:lnTo>
                    <a:pt x="566902" y="159237"/>
                  </a:lnTo>
                  <a:lnTo>
                    <a:pt x="580499" y="200624"/>
                  </a:lnTo>
                  <a:lnTo>
                    <a:pt x="585215" y="244601"/>
                  </a:lnTo>
                  <a:lnTo>
                    <a:pt x="580499" y="288579"/>
                  </a:lnTo>
                  <a:lnTo>
                    <a:pt x="566902" y="329966"/>
                  </a:lnTo>
                  <a:lnTo>
                    <a:pt x="545253" y="368074"/>
                  </a:lnTo>
                  <a:lnTo>
                    <a:pt x="516378" y="402211"/>
                  </a:lnTo>
                  <a:lnTo>
                    <a:pt x="481107" y="431689"/>
                  </a:lnTo>
                  <a:lnTo>
                    <a:pt x="440266" y="455817"/>
                  </a:lnTo>
                  <a:lnTo>
                    <a:pt x="394684" y="473905"/>
                  </a:lnTo>
                  <a:lnTo>
                    <a:pt x="345189" y="485264"/>
                  </a:lnTo>
                  <a:lnTo>
                    <a:pt x="292608" y="489203"/>
                  </a:lnTo>
                  <a:lnTo>
                    <a:pt x="0" y="489203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5384" y="2310384"/>
              <a:ext cx="126491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2084" y="2327148"/>
              <a:ext cx="103631" cy="1036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2854" y="2237994"/>
              <a:ext cx="2098675" cy="480059"/>
            </a:xfrm>
            <a:custGeom>
              <a:avLst/>
              <a:gdLst/>
              <a:ahLst/>
              <a:cxnLst/>
              <a:rect l="l" t="t" r="r" b="b"/>
              <a:pathLst>
                <a:path w="2098675" h="480060">
                  <a:moveTo>
                    <a:pt x="1312163" y="138683"/>
                  </a:moveTo>
                  <a:lnTo>
                    <a:pt x="2098547" y="138683"/>
                  </a:lnTo>
                </a:path>
                <a:path w="2098675" h="480060">
                  <a:moveTo>
                    <a:pt x="595883" y="0"/>
                  </a:moveTo>
                  <a:lnTo>
                    <a:pt x="0" y="0"/>
                  </a:lnTo>
                </a:path>
                <a:path w="2098675" h="480060">
                  <a:moveTo>
                    <a:pt x="595883" y="298703"/>
                  </a:moveTo>
                  <a:lnTo>
                    <a:pt x="193547" y="298703"/>
                  </a:lnTo>
                </a:path>
                <a:path w="2098675" h="480060">
                  <a:moveTo>
                    <a:pt x="202691" y="288035"/>
                  </a:moveTo>
                  <a:lnTo>
                    <a:pt x="202691" y="480059"/>
                  </a:lnTo>
                </a:path>
                <a:path w="2098675" h="480060">
                  <a:moveTo>
                    <a:pt x="1513332" y="138683"/>
                  </a:moveTo>
                  <a:lnTo>
                    <a:pt x="1511808" y="48005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8738" y="3199638"/>
              <a:ext cx="585470" cy="489584"/>
            </a:xfrm>
            <a:custGeom>
              <a:avLst/>
              <a:gdLst/>
              <a:ahLst/>
              <a:cxnLst/>
              <a:rect l="l" t="t" r="r" b="b"/>
              <a:pathLst>
                <a:path w="585470" h="489585">
                  <a:moveTo>
                    <a:pt x="0" y="0"/>
                  </a:moveTo>
                  <a:lnTo>
                    <a:pt x="292608" y="0"/>
                  </a:lnTo>
                  <a:lnTo>
                    <a:pt x="345189" y="3939"/>
                  </a:lnTo>
                  <a:lnTo>
                    <a:pt x="394684" y="15298"/>
                  </a:lnTo>
                  <a:lnTo>
                    <a:pt x="440266" y="33386"/>
                  </a:lnTo>
                  <a:lnTo>
                    <a:pt x="481107" y="57514"/>
                  </a:lnTo>
                  <a:lnTo>
                    <a:pt x="516378" y="86992"/>
                  </a:lnTo>
                  <a:lnTo>
                    <a:pt x="545253" y="121129"/>
                  </a:lnTo>
                  <a:lnTo>
                    <a:pt x="566902" y="159237"/>
                  </a:lnTo>
                  <a:lnTo>
                    <a:pt x="580499" y="200624"/>
                  </a:lnTo>
                  <a:lnTo>
                    <a:pt x="585215" y="244601"/>
                  </a:lnTo>
                  <a:lnTo>
                    <a:pt x="580499" y="288579"/>
                  </a:lnTo>
                  <a:lnTo>
                    <a:pt x="566902" y="329966"/>
                  </a:lnTo>
                  <a:lnTo>
                    <a:pt x="545253" y="368074"/>
                  </a:lnTo>
                  <a:lnTo>
                    <a:pt x="516378" y="402211"/>
                  </a:lnTo>
                  <a:lnTo>
                    <a:pt x="481107" y="431689"/>
                  </a:lnTo>
                  <a:lnTo>
                    <a:pt x="440266" y="455817"/>
                  </a:lnTo>
                  <a:lnTo>
                    <a:pt x="394684" y="473905"/>
                  </a:lnTo>
                  <a:lnTo>
                    <a:pt x="345189" y="485264"/>
                  </a:lnTo>
                  <a:lnTo>
                    <a:pt x="292608" y="489204"/>
                  </a:lnTo>
                  <a:lnTo>
                    <a:pt x="0" y="489204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5384" y="3377184"/>
              <a:ext cx="126491" cy="1432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82084" y="3393948"/>
              <a:ext cx="103631" cy="1036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2854" y="2701290"/>
              <a:ext cx="2098675" cy="889000"/>
            </a:xfrm>
            <a:custGeom>
              <a:avLst/>
              <a:gdLst/>
              <a:ahLst/>
              <a:cxnLst/>
              <a:rect l="l" t="t" r="r" b="b"/>
              <a:pathLst>
                <a:path w="2098675" h="889000">
                  <a:moveTo>
                    <a:pt x="1312163" y="752856"/>
                  </a:moveTo>
                  <a:lnTo>
                    <a:pt x="2098547" y="752856"/>
                  </a:lnTo>
                </a:path>
                <a:path w="2098675" h="889000">
                  <a:moveTo>
                    <a:pt x="595883" y="888492"/>
                  </a:moveTo>
                  <a:lnTo>
                    <a:pt x="0" y="888492"/>
                  </a:lnTo>
                </a:path>
                <a:path w="2098675" h="889000">
                  <a:moveTo>
                    <a:pt x="595883" y="597408"/>
                  </a:moveTo>
                  <a:lnTo>
                    <a:pt x="193547" y="597408"/>
                  </a:lnTo>
                </a:path>
                <a:path w="2098675" h="889000">
                  <a:moveTo>
                    <a:pt x="202691" y="406908"/>
                  </a:moveTo>
                  <a:lnTo>
                    <a:pt x="202691" y="598932"/>
                  </a:lnTo>
                </a:path>
                <a:path w="2098675" h="889000">
                  <a:moveTo>
                    <a:pt x="1516380" y="405384"/>
                  </a:moveTo>
                  <a:lnTo>
                    <a:pt x="1516380" y="745236"/>
                  </a:lnTo>
                </a:path>
                <a:path w="2098675" h="889000">
                  <a:moveTo>
                    <a:pt x="202691" y="7620"/>
                  </a:moveTo>
                  <a:lnTo>
                    <a:pt x="1513332" y="400812"/>
                  </a:lnTo>
                </a:path>
                <a:path w="2098675" h="889000">
                  <a:moveTo>
                    <a:pt x="202691" y="419100"/>
                  </a:moveTo>
                  <a:lnTo>
                    <a:pt x="1513332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9241" y="1317726"/>
            <a:ext cx="153035" cy="96774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00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9241" y="2720187"/>
            <a:ext cx="153035" cy="96774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00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6089" y="2015108"/>
            <a:ext cx="6832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(set)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9597" y="3355085"/>
            <a:ext cx="908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(reset)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2048" y="3745433"/>
            <a:ext cx="185991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(a) Logic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73953" y="3745433"/>
            <a:ext cx="1491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(b) </a:t>
            </a:r>
            <a:r>
              <a:rPr sz="2000" spc="-15" dirty="0">
                <a:latin typeface="Times New Roman"/>
                <a:cs typeface="Times New Roman"/>
              </a:rPr>
              <a:t>Truth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77280" y="2008758"/>
            <a:ext cx="1174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6700" algn="l"/>
                <a:tab pos="581025" algn="l"/>
                <a:tab pos="891540" algn="l"/>
              </a:tabLst>
            </a:pPr>
            <a:r>
              <a:rPr sz="2000" i="1" dirty="0">
                <a:latin typeface="Times New Roman"/>
                <a:cs typeface="Times New Roman"/>
              </a:rPr>
              <a:t>S	R	Q	Q’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76009" y="2090166"/>
            <a:ext cx="0" cy="1591310"/>
          </a:xfrm>
          <a:custGeom>
            <a:avLst/>
            <a:gdLst/>
            <a:ahLst/>
            <a:cxnLst/>
            <a:rect l="l" t="t" r="r" b="b"/>
            <a:pathLst>
              <a:path h="1591310">
                <a:moveTo>
                  <a:pt x="0" y="0"/>
                </a:moveTo>
                <a:lnTo>
                  <a:pt x="0" y="159105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640323" y="2337816"/>
          <a:ext cx="3155950" cy="1343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5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117">
                <a:tc>
                  <a:txBody>
                    <a:bodyPr/>
                    <a:lstStyle/>
                    <a:p>
                      <a:pPr marR="5715" algn="ctr">
                        <a:lnSpc>
                          <a:spcPts val="2310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310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310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310"/>
                        </a:lnSpc>
                        <a:spcBef>
                          <a:spcPts val="1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39">
                <a:tc>
                  <a:txBody>
                    <a:bodyPr/>
                    <a:lstStyle/>
                    <a:p>
                      <a:pPr marR="6350" algn="ctr">
                        <a:lnSpc>
                          <a:spcPts val="209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09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09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095"/>
                        </a:lnSpc>
                        <a:tabLst>
                          <a:tab pos="35369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	(after S = 1, R =</a:t>
                      </a:r>
                      <a:r>
                        <a:rPr sz="20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0)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348">
                <a:tc gridSpan="2">
                  <a:txBody>
                    <a:bodyPr/>
                    <a:lstStyle/>
                    <a:p>
                      <a:pPr marL="49530">
                        <a:lnSpc>
                          <a:spcPts val="1645"/>
                        </a:lnSpc>
                        <a:tabLst>
                          <a:tab pos="30353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	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ts val="1920"/>
                        </a:lnSpc>
                        <a:tabLst>
                          <a:tab pos="30353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	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ts val="2160"/>
                        </a:lnSpc>
                        <a:tabLst>
                          <a:tab pos="30353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	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1915">
                        <a:lnSpc>
                          <a:spcPts val="1645"/>
                        </a:lnSpc>
                        <a:tabLst>
                          <a:tab pos="39941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	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ts val="1920"/>
                        </a:lnSpc>
                        <a:tabLst>
                          <a:tab pos="399415" algn="l"/>
                          <a:tab pos="657860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	0	(after S = 0, R =</a:t>
                      </a:r>
                      <a:r>
                        <a:rPr sz="20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1915">
                        <a:lnSpc>
                          <a:spcPts val="2160"/>
                        </a:lnSpc>
                        <a:tabLst>
                          <a:tab pos="399415" algn="l"/>
                        </a:tabLst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	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808221" y="2194687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08221" y="3259658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70678" y="2194687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70678" y="3259658"/>
            <a:ext cx="295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Q’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70678" y="3382136"/>
            <a:ext cx="110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Times New Roman"/>
                <a:cs typeface="Times New Roman"/>
              </a:rPr>
              <a:t>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27353" y="3070098"/>
            <a:ext cx="1242060" cy="559435"/>
          </a:xfrm>
          <a:custGeom>
            <a:avLst/>
            <a:gdLst/>
            <a:ahLst/>
            <a:cxnLst/>
            <a:rect l="l" t="t" r="r" b="b"/>
            <a:pathLst>
              <a:path w="1242060" h="559435">
                <a:moveTo>
                  <a:pt x="0" y="9143"/>
                </a:moveTo>
                <a:lnTo>
                  <a:pt x="374904" y="9143"/>
                </a:lnTo>
              </a:path>
              <a:path w="1242060" h="559435">
                <a:moveTo>
                  <a:pt x="374904" y="1524"/>
                </a:moveTo>
                <a:lnTo>
                  <a:pt x="374904" y="559307"/>
                </a:lnTo>
              </a:path>
              <a:path w="1242060" h="559435">
                <a:moveTo>
                  <a:pt x="374904" y="542544"/>
                </a:moveTo>
                <a:lnTo>
                  <a:pt x="856488" y="542544"/>
                </a:lnTo>
              </a:path>
              <a:path w="1242060" h="559435">
                <a:moveTo>
                  <a:pt x="865632" y="559307"/>
                </a:moveTo>
                <a:lnTo>
                  <a:pt x="867156" y="0"/>
                </a:lnTo>
              </a:path>
              <a:path w="1242060" h="559435">
                <a:moveTo>
                  <a:pt x="867156" y="9143"/>
                </a:moveTo>
                <a:lnTo>
                  <a:pt x="1242060" y="9143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166" y="577722"/>
            <a:ext cx="7651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RS-Latch </a:t>
            </a:r>
            <a:r>
              <a:rPr sz="3200" dirty="0"/>
              <a:t>as Cross-Coupled NOR</a:t>
            </a:r>
            <a:r>
              <a:rPr sz="3200" spc="-145" dirty="0"/>
              <a:t> </a:t>
            </a:r>
            <a:r>
              <a:rPr sz="3200" dirty="0"/>
              <a:t>Gates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3856990" cy="422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09575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If R = </a:t>
            </a:r>
            <a:r>
              <a:rPr sz="3200" spc="-5" dirty="0">
                <a:latin typeface="Arial"/>
                <a:cs typeface="Arial"/>
              </a:rPr>
              <a:t>1, </a:t>
            </a:r>
            <a:r>
              <a:rPr sz="3200" dirty="0">
                <a:latin typeface="Arial"/>
                <a:cs typeface="Arial"/>
              </a:rPr>
              <a:t>Q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resets  to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If S = </a:t>
            </a:r>
            <a:r>
              <a:rPr sz="3200" spc="-5" dirty="0">
                <a:latin typeface="Arial"/>
                <a:cs typeface="Arial"/>
              </a:rPr>
              <a:t>1, </a:t>
            </a:r>
            <a:r>
              <a:rPr sz="3200" spc="5" dirty="0">
                <a:latin typeface="Arial"/>
                <a:cs typeface="Arial"/>
              </a:rPr>
              <a:t>Q </a:t>
            </a:r>
            <a:r>
              <a:rPr sz="3200" dirty="0">
                <a:latin typeface="Arial"/>
                <a:cs typeface="Arial"/>
              </a:rPr>
              <a:t>sets to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355600" marR="997585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If RS = </a:t>
            </a:r>
            <a:r>
              <a:rPr sz="3200" spc="-5" dirty="0">
                <a:latin typeface="Arial"/>
                <a:cs typeface="Arial"/>
              </a:rPr>
              <a:t>00,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no  </a:t>
            </a:r>
            <a:r>
              <a:rPr sz="3200" dirty="0">
                <a:latin typeface="Arial"/>
                <a:cs typeface="Arial"/>
              </a:rPr>
              <a:t>change</a:t>
            </a:r>
            <a:endParaRPr sz="3200">
              <a:latin typeface="Arial"/>
              <a:cs typeface="Arial"/>
            </a:endParaRPr>
          </a:p>
          <a:p>
            <a:pPr marL="355600" marR="17526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RS = </a:t>
            </a:r>
            <a:r>
              <a:rPr sz="3200" spc="-5" dirty="0">
                <a:latin typeface="Arial"/>
                <a:cs typeface="Arial"/>
              </a:rPr>
              <a:t>11 </a:t>
            </a:r>
            <a:r>
              <a:rPr sz="3200" dirty="0">
                <a:latin typeface="Arial"/>
                <a:cs typeface="Arial"/>
              </a:rPr>
              <a:t>is </a:t>
            </a:r>
            <a:r>
              <a:rPr sz="3200" spc="-5" dirty="0">
                <a:latin typeface="Arial"/>
                <a:cs typeface="Arial"/>
              </a:rPr>
              <a:t>not  allowed because  leads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oscillation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62600" y="1214627"/>
            <a:ext cx="2133600" cy="1762125"/>
            <a:chOff x="5562600" y="1214627"/>
            <a:chExt cx="2133600" cy="1762125"/>
          </a:xfrm>
        </p:grpSpPr>
        <p:sp>
          <p:nvSpPr>
            <p:cNvPr id="5" name="object 5"/>
            <p:cNvSpPr/>
            <p:nvPr/>
          </p:nvSpPr>
          <p:spPr>
            <a:xfrm>
              <a:off x="5867400" y="1371599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143000" y="152400"/>
                  </a:moveTo>
                  <a:lnTo>
                    <a:pt x="1524000" y="152400"/>
                  </a:lnTo>
                </a:path>
                <a:path w="1524000" h="304800">
                  <a:moveTo>
                    <a:pt x="0" y="304800"/>
                  </a:moveTo>
                  <a:lnTo>
                    <a:pt x="533400" y="304800"/>
                  </a:lnTo>
                </a:path>
                <a:path w="1524000" h="3048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00" y="12191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48400" y="12191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05827" y="1458468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400" y="1524000"/>
              <a:ext cx="1524000" cy="1295400"/>
            </a:xfrm>
            <a:custGeom>
              <a:avLst/>
              <a:gdLst/>
              <a:ahLst/>
              <a:cxnLst/>
              <a:rect l="l" t="t" r="r" b="b"/>
              <a:pathLst>
                <a:path w="1524000" h="1295400">
                  <a:moveTo>
                    <a:pt x="0" y="152400"/>
                  </a:moveTo>
                  <a:lnTo>
                    <a:pt x="0" y="381000"/>
                  </a:lnTo>
                </a:path>
                <a:path w="1524000" h="1295400">
                  <a:moveTo>
                    <a:pt x="1524000" y="0"/>
                  </a:moveTo>
                  <a:lnTo>
                    <a:pt x="1524000" y="228600"/>
                  </a:lnTo>
                </a:path>
                <a:path w="1524000" h="1295400">
                  <a:moveTo>
                    <a:pt x="1143000" y="1143000"/>
                  </a:moveTo>
                  <a:lnTo>
                    <a:pt x="1524000" y="1143000"/>
                  </a:lnTo>
                </a:path>
                <a:path w="1524000" h="1295400">
                  <a:moveTo>
                    <a:pt x="0" y="1295400"/>
                  </a:moveTo>
                  <a:lnTo>
                    <a:pt x="533400" y="1295400"/>
                  </a:lnTo>
                </a:path>
                <a:path w="1524000" h="1295400">
                  <a:moveTo>
                    <a:pt x="0" y="990600"/>
                  </a:moveTo>
                  <a:lnTo>
                    <a:pt x="533400" y="990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48400" y="23622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48400" y="23622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05827" y="2601467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62600" y="1371599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304800" y="914400"/>
                  </a:moveTo>
                  <a:lnTo>
                    <a:pt x="304800" y="1143000"/>
                  </a:lnTo>
                </a:path>
                <a:path w="2133600" h="1447800">
                  <a:moveTo>
                    <a:pt x="1828800" y="1066800"/>
                  </a:moveTo>
                  <a:lnTo>
                    <a:pt x="1828800" y="1295400"/>
                  </a:lnTo>
                </a:path>
                <a:path w="2133600" h="1447800">
                  <a:moveTo>
                    <a:pt x="304800" y="533400"/>
                  </a:moveTo>
                  <a:lnTo>
                    <a:pt x="1828800" y="1066800"/>
                  </a:lnTo>
                </a:path>
                <a:path w="2133600" h="1447800">
                  <a:moveTo>
                    <a:pt x="304800" y="914400"/>
                  </a:moveTo>
                  <a:lnTo>
                    <a:pt x="1828800" y="381000"/>
                  </a:lnTo>
                </a:path>
                <a:path w="2133600" h="1447800">
                  <a:moveTo>
                    <a:pt x="0" y="0"/>
                  </a:moveTo>
                  <a:lnTo>
                    <a:pt x="304800" y="0"/>
                  </a:lnTo>
                </a:path>
                <a:path w="2133600" h="1447800">
                  <a:moveTo>
                    <a:pt x="1828800" y="152400"/>
                  </a:moveTo>
                  <a:lnTo>
                    <a:pt x="2133600" y="152400"/>
                  </a:lnTo>
                </a:path>
                <a:path w="2133600" h="1447800">
                  <a:moveTo>
                    <a:pt x="1828800" y="1295400"/>
                  </a:moveTo>
                  <a:lnTo>
                    <a:pt x="2133600" y="1295400"/>
                  </a:lnTo>
                </a:path>
                <a:path w="2133600" h="1447800">
                  <a:moveTo>
                    <a:pt x="0" y="1447800"/>
                  </a:moveTo>
                  <a:lnTo>
                    <a:pt x="304800" y="1447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59704" y="1252473"/>
            <a:ext cx="151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4055" y="2668904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30057" y="1404873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30057" y="2548254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558028" y="3729228"/>
          <a:ext cx="213360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R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Q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Undefined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7848600" y="259080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3066" y="321310"/>
            <a:ext cx="4277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Level-Sensitive</a:t>
            </a:r>
            <a:r>
              <a:rPr sz="2800" spc="20" dirty="0"/>
              <a:t> </a:t>
            </a:r>
            <a:r>
              <a:rPr sz="2800" spc="-5" dirty="0"/>
              <a:t>RS-Latch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362200" y="2052827"/>
            <a:ext cx="4267200" cy="2066925"/>
            <a:chOff x="2362200" y="2052827"/>
            <a:chExt cx="4267200" cy="2066925"/>
          </a:xfrm>
        </p:grpSpPr>
        <p:sp>
          <p:nvSpPr>
            <p:cNvPr id="4" name="object 4"/>
            <p:cNvSpPr/>
            <p:nvPr/>
          </p:nvSpPr>
          <p:spPr>
            <a:xfrm>
              <a:off x="2362200" y="2514600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304800" y="0"/>
                  </a:moveTo>
                  <a:lnTo>
                    <a:pt x="304800" y="1143000"/>
                  </a:lnTo>
                </a:path>
                <a:path w="2133600" h="1447800">
                  <a:moveTo>
                    <a:pt x="304800" y="1143000"/>
                  </a:moveTo>
                  <a:lnTo>
                    <a:pt x="685800" y="1143000"/>
                  </a:lnTo>
                </a:path>
                <a:path w="2133600" h="1447800">
                  <a:moveTo>
                    <a:pt x="1828800" y="1295400"/>
                  </a:moveTo>
                  <a:lnTo>
                    <a:pt x="2133600" y="1295400"/>
                  </a:lnTo>
                </a:path>
                <a:path w="2133600" h="1447800">
                  <a:moveTo>
                    <a:pt x="1447800" y="1295400"/>
                  </a:moveTo>
                  <a:lnTo>
                    <a:pt x="1828800" y="1295400"/>
                  </a:lnTo>
                </a:path>
                <a:path w="2133600" h="1447800">
                  <a:moveTo>
                    <a:pt x="0" y="1447800"/>
                  </a:moveTo>
                  <a:lnTo>
                    <a:pt x="304800" y="1447800"/>
                  </a:lnTo>
                </a:path>
                <a:path w="2133600" h="1447800">
                  <a:moveTo>
                    <a:pt x="304800" y="1447800"/>
                  </a:moveTo>
                  <a:lnTo>
                    <a:pt x="685800" y="1447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8000" y="35052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5427" y="3745992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0" y="25146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62200" y="2209799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000" y="220979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91000" y="23622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0000" y="23622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20573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5427" y="22981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5800" y="2362200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0" y="0"/>
                  </a:moveTo>
                  <a:lnTo>
                    <a:pt x="304800" y="0"/>
                  </a:lnTo>
                </a:path>
                <a:path w="2133600" h="1447800">
                  <a:moveTo>
                    <a:pt x="0" y="1447800"/>
                  </a:moveTo>
                  <a:lnTo>
                    <a:pt x="304800" y="1447800"/>
                  </a:lnTo>
                </a:path>
                <a:path w="2133600" h="1447800">
                  <a:moveTo>
                    <a:pt x="304800" y="1447800"/>
                  </a:moveTo>
                  <a:lnTo>
                    <a:pt x="685800" y="1447800"/>
                  </a:lnTo>
                </a:path>
                <a:path w="2133600" h="1447800">
                  <a:moveTo>
                    <a:pt x="304800" y="304800"/>
                  </a:moveTo>
                  <a:lnTo>
                    <a:pt x="304800" y="533400"/>
                  </a:lnTo>
                </a:path>
                <a:path w="2133600" h="1447800">
                  <a:moveTo>
                    <a:pt x="304800" y="914400"/>
                  </a:moveTo>
                  <a:lnTo>
                    <a:pt x="304800" y="1143000"/>
                  </a:lnTo>
                </a:path>
                <a:path w="2133600" h="1447800">
                  <a:moveTo>
                    <a:pt x="1828800" y="1066800"/>
                  </a:moveTo>
                  <a:lnTo>
                    <a:pt x="1828800" y="1295400"/>
                  </a:lnTo>
                </a:path>
                <a:path w="2133600" h="1447800">
                  <a:moveTo>
                    <a:pt x="304800" y="533400"/>
                  </a:moveTo>
                  <a:lnTo>
                    <a:pt x="1828800" y="1066800"/>
                  </a:lnTo>
                </a:path>
                <a:path w="2133600" h="1447800">
                  <a:moveTo>
                    <a:pt x="1828800" y="152400"/>
                  </a:moveTo>
                  <a:lnTo>
                    <a:pt x="1828800" y="381000"/>
                  </a:lnTo>
                </a:path>
                <a:path w="2133600" h="1447800">
                  <a:moveTo>
                    <a:pt x="304800" y="914400"/>
                  </a:moveTo>
                  <a:lnTo>
                    <a:pt x="1828800" y="381000"/>
                  </a:lnTo>
                </a:path>
                <a:path w="2133600" h="1447800">
                  <a:moveTo>
                    <a:pt x="1828800" y="152400"/>
                  </a:moveTo>
                  <a:lnTo>
                    <a:pt x="2133600" y="152400"/>
                  </a:lnTo>
                </a:path>
                <a:path w="2133600" h="1447800">
                  <a:moveTo>
                    <a:pt x="1828800" y="1295400"/>
                  </a:moveTo>
                  <a:lnTo>
                    <a:pt x="2133600" y="1295400"/>
                  </a:lnTo>
                </a:path>
                <a:path w="2133600" h="1447800">
                  <a:moveTo>
                    <a:pt x="1447800" y="1295400"/>
                  </a:moveTo>
                  <a:lnTo>
                    <a:pt x="1828800" y="1295400"/>
                  </a:lnTo>
                </a:path>
                <a:path w="2133600" h="1447800">
                  <a:moveTo>
                    <a:pt x="304800" y="1143000"/>
                  </a:moveTo>
                  <a:lnTo>
                    <a:pt x="6858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81600" y="33528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381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81000" y="609600"/>
                  </a:lnTo>
                  <a:lnTo>
                    <a:pt x="432703" y="606816"/>
                  </a:lnTo>
                  <a:lnTo>
                    <a:pt x="482291" y="598707"/>
                  </a:lnTo>
                  <a:lnTo>
                    <a:pt x="529310" y="585638"/>
                  </a:lnTo>
                  <a:lnTo>
                    <a:pt x="573306" y="567972"/>
                  </a:lnTo>
                  <a:lnTo>
                    <a:pt x="613825" y="546072"/>
                  </a:lnTo>
                  <a:lnTo>
                    <a:pt x="650414" y="520303"/>
                  </a:lnTo>
                  <a:lnTo>
                    <a:pt x="682619" y="491028"/>
                  </a:lnTo>
                  <a:lnTo>
                    <a:pt x="709986" y="458611"/>
                  </a:lnTo>
                  <a:lnTo>
                    <a:pt x="732061" y="423416"/>
                  </a:lnTo>
                  <a:lnTo>
                    <a:pt x="748391" y="385806"/>
                  </a:lnTo>
                  <a:lnTo>
                    <a:pt x="758522" y="346146"/>
                  </a:lnTo>
                  <a:lnTo>
                    <a:pt x="762000" y="304800"/>
                  </a:lnTo>
                  <a:lnTo>
                    <a:pt x="758522" y="263453"/>
                  </a:lnTo>
                  <a:lnTo>
                    <a:pt x="748391" y="223793"/>
                  </a:lnTo>
                  <a:lnTo>
                    <a:pt x="732061" y="186183"/>
                  </a:lnTo>
                  <a:lnTo>
                    <a:pt x="709986" y="150988"/>
                  </a:lnTo>
                  <a:lnTo>
                    <a:pt x="682619" y="118571"/>
                  </a:lnTo>
                  <a:lnTo>
                    <a:pt x="650414" y="89296"/>
                  </a:lnTo>
                  <a:lnTo>
                    <a:pt x="613825" y="63527"/>
                  </a:lnTo>
                  <a:lnTo>
                    <a:pt x="573306" y="41627"/>
                  </a:lnTo>
                  <a:lnTo>
                    <a:pt x="529310" y="23961"/>
                  </a:lnTo>
                  <a:lnTo>
                    <a:pt x="482291" y="10892"/>
                  </a:lnTo>
                  <a:lnTo>
                    <a:pt x="432703" y="278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1600" y="33528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39028" y="35935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0600" y="2362200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143000" y="152400"/>
                  </a:moveTo>
                  <a:lnTo>
                    <a:pt x="1524000" y="152400"/>
                  </a:lnTo>
                </a:path>
                <a:path w="1524000" h="304800">
                  <a:moveTo>
                    <a:pt x="0" y="304800"/>
                  </a:moveTo>
                  <a:lnTo>
                    <a:pt x="381000" y="304800"/>
                  </a:lnTo>
                </a:path>
                <a:path w="1524000" h="3048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81600" y="22097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381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81000" y="609600"/>
                  </a:lnTo>
                  <a:lnTo>
                    <a:pt x="432703" y="606816"/>
                  </a:lnTo>
                  <a:lnTo>
                    <a:pt x="482291" y="598707"/>
                  </a:lnTo>
                  <a:lnTo>
                    <a:pt x="529310" y="585638"/>
                  </a:lnTo>
                  <a:lnTo>
                    <a:pt x="573306" y="567972"/>
                  </a:lnTo>
                  <a:lnTo>
                    <a:pt x="613825" y="546072"/>
                  </a:lnTo>
                  <a:lnTo>
                    <a:pt x="650414" y="520303"/>
                  </a:lnTo>
                  <a:lnTo>
                    <a:pt x="682619" y="491028"/>
                  </a:lnTo>
                  <a:lnTo>
                    <a:pt x="709986" y="458611"/>
                  </a:lnTo>
                  <a:lnTo>
                    <a:pt x="732061" y="423416"/>
                  </a:lnTo>
                  <a:lnTo>
                    <a:pt x="748391" y="385806"/>
                  </a:lnTo>
                  <a:lnTo>
                    <a:pt x="758522" y="346146"/>
                  </a:lnTo>
                  <a:lnTo>
                    <a:pt x="762000" y="304800"/>
                  </a:lnTo>
                  <a:lnTo>
                    <a:pt x="758522" y="263453"/>
                  </a:lnTo>
                  <a:lnTo>
                    <a:pt x="748391" y="223793"/>
                  </a:lnTo>
                  <a:lnTo>
                    <a:pt x="732061" y="186183"/>
                  </a:lnTo>
                  <a:lnTo>
                    <a:pt x="709986" y="150988"/>
                  </a:lnTo>
                  <a:lnTo>
                    <a:pt x="682619" y="118571"/>
                  </a:lnTo>
                  <a:lnTo>
                    <a:pt x="650414" y="89296"/>
                  </a:lnTo>
                  <a:lnTo>
                    <a:pt x="613825" y="63527"/>
                  </a:lnTo>
                  <a:lnTo>
                    <a:pt x="573306" y="41627"/>
                  </a:lnTo>
                  <a:lnTo>
                    <a:pt x="529310" y="23961"/>
                  </a:lnTo>
                  <a:lnTo>
                    <a:pt x="482291" y="10892"/>
                  </a:lnTo>
                  <a:lnTo>
                    <a:pt x="432703" y="278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81600" y="22097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39028" y="24505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2200" y="31242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6781800" y="358140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5940" y="955903"/>
            <a:ext cx="7108825" cy="31254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dirty="0">
                <a:latin typeface="Arial"/>
                <a:cs typeface="Arial"/>
              </a:rPr>
              <a:t>“Q” only changes </a:t>
            </a:r>
            <a:r>
              <a:rPr sz="2000" b="1" spc="10" dirty="0">
                <a:latin typeface="Arial"/>
                <a:cs typeface="Arial"/>
              </a:rPr>
              <a:t>when </a:t>
            </a:r>
            <a:r>
              <a:rPr sz="2000" b="1" dirty="0">
                <a:latin typeface="Arial"/>
                <a:cs typeface="Arial"/>
              </a:rPr>
              <a:t>CLK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high </a:t>
            </a:r>
            <a:r>
              <a:rPr sz="2000" b="1" spc="-5" dirty="0">
                <a:latin typeface="Arial"/>
                <a:cs typeface="Arial"/>
              </a:rPr>
              <a:t>(i.e.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level-sensitive)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dirty="0">
                <a:latin typeface="Arial"/>
                <a:cs typeface="Arial"/>
              </a:rPr>
              <a:t>When CLK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high, </a:t>
            </a:r>
            <a:r>
              <a:rPr sz="2000" b="1" spc="-5" dirty="0">
                <a:latin typeface="Arial"/>
                <a:cs typeface="Arial"/>
              </a:rPr>
              <a:t>behavior </a:t>
            </a:r>
            <a:r>
              <a:rPr sz="2000" b="1" dirty="0">
                <a:latin typeface="Arial"/>
                <a:cs typeface="Arial"/>
              </a:rPr>
              <a:t>same as RS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latch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Arial"/>
              <a:cs typeface="Arial"/>
            </a:endParaRPr>
          </a:p>
          <a:p>
            <a:pPr marL="1549400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S</a:t>
            </a:r>
            <a:endParaRPr sz="1600">
              <a:latin typeface="Tahoma"/>
              <a:cs typeface="Tahoma"/>
            </a:endParaRPr>
          </a:p>
          <a:p>
            <a:pPr marL="623951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ahoma"/>
              <a:cs typeface="Tahoma"/>
            </a:endParaRPr>
          </a:p>
          <a:p>
            <a:pPr marL="1320800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Tahoma"/>
              <a:cs typeface="Tahoma"/>
            </a:endParaRPr>
          </a:p>
          <a:p>
            <a:pPr marL="623951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  <a:p>
            <a:pPr marL="1534795">
              <a:lnSpc>
                <a:spcPct val="100000"/>
              </a:lnSpc>
              <a:spcBef>
                <a:spcPts val="229"/>
              </a:spcBef>
            </a:pPr>
            <a:r>
              <a:rPr sz="1600" spc="-5" dirty="0">
                <a:latin typeface="Tahoma"/>
                <a:cs typeface="Tahoma"/>
              </a:rPr>
              <a:t>R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272028" y="4567428"/>
          <a:ext cx="2588893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CLK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S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R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Q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X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X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Undefined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557" y="283210"/>
            <a:ext cx="4042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Level-Sensitive</a:t>
            </a:r>
            <a:r>
              <a:rPr sz="2800" spc="30" dirty="0"/>
              <a:t> </a:t>
            </a:r>
            <a:r>
              <a:rPr sz="2800" spc="-5" dirty="0"/>
              <a:t>D-Latch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4136212"/>
            <a:ext cx="743077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sz="3200" spc="-5" dirty="0">
                <a:latin typeface="Arial"/>
                <a:cs typeface="Arial"/>
              </a:rPr>
              <a:t>Make </a:t>
            </a:r>
            <a:r>
              <a:rPr sz="3200" dirty="0">
                <a:latin typeface="Arial"/>
                <a:cs typeface="Arial"/>
              </a:rPr>
              <a:t>level-sensitive D-latch from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level-  </a:t>
            </a:r>
            <a:r>
              <a:rPr sz="3200" dirty="0">
                <a:latin typeface="Arial"/>
                <a:cs typeface="Arial"/>
              </a:rPr>
              <a:t>sensitive RS-latch by </a:t>
            </a:r>
            <a:r>
              <a:rPr sz="3200" spc="-5" dirty="0">
                <a:latin typeface="Arial"/>
                <a:cs typeface="Arial"/>
              </a:rPr>
              <a:t>connecting </a:t>
            </a:r>
            <a:r>
              <a:rPr sz="3200" dirty="0">
                <a:latin typeface="Arial"/>
                <a:cs typeface="Arial"/>
              </a:rPr>
              <a:t>S = D  </a:t>
            </a:r>
            <a:r>
              <a:rPr sz="3200" spc="-5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R = </a:t>
            </a:r>
            <a:r>
              <a:rPr sz="3200" spc="-5" dirty="0">
                <a:latin typeface="Arial"/>
                <a:cs typeface="Arial"/>
              </a:rPr>
              <a:t>not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1200" y="1824227"/>
            <a:ext cx="4648200" cy="2066925"/>
            <a:chOff x="1981200" y="1824227"/>
            <a:chExt cx="4648200" cy="2066925"/>
          </a:xfrm>
        </p:grpSpPr>
        <p:sp>
          <p:nvSpPr>
            <p:cNvPr id="5" name="object 5"/>
            <p:cNvSpPr/>
            <p:nvPr/>
          </p:nvSpPr>
          <p:spPr>
            <a:xfrm>
              <a:off x="2362200" y="2286000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304800" y="0"/>
                  </a:moveTo>
                  <a:lnTo>
                    <a:pt x="304800" y="1143000"/>
                  </a:lnTo>
                </a:path>
                <a:path w="2133600" h="1447800">
                  <a:moveTo>
                    <a:pt x="304800" y="1143000"/>
                  </a:moveTo>
                  <a:lnTo>
                    <a:pt x="685800" y="1143000"/>
                  </a:lnTo>
                </a:path>
                <a:path w="2133600" h="1447800">
                  <a:moveTo>
                    <a:pt x="1828800" y="1295400"/>
                  </a:moveTo>
                  <a:lnTo>
                    <a:pt x="2133600" y="1295400"/>
                  </a:lnTo>
                </a:path>
                <a:path w="2133600" h="1447800">
                  <a:moveTo>
                    <a:pt x="1447800" y="1295400"/>
                  </a:moveTo>
                  <a:lnTo>
                    <a:pt x="1828800" y="1295400"/>
                  </a:lnTo>
                </a:path>
                <a:path w="2133600" h="1447800">
                  <a:moveTo>
                    <a:pt x="0" y="1447800"/>
                  </a:moveTo>
                  <a:lnTo>
                    <a:pt x="304800" y="1447800"/>
                  </a:lnTo>
                </a:path>
                <a:path w="2133600" h="1447800">
                  <a:moveTo>
                    <a:pt x="304800" y="1447800"/>
                  </a:moveTo>
                  <a:lnTo>
                    <a:pt x="685800" y="1447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0" y="32766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05427" y="3517392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000" y="22860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1981199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000" y="198119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1000" y="21336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0000" y="21336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18287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5427" y="20695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5800" y="2133600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0" y="0"/>
                  </a:moveTo>
                  <a:lnTo>
                    <a:pt x="304800" y="0"/>
                  </a:lnTo>
                </a:path>
                <a:path w="2133600" h="1447800">
                  <a:moveTo>
                    <a:pt x="0" y="1447800"/>
                  </a:moveTo>
                  <a:lnTo>
                    <a:pt x="304800" y="1447800"/>
                  </a:lnTo>
                </a:path>
                <a:path w="2133600" h="1447800">
                  <a:moveTo>
                    <a:pt x="304800" y="1447800"/>
                  </a:moveTo>
                  <a:lnTo>
                    <a:pt x="685800" y="1447800"/>
                  </a:lnTo>
                </a:path>
                <a:path w="2133600" h="1447800">
                  <a:moveTo>
                    <a:pt x="304800" y="304800"/>
                  </a:moveTo>
                  <a:lnTo>
                    <a:pt x="304800" y="533400"/>
                  </a:lnTo>
                </a:path>
                <a:path w="2133600" h="1447800">
                  <a:moveTo>
                    <a:pt x="304800" y="914400"/>
                  </a:moveTo>
                  <a:lnTo>
                    <a:pt x="304800" y="1143000"/>
                  </a:lnTo>
                </a:path>
                <a:path w="2133600" h="1447800">
                  <a:moveTo>
                    <a:pt x="1828800" y="1066800"/>
                  </a:moveTo>
                  <a:lnTo>
                    <a:pt x="1828800" y="1295400"/>
                  </a:lnTo>
                </a:path>
                <a:path w="2133600" h="1447800">
                  <a:moveTo>
                    <a:pt x="304800" y="533400"/>
                  </a:moveTo>
                  <a:lnTo>
                    <a:pt x="1828800" y="1066800"/>
                  </a:lnTo>
                </a:path>
                <a:path w="2133600" h="1447800">
                  <a:moveTo>
                    <a:pt x="1828800" y="152400"/>
                  </a:moveTo>
                  <a:lnTo>
                    <a:pt x="1828800" y="381000"/>
                  </a:lnTo>
                </a:path>
                <a:path w="2133600" h="1447800">
                  <a:moveTo>
                    <a:pt x="304800" y="914400"/>
                  </a:moveTo>
                  <a:lnTo>
                    <a:pt x="1828800" y="381000"/>
                  </a:lnTo>
                </a:path>
                <a:path w="2133600" h="1447800">
                  <a:moveTo>
                    <a:pt x="1828800" y="152400"/>
                  </a:moveTo>
                  <a:lnTo>
                    <a:pt x="2133600" y="152400"/>
                  </a:lnTo>
                </a:path>
                <a:path w="2133600" h="1447800">
                  <a:moveTo>
                    <a:pt x="1828800" y="1295400"/>
                  </a:moveTo>
                  <a:lnTo>
                    <a:pt x="2133600" y="1295400"/>
                  </a:lnTo>
                </a:path>
                <a:path w="2133600" h="1447800">
                  <a:moveTo>
                    <a:pt x="1447800" y="1295400"/>
                  </a:moveTo>
                  <a:lnTo>
                    <a:pt x="1828800" y="1295400"/>
                  </a:lnTo>
                </a:path>
                <a:path w="2133600" h="1447800">
                  <a:moveTo>
                    <a:pt x="304800" y="1143000"/>
                  </a:moveTo>
                  <a:lnTo>
                    <a:pt x="6858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1600" y="31242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381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81000" y="609600"/>
                  </a:lnTo>
                  <a:lnTo>
                    <a:pt x="432703" y="606816"/>
                  </a:lnTo>
                  <a:lnTo>
                    <a:pt x="482291" y="598707"/>
                  </a:lnTo>
                  <a:lnTo>
                    <a:pt x="529310" y="585638"/>
                  </a:lnTo>
                  <a:lnTo>
                    <a:pt x="573306" y="567972"/>
                  </a:lnTo>
                  <a:lnTo>
                    <a:pt x="613825" y="546072"/>
                  </a:lnTo>
                  <a:lnTo>
                    <a:pt x="650414" y="520303"/>
                  </a:lnTo>
                  <a:lnTo>
                    <a:pt x="682619" y="491028"/>
                  </a:lnTo>
                  <a:lnTo>
                    <a:pt x="709986" y="458611"/>
                  </a:lnTo>
                  <a:lnTo>
                    <a:pt x="732061" y="423416"/>
                  </a:lnTo>
                  <a:lnTo>
                    <a:pt x="748391" y="385806"/>
                  </a:lnTo>
                  <a:lnTo>
                    <a:pt x="758522" y="346146"/>
                  </a:lnTo>
                  <a:lnTo>
                    <a:pt x="762000" y="304800"/>
                  </a:lnTo>
                  <a:lnTo>
                    <a:pt x="758522" y="263453"/>
                  </a:lnTo>
                  <a:lnTo>
                    <a:pt x="748391" y="223793"/>
                  </a:lnTo>
                  <a:lnTo>
                    <a:pt x="732061" y="186183"/>
                  </a:lnTo>
                  <a:lnTo>
                    <a:pt x="709986" y="150988"/>
                  </a:lnTo>
                  <a:lnTo>
                    <a:pt x="682619" y="118571"/>
                  </a:lnTo>
                  <a:lnTo>
                    <a:pt x="650414" y="89296"/>
                  </a:lnTo>
                  <a:lnTo>
                    <a:pt x="613825" y="63527"/>
                  </a:lnTo>
                  <a:lnTo>
                    <a:pt x="573306" y="41627"/>
                  </a:lnTo>
                  <a:lnTo>
                    <a:pt x="529310" y="23961"/>
                  </a:lnTo>
                  <a:lnTo>
                    <a:pt x="482291" y="10892"/>
                  </a:lnTo>
                  <a:lnTo>
                    <a:pt x="432703" y="278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81600" y="312420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39028" y="33649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600" y="2133600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143000" y="152400"/>
                  </a:moveTo>
                  <a:lnTo>
                    <a:pt x="1524000" y="152400"/>
                  </a:lnTo>
                </a:path>
                <a:path w="1524000" h="304800">
                  <a:moveTo>
                    <a:pt x="0" y="304800"/>
                  </a:moveTo>
                  <a:lnTo>
                    <a:pt x="381000" y="304800"/>
                  </a:lnTo>
                </a:path>
                <a:path w="1524000" h="3048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81600" y="19811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381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81000" y="609600"/>
                  </a:lnTo>
                  <a:lnTo>
                    <a:pt x="432703" y="606816"/>
                  </a:lnTo>
                  <a:lnTo>
                    <a:pt x="482291" y="598707"/>
                  </a:lnTo>
                  <a:lnTo>
                    <a:pt x="529310" y="585638"/>
                  </a:lnTo>
                  <a:lnTo>
                    <a:pt x="573306" y="567972"/>
                  </a:lnTo>
                  <a:lnTo>
                    <a:pt x="613825" y="546072"/>
                  </a:lnTo>
                  <a:lnTo>
                    <a:pt x="650414" y="520303"/>
                  </a:lnTo>
                  <a:lnTo>
                    <a:pt x="682619" y="491028"/>
                  </a:lnTo>
                  <a:lnTo>
                    <a:pt x="709986" y="458611"/>
                  </a:lnTo>
                  <a:lnTo>
                    <a:pt x="732061" y="423416"/>
                  </a:lnTo>
                  <a:lnTo>
                    <a:pt x="748391" y="385806"/>
                  </a:lnTo>
                  <a:lnTo>
                    <a:pt x="758522" y="346146"/>
                  </a:lnTo>
                  <a:lnTo>
                    <a:pt x="762000" y="304800"/>
                  </a:lnTo>
                  <a:lnTo>
                    <a:pt x="758522" y="263453"/>
                  </a:lnTo>
                  <a:lnTo>
                    <a:pt x="748391" y="223793"/>
                  </a:lnTo>
                  <a:lnTo>
                    <a:pt x="732061" y="186183"/>
                  </a:lnTo>
                  <a:lnTo>
                    <a:pt x="709986" y="150988"/>
                  </a:lnTo>
                  <a:lnTo>
                    <a:pt x="682619" y="118571"/>
                  </a:lnTo>
                  <a:lnTo>
                    <a:pt x="650414" y="89296"/>
                  </a:lnTo>
                  <a:lnTo>
                    <a:pt x="613825" y="63527"/>
                  </a:lnTo>
                  <a:lnTo>
                    <a:pt x="573306" y="41627"/>
                  </a:lnTo>
                  <a:lnTo>
                    <a:pt x="529310" y="23961"/>
                  </a:lnTo>
                  <a:lnTo>
                    <a:pt x="482291" y="10892"/>
                  </a:lnTo>
                  <a:lnTo>
                    <a:pt x="432703" y="2783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1600" y="198119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39028" y="2221991"/>
              <a:ext cx="128016" cy="1295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1200" y="1981199"/>
              <a:ext cx="995680" cy="1752600"/>
            </a:xfrm>
            <a:custGeom>
              <a:avLst/>
              <a:gdLst/>
              <a:ahLst/>
              <a:cxnLst/>
              <a:rect l="l" t="t" r="r" b="b"/>
              <a:pathLst>
                <a:path w="995680" h="1752600">
                  <a:moveTo>
                    <a:pt x="0" y="914400"/>
                  </a:moveTo>
                  <a:lnTo>
                    <a:pt x="685800" y="914400"/>
                  </a:lnTo>
                </a:path>
                <a:path w="995680" h="1752600">
                  <a:moveTo>
                    <a:pt x="381000" y="0"/>
                  </a:moveTo>
                  <a:lnTo>
                    <a:pt x="381000" y="1752600"/>
                  </a:lnTo>
                </a:path>
                <a:path w="995680" h="1752600">
                  <a:moveTo>
                    <a:pt x="381000" y="1752600"/>
                  </a:moveTo>
                  <a:lnTo>
                    <a:pt x="995172" y="1752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26791" y="3581400"/>
              <a:ext cx="245745" cy="304800"/>
            </a:xfrm>
            <a:custGeom>
              <a:avLst/>
              <a:gdLst/>
              <a:ahLst/>
              <a:cxnLst/>
              <a:rect l="l" t="t" r="r" b="b"/>
              <a:pathLst>
                <a:path w="245744" h="304800">
                  <a:moveTo>
                    <a:pt x="0" y="0"/>
                  </a:moveTo>
                  <a:lnTo>
                    <a:pt x="0" y="304800"/>
                  </a:lnTo>
                  <a:lnTo>
                    <a:pt x="245363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26791" y="3581400"/>
              <a:ext cx="245745" cy="304800"/>
            </a:xfrm>
            <a:custGeom>
              <a:avLst/>
              <a:gdLst/>
              <a:ahLst/>
              <a:cxnLst/>
              <a:rect l="l" t="t" r="r" b="b"/>
              <a:pathLst>
                <a:path w="245744" h="304800">
                  <a:moveTo>
                    <a:pt x="0" y="0"/>
                  </a:moveTo>
                  <a:lnTo>
                    <a:pt x="245363" y="1524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67583" y="3678935"/>
              <a:ext cx="91440" cy="1097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733169" y="1862454"/>
            <a:ext cx="16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63257" y="2167254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781800" y="335280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763257" y="3310509"/>
            <a:ext cx="1957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7695" algn="l"/>
              </a:tabLst>
            </a:pPr>
            <a:r>
              <a:rPr sz="1600" spc="-5" dirty="0">
                <a:latin typeface="Tahoma"/>
                <a:cs typeface="Tahoma"/>
              </a:rPr>
              <a:t>Q	18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Transistors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8317" y="2745104"/>
            <a:ext cx="367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082" y="150063"/>
            <a:ext cx="7470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Master-Slave </a:t>
            </a:r>
            <a:r>
              <a:rPr sz="3200" dirty="0"/>
              <a:t>Edge-Triggered</a:t>
            </a:r>
            <a:r>
              <a:rPr sz="3200" spc="-90" dirty="0"/>
              <a:t> </a:t>
            </a:r>
            <a:r>
              <a:rPr sz="3200" spc="-5" dirty="0"/>
              <a:t>Flip-Flop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260335" y="3581400"/>
            <a:ext cx="1460500" cy="3460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latin typeface="Tahoma"/>
                <a:cs typeface="Tahoma"/>
              </a:rPr>
              <a:t>36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Transistors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8308" y="2052954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0476" y="1290827"/>
            <a:ext cx="7691755" cy="2369820"/>
            <a:chOff x="760476" y="1290827"/>
            <a:chExt cx="7691755" cy="2369820"/>
          </a:xfrm>
        </p:grpSpPr>
        <p:sp>
          <p:nvSpPr>
            <p:cNvPr id="6" name="object 6"/>
            <p:cNvSpPr/>
            <p:nvPr/>
          </p:nvSpPr>
          <p:spPr>
            <a:xfrm>
              <a:off x="760476" y="1699259"/>
              <a:ext cx="2255520" cy="1323340"/>
            </a:xfrm>
            <a:custGeom>
              <a:avLst/>
              <a:gdLst/>
              <a:ahLst/>
              <a:cxnLst/>
              <a:rect l="l" t="t" r="r" b="b"/>
              <a:pathLst>
                <a:path w="2255520" h="1323339">
                  <a:moveTo>
                    <a:pt x="655320" y="228600"/>
                  </a:moveTo>
                  <a:lnTo>
                    <a:pt x="655320" y="1092707"/>
                  </a:lnTo>
                </a:path>
                <a:path w="2255520" h="1323339">
                  <a:moveTo>
                    <a:pt x="0" y="1092707"/>
                  </a:moveTo>
                  <a:lnTo>
                    <a:pt x="655320" y="1092707"/>
                  </a:lnTo>
                </a:path>
                <a:path w="2255520" h="1323339">
                  <a:moveTo>
                    <a:pt x="0" y="0"/>
                  </a:moveTo>
                  <a:lnTo>
                    <a:pt x="655320" y="0"/>
                  </a:lnTo>
                </a:path>
                <a:path w="2255520" h="1323339">
                  <a:moveTo>
                    <a:pt x="364236" y="1322831"/>
                  </a:moveTo>
                  <a:lnTo>
                    <a:pt x="655320" y="1322831"/>
                  </a:lnTo>
                </a:path>
                <a:path w="2255520" h="1323339">
                  <a:moveTo>
                    <a:pt x="364236" y="0"/>
                  </a:moveTo>
                  <a:lnTo>
                    <a:pt x="364236" y="1322831"/>
                  </a:lnTo>
                </a:path>
                <a:path w="2255520" h="1323339">
                  <a:moveTo>
                    <a:pt x="655320" y="1322831"/>
                  </a:moveTo>
                  <a:lnTo>
                    <a:pt x="1019556" y="1322831"/>
                  </a:lnTo>
                </a:path>
                <a:path w="2255520" h="1323339">
                  <a:moveTo>
                    <a:pt x="655320" y="1092707"/>
                  </a:moveTo>
                  <a:lnTo>
                    <a:pt x="1019556" y="1092707"/>
                  </a:lnTo>
                </a:path>
                <a:path w="2255520" h="1323339">
                  <a:moveTo>
                    <a:pt x="1965960" y="1207007"/>
                  </a:moveTo>
                  <a:lnTo>
                    <a:pt x="2255520" y="1207007"/>
                  </a:lnTo>
                </a:path>
                <a:path w="2255520" h="1323339">
                  <a:moveTo>
                    <a:pt x="1601724" y="1207007"/>
                  </a:moveTo>
                  <a:lnTo>
                    <a:pt x="1892808" y="1207007"/>
                  </a:lnTo>
                </a:path>
                <a:path w="2255520" h="1323339">
                  <a:moveTo>
                    <a:pt x="1748028" y="1207007"/>
                  </a:moveTo>
                  <a:lnTo>
                    <a:pt x="2110740" y="120700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0031" y="2676144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80" h="460375">
                  <a:moveTo>
                    <a:pt x="364236" y="0"/>
                  </a:moveTo>
                  <a:lnTo>
                    <a:pt x="0" y="0"/>
                  </a:lnTo>
                  <a:lnTo>
                    <a:pt x="0" y="460247"/>
                  </a:lnTo>
                  <a:lnTo>
                    <a:pt x="364236" y="460247"/>
                  </a:lnTo>
                  <a:lnTo>
                    <a:pt x="423318" y="457236"/>
                  </a:lnTo>
                  <a:lnTo>
                    <a:pt x="479365" y="448519"/>
                  </a:lnTo>
                  <a:lnTo>
                    <a:pt x="531626" y="434568"/>
                  </a:lnTo>
                  <a:lnTo>
                    <a:pt x="579351" y="415856"/>
                  </a:lnTo>
                  <a:lnTo>
                    <a:pt x="621792" y="392858"/>
                  </a:lnTo>
                  <a:lnTo>
                    <a:pt x="658197" y="366046"/>
                  </a:lnTo>
                  <a:lnTo>
                    <a:pt x="687817" y="335893"/>
                  </a:lnTo>
                  <a:lnTo>
                    <a:pt x="709903" y="302873"/>
                  </a:lnTo>
                  <a:lnTo>
                    <a:pt x="728472" y="230123"/>
                  </a:lnTo>
                  <a:lnTo>
                    <a:pt x="723704" y="192788"/>
                  </a:lnTo>
                  <a:lnTo>
                    <a:pt x="687817" y="124354"/>
                  </a:lnTo>
                  <a:lnTo>
                    <a:pt x="658197" y="94201"/>
                  </a:lnTo>
                  <a:lnTo>
                    <a:pt x="621792" y="67389"/>
                  </a:lnTo>
                  <a:lnTo>
                    <a:pt x="579351" y="44391"/>
                  </a:lnTo>
                  <a:lnTo>
                    <a:pt x="531626" y="25679"/>
                  </a:lnTo>
                  <a:lnTo>
                    <a:pt x="479365" y="11728"/>
                  </a:lnTo>
                  <a:lnTo>
                    <a:pt x="423318" y="3011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0031" y="2676144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80" h="460375">
                  <a:moveTo>
                    <a:pt x="0" y="0"/>
                  </a:moveTo>
                  <a:lnTo>
                    <a:pt x="364236" y="0"/>
                  </a:lnTo>
                  <a:lnTo>
                    <a:pt x="423318" y="3011"/>
                  </a:lnTo>
                  <a:lnTo>
                    <a:pt x="479365" y="11728"/>
                  </a:lnTo>
                  <a:lnTo>
                    <a:pt x="531626" y="25679"/>
                  </a:lnTo>
                  <a:lnTo>
                    <a:pt x="579351" y="44391"/>
                  </a:lnTo>
                  <a:lnTo>
                    <a:pt x="621792" y="67389"/>
                  </a:lnTo>
                  <a:lnTo>
                    <a:pt x="658197" y="94201"/>
                  </a:lnTo>
                  <a:lnTo>
                    <a:pt x="687817" y="124354"/>
                  </a:lnTo>
                  <a:lnTo>
                    <a:pt x="709903" y="157374"/>
                  </a:lnTo>
                  <a:lnTo>
                    <a:pt x="728472" y="230123"/>
                  </a:lnTo>
                  <a:lnTo>
                    <a:pt x="723704" y="267459"/>
                  </a:lnTo>
                  <a:lnTo>
                    <a:pt x="687817" y="335893"/>
                  </a:lnTo>
                  <a:lnTo>
                    <a:pt x="658197" y="366046"/>
                  </a:lnTo>
                  <a:lnTo>
                    <a:pt x="621792" y="392858"/>
                  </a:lnTo>
                  <a:lnTo>
                    <a:pt x="579351" y="415856"/>
                  </a:lnTo>
                  <a:lnTo>
                    <a:pt x="531626" y="434568"/>
                  </a:lnTo>
                  <a:lnTo>
                    <a:pt x="479365" y="448519"/>
                  </a:lnTo>
                  <a:lnTo>
                    <a:pt x="423318" y="457236"/>
                  </a:lnTo>
                  <a:lnTo>
                    <a:pt x="364236" y="460247"/>
                  </a:lnTo>
                  <a:lnTo>
                    <a:pt x="0" y="460247"/>
                  </a:lnTo>
                  <a:lnTo>
                    <a:pt x="0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03931" y="2857500"/>
              <a:ext cx="121920" cy="99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62200" y="1813559"/>
              <a:ext cx="654050" cy="0"/>
            </a:xfrm>
            <a:custGeom>
              <a:avLst/>
              <a:gdLst/>
              <a:ahLst/>
              <a:cxnLst/>
              <a:rect l="l" t="t" r="r" b="b"/>
              <a:pathLst>
                <a:path w="654050">
                  <a:moveTo>
                    <a:pt x="364236" y="0"/>
                  </a:moveTo>
                  <a:lnTo>
                    <a:pt x="653795" y="0"/>
                  </a:lnTo>
                </a:path>
                <a:path w="654050">
                  <a:moveTo>
                    <a:pt x="0" y="0"/>
                  </a:moveTo>
                  <a:lnTo>
                    <a:pt x="29108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5795" y="1697736"/>
              <a:ext cx="1455420" cy="231775"/>
            </a:xfrm>
            <a:custGeom>
              <a:avLst/>
              <a:gdLst/>
              <a:ahLst/>
              <a:cxnLst/>
              <a:rect l="l" t="t" r="r" b="b"/>
              <a:pathLst>
                <a:path w="1455420" h="231775">
                  <a:moveTo>
                    <a:pt x="1092708" y="115824"/>
                  </a:moveTo>
                  <a:lnTo>
                    <a:pt x="1455420" y="115824"/>
                  </a:lnTo>
                </a:path>
                <a:path w="1455420" h="231775">
                  <a:moveTo>
                    <a:pt x="0" y="231648"/>
                  </a:moveTo>
                  <a:lnTo>
                    <a:pt x="364235" y="231648"/>
                  </a:lnTo>
                </a:path>
                <a:path w="1455420" h="231775">
                  <a:moveTo>
                    <a:pt x="0" y="0"/>
                  </a:moveTo>
                  <a:lnTo>
                    <a:pt x="364235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0031" y="1583436"/>
              <a:ext cx="728980" cy="462280"/>
            </a:xfrm>
            <a:custGeom>
              <a:avLst/>
              <a:gdLst/>
              <a:ahLst/>
              <a:cxnLst/>
              <a:rect l="l" t="t" r="r" b="b"/>
              <a:pathLst>
                <a:path w="728980" h="462280">
                  <a:moveTo>
                    <a:pt x="364236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364236" y="461772"/>
                  </a:lnTo>
                  <a:lnTo>
                    <a:pt x="423318" y="458749"/>
                  </a:lnTo>
                  <a:lnTo>
                    <a:pt x="479365" y="450000"/>
                  </a:lnTo>
                  <a:lnTo>
                    <a:pt x="531626" y="435999"/>
                  </a:lnTo>
                  <a:lnTo>
                    <a:pt x="579351" y="417222"/>
                  </a:lnTo>
                  <a:lnTo>
                    <a:pt x="621792" y="394144"/>
                  </a:lnTo>
                  <a:lnTo>
                    <a:pt x="658197" y="367241"/>
                  </a:lnTo>
                  <a:lnTo>
                    <a:pt x="687817" y="336988"/>
                  </a:lnTo>
                  <a:lnTo>
                    <a:pt x="709903" y="303861"/>
                  </a:lnTo>
                  <a:lnTo>
                    <a:pt x="723704" y="268335"/>
                  </a:lnTo>
                  <a:lnTo>
                    <a:pt x="728472" y="230886"/>
                  </a:lnTo>
                  <a:lnTo>
                    <a:pt x="723704" y="193436"/>
                  </a:lnTo>
                  <a:lnTo>
                    <a:pt x="709903" y="157910"/>
                  </a:lnTo>
                  <a:lnTo>
                    <a:pt x="687817" y="124783"/>
                  </a:lnTo>
                  <a:lnTo>
                    <a:pt x="658197" y="94530"/>
                  </a:lnTo>
                  <a:lnTo>
                    <a:pt x="621792" y="67627"/>
                  </a:lnTo>
                  <a:lnTo>
                    <a:pt x="579351" y="44549"/>
                  </a:lnTo>
                  <a:lnTo>
                    <a:pt x="531626" y="25772"/>
                  </a:lnTo>
                  <a:lnTo>
                    <a:pt x="479365" y="11771"/>
                  </a:lnTo>
                  <a:lnTo>
                    <a:pt x="423318" y="3022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0031" y="1583436"/>
              <a:ext cx="728980" cy="462280"/>
            </a:xfrm>
            <a:custGeom>
              <a:avLst/>
              <a:gdLst/>
              <a:ahLst/>
              <a:cxnLst/>
              <a:rect l="l" t="t" r="r" b="b"/>
              <a:pathLst>
                <a:path w="728980" h="462280">
                  <a:moveTo>
                    <a:pt x="0" y="0"/>
                  </a:moveTo>
                  <a:lnTo>
                    <a:pt x="364236" y="0"/>
                  </a:lnTo>
                  <a:lnTo>
                    <a:pt x="423318" y="3022"/>
                  </a:lnTo>
                  <a:lnTo>
                    <a:pt x="479365" y="11771"/>
                  </a:lnTo>
                  <a:lnTo>
                    <a:pt x="531626" y="25772"/>
                  </a:lnTo>
                  <a:lnTo>
                    <a:pt x="579351" y="44549"/>
                  </a:lnTo>
                  <a:lnTo>
                    <a:pt x="621792" y="67627"/>
                  </a:lnTo>
                  <a:lnTo>
                    <a:pt x="658197" y="94530"/>
                  </a:lnTo>
                  <a:lnTo>
                    <a:pt x="687817" y="124783"/>
                  </a:lnTo>
                  <a:lnTo>
                    <a:pt x="709903" y="157910"/>
                  </a:lnTo>
                  <a:lnTo>
                    <a:pt x="723704" y="193436"/>
                  </a:lnTo>
                  <a:lnTo>
                    <a:pt x="728472" y="230886"/>
                  </a:lnTo>
                  <a:lnTo>
                    <a:pt x="723704" y="268335"/>
                  </a:lnTo>
                  <a:lnTo>
                    <a:pt x="709903" y="303861"/>
                  </a:lnTo>
                  <a:lnTo>
                    <a:pt x="687817" y="336988"/>
                  </a:lnTo>
                  <a:lnTo>
                    <a:pt x="658197" y="367241"/>
                  </a:lnTo>
                  <a:lnTo>
                    <a:pt x="621792" y="394144"/>
                  </a:lnTo>
                  <a:lnTo>
                    <a:pt x="579351" y="417222"/>
                  </a:lnTo>
                  <a:lnTo>
                    <a:pt x="531626" y="435999"/>
                  </a:lnTo>
                  <a:lnTo>
                    <a:pt x="479365" y="450000"/>
                  </a:lnTo>
                  <a:lnTo>
                    <a:pt x="423318" y="458749"/>
                  </a:lnTo>
                  <a:lnTo>
                    <a:pt x="364236" y="461772"/>
                  </a:lnTo>
                  <a:lnTo>
                    <a:pt x="0" y="46177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3931" y="1764791"/>
              <a:ext cx="121920" cy="99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53283" y="2907791"/>
              <a:ext cx="363220" cy="0"/>
            </a:xfrm>
            <a:custGeom>
              <a:avLst/>
              <a:gdLst/>
              <a:ahLst/>
              <a:cxnLst/>
              <a:rect l="l" t="t" r="r" b="b"/>
              <a:pathLst>
                <a:path w="363219">
                  <a:moveTo>
                    <a:pt x="0" y="0"/>
                  </a:moveTo>
                  <a:lnTo>
                    <a:pt x="36271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3283" y="1927859"/>
              <a:ext cx="1744980" cy="864235"/>
            </a:xfrm>
            <a:custGeom>
              <a:avLst/>
              <a:gdLst/>
              <a:ahLst/>
              <a:cxnLst/>
              <a:rect l="l" t="t" r="r" b="b"/>
              <a:pathLst>
                <a:path w="1744979" h="864235">
                  <a:moveTo>
                    <a:pt x="0" y="117348"/>
                  </a:moveTo>
                  <a:lnTo>
                    <a:pt x="0" y="289560"/>
                  </a:lnTo>
                </a:path>
                <a:path w="1744979" h="864235">
                  <a:moveTo>
                    <a:pt x="0" y="577595"/>
                  </a:moveTo>
                  <a:lnTo>
                    <a:pt x="0" y="748284"/>
                  </a:lnTo>
                </a:path>
                <a:path w="1744979" h="864235">
                  <a:moveTo>
                    <a:pt x="1455420" y="691895"/>
                  </a:moveTo>
                  <a:lnTo>
                    <a:pt x="1455420" y="864107"/>
                  </a:lnTo>
                </a:path>
                <a:path w="1744979" h="864235">
                  <a:moveTo>
                    <a:pt x="0" y="289560"/>
                  </a:moveTo>
                  <a:lnTo>
                    <a:pt x="1455420" y="691895"/>
                  </a:lnTo>
                </a:path>
                <a:path w="1744979" h="864235">
                  <a:moveTo>
                    <a:pt x="1455420" y="0"/>
                  </a:moveTo>
                  <a:lnTo>
                    <a:pt x="1455420" y="173736"/>
                  </a:lnTo>
                </a:path>
                <a:path w="1744979" h="864235">
                  <a:moveTo>
                    <a:pt x="0" y="577595"/>
                  </a:moveTo>
                  <a:lnTo>
                    <a:pt x="1455420" y="173736"/>
                  </a:lnTo>
                </a:path>
                <a:path w="1744979" h="864235">
                  <a:moveTo>
                    <a:pt x="1455420" y="1524"/>
                  </a:moveTo>
                  <a:lnTo>
                    <a:pt x="1744980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3283" y="2677667"/>
              <a:ext cx="1455420" cy="114300"/>
            </a:xfrm>
            <a:custGeom>
              <a:avLst/>
              <a:gdLst/>
              <a:ahLst/>
              <a:cxnLst/>
              <a:rect l="l" t="t" r="r" b="b"/>
              <a:pathLst>
                <a:path w="1455420" h="114300">
                  <a:moveTo>
                    <a:pt x="1091183" y="114300"/>
                  </a:moveTo>
                  <a:lnTo>
                    <a:pt x="1455420" y="114300"/>
                  </a:lnTo>
                </a:path>
                <a:path w="1455420" h="114300">
                  <a:moveTo>
                    <a:pt x="0" y="0"/>
                  </a:moveTo>
                  <a:lnTo>
                    <a:pt x="36271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5996" y="2561844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364236" y="0"/>
                  </a:moveTo>
                  <a:lnTo>
                    <a:pt x="0" y="0"/>
                  </a:lnTo>
                  <a:lnTo>
                    <a:pt x="0" y="460247"/>
                  </a:lnTo>
                  <a:lnTo>
                    <a:pt x="364236" y="460247"/>
                  </a:lnTo>
                  <a:lnTo>
                    <a:pt x="423318" y="457236"/>
                  </a:lnTo>
                  <a:lnTo>
                    <a:pt x="479365" y="448519"/>
                  </a:lnTo>
                  <a:lnTo>
                    <a:pt x="531626" y="434568"/>
                  </a:lnTo>
                  <a:lnTo>
                    <a:pt x="579351" y="415856"/>
                  </a:lnTo>
                  <a:lnTo>
                    <a:pt x="621792" y="392858"/>
                  </a:lnTo>
                  <a:lnTo>
                    <a:pt x="658197" y="366046"/>
                  </a:lnTo>
                  <a:lnTo>
                    <a:pt x="687817" y="335893"/>
                  </a:lnTo>
                  <a:lnTo>
                    <a:pt x="709903" y="302873"/>
                  </a:lnTo>
                  <a:lnTo>
                    <a:pt x="728471" y="230123"/>
                  </a:lnTo>
                  <a:lnTo>
                    <a:pt x="723704" y="192788"/>
                  </a:lnTo>
                  <a:lnTo>
                    <a:pt x="687817" y="124354"/>
                  </a:lnTo>
                  <a:lnTo>
                    <a:pt x="658197" y="94201"/>
                  </a:lnTo>
                  <a:lnTo>
                    <a:pt x="621792" y="67389"/>
                  </a:lnTo>
                  <a:lnTo>
                    <a:pt x="579351" y="44391"/>
                  </a:lnTo>
                  <a:lnTo>
                    <a:pt x="531626" y="25679"/>
                  </a:lnTo>
                  <a:lnTo>
                    <a:pt x="479365" y="11728"/>
                  </a:lnTo>
                  <a:lnTo>
                    <a:pt x="423318" y="3011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15996" y="2561844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0" y="0"/>
                  </a:moveTo>
                  <a:lnTo>
                    <a:pt x="364236" y="0"/>
                  </a:lnTo>
                  <a:lnTo>
                    <a:pt x="423318" y="3011"/>
                  </a:lnTo>
                  <a:lnTo>
                    <a:pt x="479365" y="11728"/>
                  </a:lnTo>
                  <a:lnTo>
                    <a:pt x="531626" y="25679"/>
                  </a:lnTo>
                  <a:lnTo>
                    <a:pt x="579351" y="44391"/>
                  </a:lnTo>
                  <a:lnTo>
                    <a:pt x="621792" y="67389"/>
                  </a:lnTo>
                  <a:lnTo>
                    <a:pt x="658197" y="94201"/>
                  </a:lnTo>
                  <a:lnTo>
                    <a:pt x="687817" y="124354"/>
                  </a:lnTo>
                  <a:lnTo>
                    <a:pt x="709903" y="157374"/>
                  </a:lnTo>
                  <a:lnTo>
                    <a:pt x="728471" y="230123"/>
                  </a:lnTo>
                  <a:lnTo>
                    <a:pt x="723704" y="267459"/>
                  </a:lnTo>
                  <a:lnTo>
                    <a:pt x="687817" y="335893"/>
                  </a:lnTo>
                  <a:lnTo>
                    <a:pt x="658197" y="366046"/>
                  </a:lnTo>
                  <a:lnTo>
                    <a:pt x="621792" y="392858"/>
                  </a:lnTo>
                  <a:lnTo>
                    <a:pt x="579351" y="415856"/>
                  </a:lnTo>
                  <a:lnTo>
                    <a:pt x="531626" y="434568"/>
                  </a:lnTo>
                  <a:lnTo>
                    <a:pt x="479365" y="448519"/>
                  </a:lnTo>
                  <a:lnTo>
                    <a:pt x="423318" y="457236"/>
                  </a:lnTo>
                  <a:lnTo>
                    <a:pt x="364236" y="460247"/>
                  </a:lnTo>
                  <a:lnTo>
                    <a:pt x="0" y="460247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39896" y="2743200"/>
              <a:ext cx="123444" cy="99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3283" y="1813559"/>
              <a:ext cx="1455420" cy="230504"/>
            </a:xfrm>
            <a:custGeom>
              <a:avLst/>
              <a:gdLst/>
              <a:ahLst/>
              <a:cxnLst/>
              <a:rect l="l" t="t" r="r" b="b"/>
              <a:pathLst>
                <a:path w="1455420" h="230505">
                  <a:moveTo>
                    <a:pt x="1091183" y="115824"/>
                  </a:moveTo>
                  <a:lnTo>
                    <a:pt x="1455420" y="115824"/>
                  </a:lnTo>
                </a:path>
                <a:path w="1455420" h="230505">
                  <a:moveTo>
                    <a:pt x="0" y="230124"/>
                  </a:moveTo>
                  <a:lnTo>
                    <a:pt x="362712" y="230124"/>
                  </a:lnTo>
                </a:path>
                <a:path w="1455420" h="230505">
                  <a:moveTo>
                    <a:pt x="0" y="0"/>
                  </a:moveTo>
                  <a:lnTo>
                    <a:pt x="36271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5996" y="1699259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364236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364236" y="460248"/>
                  </a:lnTo>
                  <a:lnTo>
                    <a:pt x="423318" y="457236"/>
                  </a:lnTo>
                  <a:lnTo>
                    <a:pt x="479365" y="448519"/>
                  </a:lnTo>
                  <a:lnTo>
                    <a:pt x="531626" y="434568"/>
                  </a:lnTo>
                  <a:lnTo>
                    <a:pt x="579351" y="415856"/>
                  </a:lnTo>
                  <a:lnTo>
                    <a:pt x="621792" y="392858"/>
                  </a:lnTo>
                  <a:lnTo>
                    <a:pt x="658197" y="366046"/>
                  </a:lnTo>
                  <a:lnTo>
                    <a:pt x="687817" y="335893"/>
                  </a:lnTo>
                  <a:lnTo>
                    <a:pt x="709903" y="302873"/>
                  </a:lnTo>
                  <a:lnTo>
                    <a:pt x="728471" y="230124"/>
                  </a:lnTo>
                  <a:lnTo>
                    <a:pt x="723704" y="192788"/>
                  </a:lnTo>
                  <a:lnTo>
                    <a:pt x="687817" y="124354"/>
                  </a:lnTo>
                  <a:lnTo>
                    <a:pt x="658197" y="94201"/>
                  </a:lnTo>
                  <a:lnTo>
                    <a:pt x="621792" y="67389"/>
                  </a:lnTo>
                  <a:lnTo>
                    <a:pt x="579351" y="44391"/>
                  </a:lnTo>
                  <a:lnTo>
                    <a:pt x="531626" y="25679"/>
                  </a:lnTo>
                  <a:lnTo>
                    <a:pt x="479365" y="11728"/>
                  </a:lnTo>
                  <a:lnTo>
                    <a:pt x="423318" y="3011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15996" y="1699259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0" y="0"/>
                  </a:moveTo>
                  <a:lnTo>
                    <a:pt x="364236" y="0"/>
                  </a:lnTo>
                  <a:lnTo>
                    <a:pt x="423318" y="3011"/>
                  </a:lnTo>
                  <a:lnTo>
                    <a:pt x="479365" y="11728"/>
                  </a:lnTo>
                  <a:lnTo>
                    <a:pt x="531626" y="25679"/>
                  </a:lnTo>
                  <a:lnTo>
                    <a:pt x="579351" y="44391"/>
                  </a:lnTo>
                  <a:lnTo>
                    <a:pt x="621792" y="67389"/>
                  </a:lnTo>
                  <a:lnTo>
                    <a:pt x="658197" y="94201"/>
                  </a:lnTo>
                  <a:lnTo>
                    <a:pt x="687817" y="124354"/>
                  </a:lnTo>
                  <a:lnTo>
                    <a:pt x="709903" y="157374"/>
                  </a:lnTo>
                  <a:lnTo>
                    <a:pt x="728471" y="230124"/>
                  </a:lnTo>
                  <a:lnTo>
                    <a:pt x="723704" y="267459"/>
                  </a:lnTo>
                  <a:lnTo>
                    <a:pt x="687817" y="335893"/>
                  </a:lnTo>
                  <a:lnTo>
                    <a:pt x="658197" y="366046"/>
                  </a:lnTo>
                  <a:lnTo>
                    <a:pt x="621792" y="392858"/>
                  </a:lnTo>
                  <a:lnTo>
                    <a:pt x="579351" y="415856"/>
                  </a:lnTo>
                  <a:lnTo>
                    <a:pt x="531626" y="434568"/>
                  </a:lnTo>
                  <a:lnTo>
                    <a:pt x="479365" y="448519"/>
                  </a:lnTo>
                  <a:lnTo>
                    <a:pt x="423318" y="457236"/>
                  </a:lnTo>
                  <a:lnTo>
                    <a:pt x="364236" y="460248"/>
                  </a:lnTo>
                  <a:lnTo>
                    <a:pt x="0" y="46024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39896" y="1880615"/>
              <a:ext cx="123444" cy="99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24712" y="3022092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39">
                  <a:moveTo>
                    <a:pt x="0" y="0"/>
                  </a:moveTo>
                  <a:lnTo>
                    <a:pt x="58673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75588" y="2901695"/>
              <a:ext cx="323088" cy="2392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49496" y="1927859"/>
              <a:ext cx="2597150" cy="1324610"/>
            </a:xfrm>
            <a:custGeom>
              <a:avLst/>
              <a:gdLst/>
              <a:ahLst/>
              <a:cxnLst/>
              <a:rect l="l" t="t" r="r" b="b"/>
              <a:pathLst>
                <a:path w="2597150" h="1324610">
                  <a:moveTo>
                    <a:pt x="0" y="1524"/>
                  </a:moveTo>
                  <a:lnTo>
                    <a:pt x="1091183" y="1524"/>
                  </a:lnTo>
                </a:path>
                <a:path w="2597150" h="1324610">
                  <a:moveTo>
                    <a:pt x="995171" y="231648"/>
                  </a:moveTo>
                  <a:lnTo>
                    <a:pt x="995171" y="1094231"/>
                  </a:lnTo>
                </a:path>
                <a:path w="2597150" h="1324610">
                  <a:moveTo>
                    <a:pt x="341375" y="1094231"/>
                  </a:moveTo>
                  <a:lnTo>
                    <a:pt x="995171" y="1094231"/>
                  </a:lnTo>
                </a:path>
                <a:path w="2597150" h="1324610">
                  <a:moveTo>
                    <a:pt x="705612" y="1322831"/>
                  </a:moveTo>
                  <a:lnTo>
                    <a:pt x="995171" y="1322831"/>
                  </a:lnTo>
                </a:path>
                <a:path w="2597150" h="1324610">
                  <a:moveTo>
                    <a:pt x="705612" y="0"/>
                  </a:moveTo>
                  <a:lnTo>
                    <a:pt x="705612" y="1322831"/>
                  </a:lnTo>
                </a:path>
                <a:path w="2597150" h="1324610">
                  <a:moveTo>
                    <a:pt x="995171" y="1324355"/>
                  </a:moveTo>
                  <a:lnTo>
                    <a:pt x="1359407" y="1324355"/>
                  </a:lnTo>
                </a:path>
                <a:path w="2597150" h="1324610">
                  <a:moveTo>
                    <a:pt x="995171" y="1094231"/>
                  </a:moveTo>
                  <a:lnTo>
                    <a:pt x="1359407" y="1094231"/>
                  </a:lnTo>
                </a:path>
                <a:path w="2597150" h="1324610">
                  <a:moveTo>
                    <a:pt x="2305811" y="1208531"/>
                  </a:moveTo>
                  <a:lnTo>
                    <a:pt x="2596896" y="1208531"/>
                  </a:lnTo>
                </a:path>
                <a:path w="2597150" h="1324610">
                  <a:moveTo>
                    <a:pt x="1941576" y="1208531"/>
                  </a:moveTo>
                  <a:lnTo>
                    <a:pt x="2232659" y="1208531"/>
                  </a:lnTo>
                </a:path>
                <a:path w="2597150" h="1324610">
                  <a:moveTo>
                    <a:pt x="2087879" y="1208531"/>
                  </a:moveTo>
                  <a:lnTo>
                    <a:pt x="2452115" y="120853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08904" y="2906267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364236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364236" y="460248"/>
                  </a:lnTo>
                  <a:lnTo>
                    <a:pt x="423318" y="457236"/>
                  </a:lnTo>
                  <a:lnTo>
                    <a:pt x="479365" y="448519"/>
                  </a:lnTo>
                  <a:lnTo>
                    <a:pt x="531626" y="434568"/>
                  </a:lnTo>
                  <a:lnTo>
                    <a:pt x="579351" y="415856"/>
                  </a:lnTo>
                  <a:lnTo>
                    <a:pt x="621792" y="392858"/>
                  </a:lnTo>
                  <a:lnTo>
                    <a:pt x="658197" y="366046"/>
                  </a:lnTo>
                  <a:lnTo>
                    <a:pt x="687817" y="335893"/>
                  </a:lnTo>
                  <a:lnTo>
                    <a:pt x="709903" y="302873"/>
                  </a:lnTo>
                  <a:lnTo>
                    <a:pt x="728472" y="230124"/>
                  </a:lnTo>
                  <a:lnTo>
                    <a:pt x="723704" y="192788"/>
                  </a:lnTo>
                  <a:lnTo>
                    <a:pt x="687817" y="124354"/>
                  </a:lnTo>
                  <a:lnTo>
                    <a:pt x="658197" y="94201"/>
                  </a:lnTo>
                  <a:lnTo>
                    <a:pt x="621792" y="67389"/>
                  </a:lnTo>
                  <a:lnTo>
                    <a:pt x="579351" y="44391"/>
                  </a:lnTo>
                  <a:lnTo>
                    <a:pt x="531626" y="25679"/>
                  </a:lnTo>
                  <a:lnTo>
                    <a:pt x="479365" y="11728"/>
                  </a:lnTo>
                  <a:lnTo>
                    <a:pt x="423318" y="3011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08904" y="2906267"/>
              <a:ext cx="728980" cy="460375"/>
            </a:xfrm>
            <a:custGeom>
              <a:avLst/>
              <a:gdLst/>
              <a:ahLst/>
              <a:cxnLst/>
              <a:rect l="l" t="t" r="r" b="b"/>
              <a:pathLst>
                <a:path w="728979" h="460375">
                  <a:moveTo>
                    <a:pt x="0" y="0"/>
                  </a:moveTo>
                  <a:lnTo>
                    <a:pt x="364236" y="0"/>
                  </a:lnTo>
                  <a:lnTo>
                    <a:pt x="423318" y="3011"/>
                  </a:lnTo>
                  <a:lnTo>
                    <a:pt x="479365" y="11728"/>
                  </a:lnTo>
                  <a:lnTo>
                    <a:pt x="531626" y="25679"/>
                  </a:lnTo>
                  <a:lnTo>
                    <a:pt x="579351" y="44391"/>
                  </a:lnTo>
                  <a:lnTo>
                    <a:pt x="621792" y="67389"/>
                  </a:lnTo>
                  <a:lnTo>
                    <a:pt x="658197" y="94201"/>
                  </a:lnTo>
                  <a:lnTo>
                    <a:pt x="687817" y="124354"/>
                  </a:lnTo>
                  <a:lnTo>
                    <a:pt x="709903" y="157374"/>
                  </a:lnTo>
                  <a:lnTo>
                    <a:pt x="728472" y="230124"/>
                  </a:lnTo>
                  <a:lnTo>
                    <a:pt x="723704" y="267459"/>
                  </a:lnTo>
                  <a:lnTo>
                    <a:pt x="687817" y="335893"/>
                  </a:lnTo>
                  <a:lnTo>
                    <a:pt x="658197" y="366046"/>
                  </a:lnTo>
                  <a:lnTo>
                    <a:pt x="621792" y="392858"/>
                  </a:lnTo>
                  <a:lnTo>
                    <a:pt x="579351" y="415856"/>
                  </a:lnTo>
                  <a:lnTo>
                    <a:pt x="531626" y="434568"/>
                  </a:lnTo>
                  <a:lnTo>
                    <a:pt x="479365" y="448519"/>
                  </a:lnTo>
                  <a:lnTo>
                    <a:pt x="423318" y="457236"/>
                  </a:lnTo>
                  <a:lnTo>
                    <a:pt x="364236" y="460248"/>
                  </a:lnTo>
                  <a:lnTo>
                    <a:pt x="0" y="46024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32804" y="3087623"/>
              <a:ext cx="121920" cy="99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44667" y="1927859"/>
              <a:ext cx="1602105" cy="231775"/>
            </a:xfrm>
            <a:custGeom>
              <a:avLst/>
              <a:gdLst/>
              <a:ahLst/>
              <a:cxnLst/>
              <a:rect l="l" t="t" r="r" b="b"/>
              <a:pathLst>
                <a:path w="1602104" h="231775">
                  <a:moveTo>
                    <a:pt x="1310639" y="117348"/>
                  </a:moveTo>
                  <a:lnTo>
                    <a:pt x="1601724" y="117348"/>
                  </a:lnTo>
                </a:path>
                <a:path w="1602104" h="231775">
                  <a:moveTo>
                    <a:pt x="946404" y="117348"/>
                  </a:moveTo>
                  <a:lnTo>
                    <a:pt x="1237488" y="117348"/>
                  </a:lnTo>
                </a:path>
                <a:path w="1602104" h="231775">
                  <a:moveTo>
                    <a:pt x="1092708" y="115824"/>
                  </a:moveTo>
                  <a:lnTo>
                    <a:pt x="1456943" y="115824"/>
                  </a:lnTo>
                </a:path>
                <a:path w="1602104" h="231775">
                  <a:moveTo>
                    <a:pt x="0" y="231648"/>
                  </a:moveTo>
                  <a:lnTo>
                    <a:pt x="364236" y="231648"/>
                  </a:lnTo>
                </a:path>
                <a:path w="1602104" h="231775">
                  <a:moveTo>
                    <a:pt x="0" y="0"/>
                  </a:moveTo>
                  <a:lnTo>
                    <a:pt x="364236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08904" y="1813559"/>
              <a:ext cx="728980" cy="462280"/>
            </a:xfrm>
            <a:custGeom>
              <a:avLst/>
              <a:gdLst/>
              <a:ahLst/>
              <a:cxnLst/>
              <a:rect l="l" t="t" r="r" b="b"/>
              <a:pathLst>
                <a:path w="728979" h="462280">
                  <a:moveTo>
                    <a:pt x="364236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364236" y="461772"/>
                  </a:lnTo>
                  <a:lnTo>
                    <a:pt x="423318" y="458749"/>
                  </a:lnTo>
                  <a:lnTo>
                    <a:pt x="479365" y="450000"/>
                  </a:lnTo>
                  <a:lnTo>
                    <a:pt x="531626" y="435999"/>
                  </a:lnTo>
                  <a:lnTo>
                    <a:pt x="579351" y="417222"/>
                  </a:lnTo>
                  <a:lnTo>
                    <a:pt x="621792" y="394144"/>
                  </a:lnTo>
                  <a:lnTo>
                    <a:pt x="658197" y="367241"/>
                  </a:lnTo>
                  <a:lnTo>
                    <a:pt x="687817" y="336988"/>
                  </a:lnTo>
                  <a:lnTo>
                    <a:pt x="709903" y="303861"/>
                  </a:lnTo>
                  <a:lnTo>
                    <a:pt x="723704" y="268335"/>
                  </a:lnTo>
                  <a:lnTo>
                    <a:pt x="728472" y="230886"/>
                  </a:lnTo>
                  <a:lnTo>
                    <a:pt x="723704" y="193436"/>
                  </a:lnTo>
                  <a:lnTo>
                    <a:pt x="709903" y="157910"/>
                  </a:lnTo>
                  <a:lnTo>
                    <a:pt x="687817" y="124783"/>
                  </a:lnTo>
                  <a:lnTo>
                    <a:pt x="658197" y="94530"/>
                  </a:lnTo>
                  <a:lnTo>
                    <a:pt x="621792" y="67627"/>
                  </a:lnTo>
                  <a:lnTo>
                    <a:pt x="579351" y="44549"/>
                  </a:lnTo>
                  <a:lnTo>
                    <a:pt x="531626" y="25772"/>
                  </a:lnTo>
                  <a:lnTo>
                    <a:pt x="479365" y="11771"/>
                  </a:lnTo>
                  <a:lnTo>
                    <a:pt x="423318" y="3022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8904" y="1813559"/>
              <a:ext cx="728980" cy="462280"/>
            </a:xfrm>
            <a:custGeom>
              <a:avLst/>
              <a:gdLst/>
              <a:ahLst/>
              <a:cxnLst/>
              <a:rect l="l" t="t" r="r" b="b"/>
              <a:pathLst>
                <a:path w="728979" h="462280">
                  <a:moveTo>
                    <a:pt x="0" y="0"/>
                  </a:moveTo>
                  <a:lnTo>
                    <a:pt x="364236" y="0"/>
                  </a:lnTo>
                  <a:lnTo>
                    <a:pt x="423318" y="3022"/>
                  </a:lnTo>
                  <a:lnTo>
                    <a:pt x="479365" y="11771"/>
                  </a:lnTo>
                  <a:lnTo>
                    <a:pt x="531626" y="25772"/>
                  </a:lnTo>
                  <a:lnTo>
                    <a:pt x="579351" y="44549"/>
                  </a:lnTo>
                  <a:lnTo>
                    <a:pt x="621792" y="67627"/>
                  </a:lnTo>
                  <a:lnTo>
                    <a:pt x="658197" y="94530"/>
                  </a:lnTo>
                  <a:lnTo>
                    <a:pt x="687817" y="124783"/>
                  </a:lnTo>
                  <a:lnTo>
                    <a:pt x="709903" y="157910"/>
                  </a:lnTo>
                  <a:lnTo>
                    <a:pt x="723704" y="193436"/>
                  </a:lnTo>
                  <a:lnTo>
                    <a:pt x="728472" y="230886"/>
                  </a:lnTo>
                  <a:lnTo>
                    <a:pt x="723704" y="268335"/>
                  </a:lnTo>
                  <a:lnTo>
                    <a:pt x="709903" y="303861"/>
                  </a:lnTo>
                  <a:lnTo>
                    <a:pt x="687817" y="336988"/>
                  </a:lnTo>
                  <a:lnTo>
                    <a:pt x="658197" y="367241"/>
                  </a:lnTo>
                  <a:lnTo>
                    <a:pt x="621792" y="394144"/>
                  </a:lnTo>
                  <a:lnTo>
                    <a:pt x="579351" y="417222"/>
                  </a:lnTo>
                  <a:lnTo>
                    <a:pt x="531626" y="435999"/>
                  </a:lnTo>
                  <a:lnTo>
                    <a:pt x="479365" y="450000"/>
                  </a:lnTo>
                  <a:lnTo>
                    <a:pt x="423318" y="458749"/>
                  </a:lnTo>
                  <a:lnTo>
                    <a:pt x="364236" y="461772"/>
                  </a:lnTo>
                  <a:lnTo>
                    <a:pt x="0" y="46177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32804" y="1994915"/>
              <a:ext cx="121920" cy="99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82155" y="2159508"/>
              <a:ext cx="1870075" cy="977265"/>
            </a:xfrm>
            <a:custGeom>
              <a:avLst/>
              <a:gdLst/>
              <a:ahLst/>
              <a:cxnLst/>
              <a:rect l="l" t="t" r="r" b="b"/>
              <a:pathLst>
                <a:path w="1870075" h="977264">
                  <a:moveTo>
                    <a:pt x="0" y="976883"/>
                  </a:moveTo>
                  <a:lnTo>
                    <a:pt x="364236" y="976883"/>
                  </a:lnTo>
                </a:path>
                <a:path w="1870075" h="977264">
                  <a:moveTo>
                    <a:pt x="0" y="115824"/>
                  </a:moveTo>
                  <a:lnTo>
                    <a:pt x="0" y="286512"/>
                  </a:lnTo>
                </a:path>
                <a:path w="1870075" h="977264">
                  <a:moveTo>
                    <a:pt x="0" y="574547"/>
                  </a:moveTo>
                  <a:lnTo>
                    <a:pt x="0" y="746759"/>
                  </a:lnTo>
                </a:path>
                <a:path w="1870075" h="977264">
                  <a:moveTo>
                    <a:pt x="1455420" y="690371"/>
                  </a:moveTo>
                  <a:lnTo>
                    <a:pt x="1455420" y="862583"/>
                  </a:lnTo>
                </a:path>
                <a:path w="1870075" h="977264">
                  <a:moveTo>
                    <a:pt x="0" y="286512"/>
                  </a:moveTo>
                  <a:lnTo>
                    <a:pt x="1455420" y="690371"/>
                  </a:lnTo>
                </a:path>
                <a:path w="1870075" h="977264">
                  <a:moveTo>
                    <a:pt x="1455420" y="0"/>
                  </a:moveTo>
                  <a:lnTo>
                    <a:pt x="1455420" y="172212"/>
                  </a:lnTo>
                </a:path>
                <a:path w="1870075" h="977264">
                  <a:moveTo>
                    <a:pt x="0" y="574547"/>
                  </a:moveTo>
                  <a:lnTo>
                    <a:pt x="1455420" y="172212"/>
                  </a:lnTo>
                </a:path>
                <a:path w="1870075" h="977264">
                  <a:moveTo>
                    <a:pt x="1455420" y="0"/>
                  </a:moveTo>
                  <a:lnTo>
                    <a:pt x="1869948" y="0"/>
                  </a:lnTo>
                </a:path>
                <a:path w="1870075" h="977264">
                  <a:moveTo>
                    <a:pt x="1091184" y="862583"/>
                  </a:moveTo>
                  <a:lnTo>
                    <a:pt x="1455420" y="862583"/>
                  </a:lnTo>
                </a:path>
                <a:path w="1870075" h="977264">
                  <a:moveTo>
                    <a:pt x="0" y="748283"/>
                  </a:moveTo>
                  <a:lnTo>
                    <a:pt x="364236" y="74828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6391" y="2791967"/>
              <a:ext cx="727075" cy="459105"/>
            </a:xfrm>
            <a:custGeom>
              <a:avLst/>
              <a:gdLst/>
              <a:ahLst/>
              <a:cxnLst/>
              <a:rect l="l" t="t" r="r" b="b"/>
              <a:pathLst>
                <a:path w="727075" h="459105">
                  <a:moveTo>
                    <a:pt x="363474" y="0"/>
                  </a:moveTo>
                  <a:lnTo>
                    <a:pt x="0" y="0"/>
                  </a:lnTo>
                  <a:lnTo>
                    <a:pt x="0" y="458724"/>
                  </a:lnTo>
                  <a:lnTo>
                    <a:pt x="363474" y="458724"/>
                  </a:lnTo>
                  <a:lnTo>
                    <a:pt x="422442" y="455720"/>
                  </a:lnTo>
                  <a:lnTo>
                    <a:pt x="478377" y="447025"/>
                  </a:lnTo>
                  <a:lnTo>
                    <a:pt x="530531" y="433112"/>
                  </a:lnTo>
                  <a:lnTo>
                    <a:pt x="578156" y="414454"/>
                  </a:lnTo>
                  <a:lnTo>
                    <a:pt x="620506" y="391525"/>
                  </a:lnTo>
                  <a:lnTo>
                    <a:pt x="656831" y="364796"/>
                  </a:lnTo>
                  <a:lnTo>
                    <a:pt x="686386" y="334743"/>
                  </a:lnTo>
                  <a:lnTo>
                    <a:pt x="708422" y="301837"/>
                  </a:lnTo>
                  <a:lnTo>
                    <a:pt x="726948" y="229362"/>
                  </a:lnTo>
                  <a:lnTo>
                    <a:pt x="722191" y="192171"/>
                  </a:lnTo>
                  <a:lnTo>
                    <a:pt x="686386" y="123980"/>
                  </a:lnTo>
                  <a:lnTo>
                    <a:pt x="656831" y="93927"/>
                  </a:lnTo>
                  <a:lnTo>
                    <a:pt x="620506" y="67198"/>
                  </a:lnTo>
                  <a:lnTo>
                    <a:pt x="578156" y="44269"/>
                  </a:lnTo>
                  <a:lnTo>
                    <a:pt x="530531" y="25611"/>
                  </a:lnTo>
                  <a:lnTo>
                    <a:pt x="478377" y="11698"/>
                  </a:lnTo>
                  <a:lnTo>
                    <a:pt x="422442" y="3003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6391" y="2791967"/>
              <a:ext cx="727075" cy="459105"/>
            </a:xfrm>
            <a:custGeom>
              <a:avLst/>
              <a:gdLst/>
              <a:ahLst/>
              <a:cxnLst/>
              <a:rect l="l" t="t" r="r" b="b"/>
              <a:pathLst>
                <a:path w="727075" h="459105">
                  <a:moveTo>
                    <a:pt x="0" y="0"/>
                  </a:moveTo>
                  <a:lnTo>
                    <a:pt x="363474" y="0"/>
                  </a:lnTo>
                  <a:lnTo>
                    <a:pt x="422442" y="3003"/>
                  </a:lnTo>
                  <a:lnTo>
                    <a:pt x="478377" y="11698"/>
                  </a:lnTo>
                  <a:lnTo>
                    <a:pt x="530531" y="25611"/>
                  </a:lnTo>
                  <a:lnTo>
                    <a:pt x="578156" y="44269"/>
                  </a:lnTo>
                  <a:lnTo>
                    <a:pt x="620506" y="67198"/>
                  </a:lnTo>
                  <a:lnTo>
                    <a:pt x="656831" y="93927"/>
                  </a:lnTo>
                  <a:lnTo>
                    <a:pt x="686386" y="123980"/>
                  </a:lnTo>
                  <a:lnTo>
                    <a:pt x="708422" y="156886"/>
                  </a:lnTo>
                  <a:lnTo>
                    <a:pt x="726948" y="229362"/>
                  </a:lnTo>
                  <a:lnTo>
                    <a:pt x="722191" y="266552"/>
                  </a:lnTo>
                  <a:lnTo>
                    <a:pt x="686386" y="334743"/>
                  </a:lnTo>
                  <a:lnTo>
                    <a:pt x="656831" y="364796"/>
                  </a:lnTo>
                  <a:lnTo>
                    <a:pt x="620506" y="391525"/>
                  </a:lnTo>
                  <a:lnTo>
                    <a:pt x="578156" y="414454"/>
                  </a:lnTo>
                  <a:lnTo>
                    <a:pt x="530531" y="433112"/>
                  </a:lnTo>
                  <a:lnTo>
                    <a:pt x="478377" y="447025"/>
                  </a:lnTo>
                  <a:lnTo>
                    <a:pt x="422442" y="455720"/>
                  </a:lnTo>
                  <a:lnTo>
                    <a:pt x="363474" y="458724"/>
                  </a:lnTo>
                  <a:lnTo>
                    <a:pt x="0" y="45872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68768" y="2973323"/>
              <a:ext cx="123444" cy="99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82155" y="2042159"/>
              <a:ext cx="1455420" cy="231775"/>
            </a:xfrm>
            <a:custGeom>
              <a:avLst/>
              <a:gdLst/>
              <a:ahLst/>
              <a:cxnLst/>
              <a:rect l="l" t="t" r="r" b="b"/>
              <a:pathLst>
                <a:path w="1455420" h="231775">
                  <a:moveTo>
                    <a:pt x="1091184" y="115824"/>
                  </a:moveTo>
                  <a:lnTo>
                    <a:pt x="1455420" y="115824"/>
                  </a:lnTo>
                </a:path>
                <a:path w="1455420" h="231775">
                  <a:moveTo>
                    <a:pt x="0" y="231648"/>
                  </a:moveTo>
                  <a:lnTo>
                    <a:pt x="364236" y="231648"/>
                  </a:lnTo>
                </a:path>
                <a:path w="1455420" h="231775">
                  <a:moveTo>
                    <a:pt x="0" y="0"/>
                  </a:moveTo>
                  <a:lnTo>
                    <a:pt x="364236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46391" y="1927859"/>
              <a:ext cx="727075" cy="462280"/>
            </a:xfrm>
            <a:custGeom>
              <a:avLst/>
              <a:gdLst/>
              <a:ahLst/>
              <a:cxnLst/>
              <a:rect l="l" t="t" r="r" b="b"/>
              <a:pathLst>
                <a:path w="727075" h="462280">
                  <a:moveTo>
                    <a:pt x="363474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363474" y="461772"/>
                  </a:lnTo>
                  <a:lnTo>
                    <a:pt x="422442" y="458749"/>
                  </a:lnTo>
                  <a:lnTo>
                    <a:pt x="478377" y="450000"/>
                  </a:lnTo>
                  <a:lnTo>
                    <a:pt x="530531" y="435999"/>
                  </a:lnTo>
                  <a:lnTo>
                    <a:pt x="578156" y="417222"/>
                  </a:lnTo>
                  <a:lnTo>
                    <a:pt x="620506" y="394144"/>
                  </a:lnTo>
                  <a:lnTo>
                    <a:pt x="656831" y="367241"/>
                  </a:lnTo>
                  <a:lnTo>
                    <a:pt x="686386" y="336988"/>
                  </a:lnTo>
                  <a:lnTo>
                    <a:pt x="708422" y="303861"/>
                  </a:lnTo>
                  <a:lnTo>
                    <a:pt x="722191" y="268335"/>
                  </a:lnTo>
                  <a:lnTo>
                    <a:pt x="726948" y="230886"/>
                  </a:lnTo>
                  <a:lnTo>
                    <a:pt x="722191" y="193436"/>
                  </a:lnTo>
                  <a:lnTo>
                    <a:pt x="708422" y="157910"/>
                  </a:lnTo>
                  <a:lnTo>
                    <a:pt x="686386" y="124783"/>
                  </a:lnTo>
                  <a:lnTo>
                    <a:pt x="656831" y="94530"/>
                  </a:lnTo>
                  <a:lnTo>
                    <a:pt x="620506" y="67627"/>
                  </a:lnTo>
                  <a:lnTo>
                    <a:pt x="578156" y="44549"/>
                  </a:lnTo>
                  <a:lnTo>
                    <a:pt x="530531" y="25772"/>
                  </a:lnTo>
                  <a:lnTo>
                    <a:pt x="478377" y="11771"/>
                  </a:lnTo>
                  <a:lnTo>
                    <a:pt x="422442" y="302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46391" y="1927859"/>
              <a:ext cx="727075" cy="462280"/>
            </a:xfrm>
            <a:custGeom>
              <a:avLst/>
              <a:gdLst/>
              <a:ahLst/>
              <a:cxnLst/>
              <a:rect l="l" t="t" r="r" b="b"/>
              <a:pathLst>
                <a:path w="727075" h="462280">
                  <a:moveTo>
                    <a:pt x="0" y="0"/>
                  </a:moveTo>
                  <a:lnTo>
                    <a:pt x="363474" y="0"/>
                  </a:lnTo>
                  <a:lnTo>
                    <a:pt x="422442" y="3022"/>
                  </a:lnTo>
                  <a:lnTo>
                    <a:pt x="478377" y="11771"/>
                  </a:lnTo>
                  <a:lnTo>
                    <a:pt x="530531" y="25772"/>
                  </a:lnTo>
                  <a:lnTo>
                    <a:pt x="578156" y="44549"/>
                  </a:lnTo>
                  <a:lnTo>
                    <a:pt x="620506" y="67627"/>
                  </a:lnTo>
                  <a:lnTo>
                    <a:pt x="656831" y="94530"/>
                  </a:lnTo>
                  <a:lnTo>
                    <a:pt x="686386" y="124783"/>
                  </a:lnTo>
                  <a:lnTo>
                    <a:pt x="708422" y="157910"/>
                  </a:lnTo>
                  <a:lnTo>
                    <a:pt x="722191" y="193436"/>
                  </a:lnTo>
                  <a:lnTo>
                    <a:pt x="726948" y="230886"/>
                  </a:lnTo>
                  <a:lnTo>
                    <a:pt x="722191" y="268335"/>
                  </a:lnTo>
                  <a:lnTo>
                    <a:pt x="708422" y="303861"/>
                  </a:lnTo>
                  <a:lnTo>
                    <a:pt x="686386" y="336988"/>
                  </a:lnTo>
                  <a:lnTo>
                    <a:pt x="656831" y="367241"/>
                  </a:lnTo>
                  <a:lnTo>
                    <a:pt x="620506" y="394144"/>
                  </a:lnTo>
                  <a:lnTo>
                    <a:pt x="578156" y="417222"/>
                  </a:lnTo>
                  <a:lnTo>
                    <a:pt x="530531" y="435999"/>
                  </a:lnTo>
                  <a:lnTo>
                    <a:pt x="478377" y="450000"/>
                  </a:lnTo>
                  <a:lnTo>
                    <a:pt x="422442" y="458749"/>
                  </a:lnTo>
                  <a:lnTo>
                    <a:pt x="363474" y="461772"/>
                  </a:lnTo>
                  <a:lnTo>
                    <a:pt x="0" y="46177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68768" y="2109216"/>
              <a:ext cx="123444" cy="99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55108" y="3252216"/>
              <a:ext cx="585470" cy="0"/>
            </a:xfrm>
            <a:custGeom>
              <a:avLst/>
              <a:gdLst/>
              <a:ahLst/>
              <a:cxnLst/>
              <a:rect l="l" t="t" r="r" b="b"/>
              <a:pathLst>
                <a:path w="585470">
                  <a:moveTo>
                    <a:pt x="0" y="0"/>
                  </a:moveTo>
                  <a:lnTo>
                    <a:pt x="585215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05984" y="3131820"/>
              <a:ext cx="321564" cy="2392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79932" y="1295399"/>
              <a:ext cx="7277100" cy="2186940"/>
            </a:xfrm>
            <a:custGeom>
              <a:avLst/>
              <a:gdLst/>
              <a:ahLst/>
              <a:cxnLst/>
              <a:rect l="l" t="t" r="r" b="b"/>
              <a:pathLst>
                <a:path w="7277100" h="2186940">
                  <a:moveTo>
                    <a:pt x="0" y="2186940"/>
                  </a:moveTo>
                  <a:lnTo>
                    <a:pt x="3346704" y="2186940"/>
                  </a:lnTo>
                  <a:lnTo>
                    <a:pt x="3346704" y="0"/>
                  </a:lnTo>
                  <a:lnTo>
                    <a:pt x="0" y="0"/>
                  </a:lnTo>
                  <a:lnTo>
                    <a:pt x="0" y="2186940"/>
                  </a:lnTo>
                  <a:close/>
                </a:path>
                <a:path w="7277100" h="2186940">
                  <a:moveTo>
                    <a:pt x="3928872" y="2186940"/>
                  </a:moveTo>
                  <a:lnTo>
                    <a:pt x="7277100" y="2186940"/>
                  </a:lnTo>
                  <a:lnTo>
                    <a:pt x="7277100" y="0"/>
                  </a:lnTo>
                  <a:lnTo>
                    <a:pt x="3928872" y="0"/>
                  </a:lnTo>
                  <a:lnTo>
                    <a:pt x="3928872" y="21869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0476" y="3022092"/>
              <a:ext cx="3930650" cy="634365"/>
            </a:xfrm>
            <a:custGeom>
              <a:avLst/>
              <a:gdLst/>
              <a:ahLst/>
              <a:cxnLst/>
              <a:rect l="l" t="t" r="r" b="b"/>
              <a:pathLst>
                <a:path w="3930650" h="634364">
                  <a:moveTo>
                    <a:pt x="0" y="633984"/>
                  </a:moveTo>
                  <a:lnTo>
                    <a:pt x="3930396" y="633984"/>
                  </a:lnTo>
                </a:path>
                <a:path w="3930650" h="634364">
                  <a:moveTo>
                    <a:pt x="3930396" y="0"/>
                  </a:moveTo>
                  <a:lnTo>
                    <a:pt x="3930396" y="63398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12165" y="668047"/>
            <a:ext cx="6362700" cy="121729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79095" indent="-343535">
              <a:lnSpc>
                <a:spcPct val="100000"/>
              </a:lnSpc>
              <a:spcBef>
                <a:spcPts val="1010"/>
              </a:spcBef>
              <a:buChar char="•"/>
              <a:tabLst>
                <a:tab pos="379095" algn="l"/>
                <a:tab pos="379730" algn="l"/>
              </a:tabLst>
            </a:pPr>
            <a:r>
              <a:rPr sz="3200" spc="-5" dirty="0">
                <a:latin typeface="Arial"/>
                <a:cs typeface="Arial"/>
              </a:rPr>
              <a:t>Master-Slave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configuration</a:t>
            </a:r>
            <a:endParaRPr sz="3200">
              <a:latin typeface="Arial"/>
              <a:cs typeface="Arial"/>
            </a:endParaRPr>
          </a:p>
          <a:p>
            <a:pPr marL="1765300">
              <a:lnSpc>
                <a:spcPct val="100000"/>
              </a:lnSpc>
              <a:spcBef>
                <a:spcPts val="445"/>
              </a:spcBef>
              <a:tabLst>
                <a:tab pos="5790565" algn="l"/>
              </a:tabLst>
            </a:pPr>
            <a:r>
              <a:rPr sz="1600" spc="-15" dirty="0">
                <a:latin typeface="Tahoma"/>
                <a:cs typeface="Tahoma"/>
              </a:rPr>
              <a:t>M</a:t>
            </a:r>
            <a:r>
              <a:rPr sz="1600" spc="-5" dirty="0">
                <a:latin typeface="Tahoma"/>
                <a:cs typeface="Tahoma"/>
              </a:rPr>
              <a:t>AST</a:t>
            </a:r>
            <a:r>
              <a:rPr sz="1600" spc="-10" dirty="0">
                <a:latin typeface="Tahoma"/>
                <a:cs typeface="Tahoma"/>
              </a:rPr>
              <a:t>E</a:t>
            </a:r>
            <a:r>
              <a:rPr sz="1600" spc="-5" dirty="0">
                <a:latin typeface="Tahoma"/>
                <a:cs typeface="Tahoma"/>
              </a:rPr>
              <a:t>R</a:t>
            </a:r>
            <a:r>
              <a:rPr sz="1600" dirty="0">
                <a:latin typeface="Tahoma"/>
                <a:cs typeface="Tahoma"/>
              </a:rPr>
              <a:t>	</a:t>
            </a:r>
            <a:r>
              <a:rPr sz="1600" spc="-10" dirty="0">
                <a:latin typeface="Tahoma"/>
                <a:cs typeface="Tahoma"/>
              </a:rPr>
              <a:t>S</a:t>
            </a:r>
            <a:r>
              <a:rPr sz="1600" spc="-50" dirty="0">
                <a:latin typeface="Tahoma"/>
                <a:cs typeface="Tahoma"/>
              </a:rPr>
              <a:t>L</a:t>
            </a:r>
            <a:r>
              <a:rPr sz="1600" spc="-55" dirty="0">
                <a:latin typeface="Tahoma"/>
                <a:cs typeface="Tahoma"/>
              </a:rPr>
              <a:t>A</a:t>
            </a:r>
            <a:r>
              <a:rPr sz="1600" spc="-10" dirty="0">
                <a:latin typeface="Tahoma"/>
                <a:cs typeface="Tahoma"/>
              </a:rPr>
              <a:t>V</a:t>
            </a:r>
            <a:r>
              <a:rPr sz="1600" spc="-5" dirty="0">
                <a:latin typeface="Tahoma"/>
                <a:cs typeface="Tahoma"/>
              </a:rPr>
              <a:t>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600" spc="-5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4479" y="2686304"/>
            <a:ext cx="367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3740" y="3516884"/>
            <a:ext cx="367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01752" y="2676144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0" y="0"/>
                </a:moveTo>
                <a:lnTo>
                  <a:pt x="3627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2684" y="3710940"/>
          <a:ext cx="2208530" cy="20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144">
                <a:tc rowSpan="2">
                  <a:txBody>
                    <a:bodyPr/>
                    <a:lstStyle/>
                    <a:p>
                      <a:pPr marL="53340">
                        <a:lnSpc>
                          <a:spcPts val="1789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Reset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Hold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Hold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5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63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5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8366" y="224739"/>
            <a:ext cx="3287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R-S </a:t>
            </a:r>
            <a:r>
              <a:rPr sz="4400" b="0" spc="-5" dirty="0">
                <a:latin typeface="Arial"/>
                <a:cs typeface="Arial"/>
              </a:rPr>
              <a:t>Flip</a:t>
            </a:r>
            <a:r>
              <a:rPr sz="4400" b="0" spc="-80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Flop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67129"/>
            <a:ext cx="2503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16329" y="1167129"/>
            <a:ext cx="2477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Wiring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Diagram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39967" y="1625570"/>
            <a:ext cx="2229342" cy="1470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3173" y="1810004"/>
            <a:ext cx="57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880" algn="l"/>
              </a:tabLst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Set	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9820" y="2610357"/>
            <a:ext cx="984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lementary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7522" y="1672196"/>
            <a:ext cx="285115" cy="8362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1225"/>
              </a:spcBef>
            </a:pP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u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4796" y="2043683"/>
            <a:ext cx="105156" cy="105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4796" y="2852927"/>
            <a:ext cx="105156" cy="105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38705" y="279120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2742" y="2081739"/>
            <a:ext cx="634365" cy="8039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965"/>
              </a:spcBef>
            </a:pPr>
            <a:r>
              <a:rPr sz="1600" b="1" spc="-10" dirty="0">
                <a:latin typeface="Arial"/>
                <a:cs typeface="Arial"/>
              </a:rPr>
              <a:t>R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eset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129283" y="1815083"/>
          <a:ext cx="1548765" cy="1295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555">
                <a:tc rowSpan="3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215"/>
                        </a:spcBef>
                        <a:tabLst>
                          <a:tab pos="70294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	Q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FF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510"/>
                        </a:spcBef>
                        <a:tabLst>
                          <a:tab pos="70040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R	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39370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spc="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0005" marR="120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83540" y="3225164"/>
            <a:ext cx="2128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6433" y="3225164"/>
            <a:ext cx="3076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Arial"/>
                <a:cs typeface="Arial"/>
              </a:rPr>
              <a:t>Waveform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Diagram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90512" y="3908901"/>
          <a:ext cx="4012564" cy="2590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8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5376">
                <a:tc>
                  <a:txBody>
                    <a:bodyPr/>
                    <a:lstStyle/>
                    <a:p>
                      <a:pPr marL="73025" marR="68580" indent="-635" algn="ctr">
                        <a:lnSpc>
                          <a:spcPct val="105000"/>
                        </a:lnSpc>
                        <a:spcBef>
                          <a:spcPts val="280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Mode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Ope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atio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91465" marR="171450" indent="-114300">
                        <a:lnSpc>
                          <a:spcPct val="110000"/>
                        </a:lnSpc>
                        <a:spcBef>
                          <a:spcPts val="219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8290" marR="173355" indent="-110489">
                        <a:lnSpc>
                          <a:spcPct val="110000"/>
                        </a:lnSpc>
                        <a:spcBef>
                          <a:spcPts val="219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3845" marR="118745" indent="-158750">
                        <a:lnSpc>
                          <a:spcPct val="110000"/>
                        </a:lnSpc>
                        <a:spcBef>
                          <a:spcPts val="219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3845" marR="118110" indent="-158750">
                        <a:lnSpc>
                          <a:spcPct val="110000"/>
                        </a:lnSpc>
                        <a:spcBef>
                          <a:spcPts val="219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Prohibited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3180" algn="ctr">
                        <a:lnSpc>
                          <a:spcPct val="105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Prohibited  Do not  use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16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139065" indent="635" algn="ctr">
                        <a:lnSpc>
                          <a:spcPct val="105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For  setting  Q to</a:t>
                      </a:r>
                      <a:r>
                        <a:rPr sz="9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Reset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9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Resetting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Q to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Hold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9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Q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455" algn="ctr">
                        <a:lnSpc>
                          <a:spcPct val="110100"/>
                        </a:lnSpc>
                        <a:spcBef>
                          <a:spcPts val="23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Depends  Pre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ious  State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277361" y="5639561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49775" y="4066413"/>
            <a:ext cx="908685" cy="72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275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Input</a:t>
            </a:r>
            <a:r>
              <a:rPr sz="1800" b="1" spc="3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spc="-7" baseline="6944" dirty="0">
                <a:latin typeface="Arial"/>
                <a:cs typeface="Arial"/>
              </a:rPr>
              <a:t>S</a:t>
            </a:r>
            <a:endParaRPr sz="2400" baseline="6944">
              <a:latin typeface="Arial"/>
              <a:cs typeface="Arial"/>
            </a:endParaRPr>
          </a:p>
          <a:p>
            <a:pPr marR="30480" algn="r">
              <a:lnSpc>
                <a:spcPct val="100000"/>
              </a:lnSpc>
              <a:spcBef>
                <a:spcPts val="1450"/>
              </a:spcBef>
            </a:pPr>
            <a:r>
              <a:rPr sz="1600" b="1" spc="-5" dirty="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7375" y="4861958"/>
            <a:ext cx="1072515" cy="8001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45"/>
              </a:spcBef>
            </a:pPr>
            <a:r>
              <a:rPr sz="1600" b="1" spc="-5" dirty="0">
                <a:latin typeface="Arial"/>
                <a:cs typeface="Arial"/>
              </a:rPr>
              <a:t>Q</a:t>
            </a:r>
            <a:endParaRPr sz="16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Output</a:t>
            </a:r>
            <a:r>
              <a:rPr sz="1800" b="1" spc="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spc="-7" baseline="-13888" dirty="0">
                <a:latin typeface="Arial"/>
                <a:cs typeface="Arial"/>
              </a:rPr>
              <a:t>Q</a:t>
            </a:r>
            <a:endParaRPr sz="2400" baseline="-13888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267705" y="5461253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28584" y="4021963"/>
            <a:ext cx="105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28584" y="4491990"/>
            <a:ext cx="105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9186" y="4939665"/>
            <a:ext cx="105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19186" y="5406644"/>
            <a:ext cx="105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09009" y="1476502"/>
            <a:ext cx="12668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Arial"/>
                <a:cs typeface="Arial"/>
              </a:rPr>
              <a:t>Also </a:t>
            </a:r>
            <a:r>
              <a:rPr sz="1600" b="1" spc="-5" dirty="0">
                <a:latin typeface="Arial"/>
                <a:cs typeface="Arial"/>
              </a:rPr>
              <a:t>called:  R-S Latch  Set-Reset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FF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25283" y="4724400"/>
            <a:ext cx="475615" cy="1068070"/>
            <a:chOff x="7225283" y="4724400"/>
            <a:chExt cx="475615" cy="1068070"/>
          </a:xfrm>
        </p:grpSpPr>
        <p:sp>
          <p:nvSpPr>
            <p:cNvPr id="3" name="object 3"/>
            <p:cNvSpPr/>
            <p:nvPr/>
          </p:nvSpPr>
          <p:spPr>
            <a:xfrm>
              <a:off x="7238999" y="5486400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4572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457200" y="1524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38999" y="5486400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0" y="152400"/>
                  </a:moveTo>
                  <a:lnTo>
                    <a:pt x="457200" y="1524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39761" y="4724400"/>
              <a:ext cx="0" cy="1068070"/>
            </a:xfrm>
            <a:custGeom>
              <a:avLst/>
              <a:gdLst/>
              <a:ahLst/>
              <a:cxnLst/>
              <a:rect l="l" t="t" r="r" b="b"/>
              <a:pathLst>
                <a:path h="1068070">
                  <a:moveTo>
                    <a:pt x="0" y="0"/>
                  </a:moveTo>
                  <a:lnTo>
                    <a:pt x="0" y="1067562"/>
                  </a:lnTo>
                </a:path>
              </a:pathLst>
            </a:custGeom>
            <a:ln w="28955">
              <a:solidFill>
                <a:srgbClr val="FFF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239761" y="3734561"/>
            <a:ext cx="0" cy="837565"/>
          </a:xfrm>
          <a:custGeom>
            <a:avLst/>
            <a:gdLst/>
            <a:ahLst/>
            <a:cxnLst/>
            <a:rect l="l" t="t" r="r" b="b"/>
            <a:pathLst>
              <a:path h="837564">
                <a:moveTo>
                  <a:pt x="0" y="0"/>
                </a:moveTo>
                <a:lnTo>
                  <a:pt x="0" y="837438"/>
                </a:lnTo>
              </a:path>
            </a:pathLst>
          </a:custGeom>
          <a:ln w="28955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57138" y="4267200"/>
            <a:ext cx="0" cy="1525270"/>
          </a:xfrm>
          <a:custGeom>
            <a:avLst/>
            <a:gdLst/>
            <a:ahLst/>
            <a:cxnLst/>
            <a:rect l="l" t="t" r="r" b="b"/>
            <a:pathLst>
              <a:path h="1525270">
                <a:moveTo>
                  <a:pt x="0" y="0"/>
                </a:moveTo>
                <a:lnTo>
                  <a:pt x="0" y="1524762"/>
                </a:lnTo>
              </a:path>
            </a:pathLst>
          </a:custGeom>
          <a:ln w="28955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57138" y="3734561"/>
            <a:ext cx="0" cy="380365"/>
          </a:xfrm>
          <a:custGeom>
            <a:avLst/>
            <a:gdLst/>
            <a:ahLst/>
            <a:cxnLst/>
            <a:rect l="l" t="t" r="r" b="b"/>
            <a:pathLst>
              <a:path h="380364">
                <a:moveTo>
                  <a:pt x="0" y="0"/>
                </a:moveTo>
                <a:lnTo>
                  <a:pt x="0" y="380238"/>
                </a:lnTo>
              </a:path>
            </a:pathLst>
          </a:custGeom>
          <a:ln w="28955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4361" y="564794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4">
                <a:moveTo>
                  <a:pt x="0" y="0"/>
                </a:moveTo>
                <a:lnTo>
                  <a:pt x="0" y="134873"/>
                </a:lnTo>
              </a:path>
            </a:pathLst>
          </a:custGeom>
          <a:ln w="28955">
            <a:solidFill>
              <a:srgbClr val="FFFF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477128" y="3704716"/>
            <a:ext cx="2249805" cy="2086610"/>
            <a:chOff x="5477128" y="3704716"/>
            <a:chExt cx="2249805" cy="2086610"/>
          </a:xfrm>
        </p:grpSpPr>
        <p:sp>
          <p:nvSpPr>
            <p:cNvPr id="11" name="object 11"/>
            <p:cNvSpPr/>
            <p:nvPr/>
          </p:nvSpPr>
          <p:spPr>
            <a:xfrm>
              <a:off x="5944361" y="3725417"/>
              <a:ext cx="0" cy="1761489"/>
            </a:xfrm>
            <a:custGeom>
              <a:avLst/>
              <a:gdLst/>
              <a:ahLst/>
              <a:cxnLst/>
              <a:rect l="l" t="t" r="r" b="b"/>
              <a:pathLst>
                <a:path h="1761489">
                  <a:moveTo>
                    <a:pt x="0" y="0"/>
                  </a:moveTo>
                  <a:lnTo>
                    <a:pt x="0" y="1760981"/>
                  </a:lnTo>
                </a:path>
              </a:pathLst>
            </a:custGeom>
            <a:ln w="28955">
              <a:solidFill>
                <a:srgbClr val="FFF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2975" y="5486399"/>
              <a:ext cx="533400" cy="161925"/>
            </a:xfrm>
            <a:custGeom>
              <a:avLst/>
              <a:gdLst/>
              <a:ahLst/>
              <a:cxnLst/>
              <a:rect l="l" t="t" r="r" b="b"/>
              <a:pathLst>
                <a:path w="533400" h="161925">
                  <a:moveTo>
                    <a:pt x="533400" y="0"/>
                  </a:moveTo>
                  <a:lnTo>
                    <a:pt x="0" y="0"/>
                  </a:lnTo>
                  <a:lnTo>
                    <a:pt x="0" y="161544"/>
                  </a:lnTo>
                  <a:lnTo>
                    <a:pt x="533400" y="161544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22975" y="5486399"/>
              <a:ext cx="533400" cy="161925"/>
            </a:xfrm>
            <a:custGeom>
              <a:avLst/>
              <a:gdLst/>
              <a:ahLst/>
              <a:cxnLst/>
              <a:rect l="l" t="t" r="r" b="b"/>
              <a:pathLst>
                <a:path w="533400" h="161925">
                  <a:moveTo>
                    <a:pt x="0" y="161544"/>
                  </a:moveTo>
                  <a:lnTo>
                    <a:pt x="533400" y="161544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1615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56375" y="5029199"/>
              <a:ext cx="1183005" cy="152400"/>
            </a:xfrm>
            <a:custGeom>
              <a:avLst/>
              <a:gdLst/>
              <a:ahLst/>
              <a:cxnLst/>
              <a:rect l="l" t="t" r="r" b="b"/>
              <a:pathLst>
                <a:path w="1183004" h="152400">
                  <a:moveTo>
                    <a:pt x="1182624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182624" y="152400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6375" y="5029199"/>
              <a:ext cx="1183005" cy="152400"/>
            </a:xfrm>
            <a:custGeom>
              <a:avLst/>
              <a:gdLst/>
              <a:ahLst/>
              <a:cxnLst/>
              <a:rect l="l" t="t" r="r" b="b"/>
              <a:pathLst>
                <a:path w="1183004" h="152400">
                  <a:moveTo>
                    <a:pt x="0" y="152400"/>
                  </a:moveTo>
                  <a:lnTo>
                    <a:pt x="1182624" y="152400"/>
                  </a:lnTo>
                  <a:lnTo>
                    <a:pt x="1182624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00877" y="5182361"/>
              <a:ext cx="559435" cy="304800"/>
            </a:xfrm>
            <a:custGeom>
              <a:avLst/>
              <a:gdLst/>
              <a:ahLst/>
              <a:cxnLst/>
              <a:rect l="l" t="t" r="r" b="b"/>
              <a:pathLst>
                <a:path w="559435" h="304800">
                  <a:moveTo>
                    <a:pt x="0" y="0"/>
                  </a:moveTo>
                  <a:lnTo>
                    <a:pt x="559308" y="0"/>
                  </a:lnTo>
                </a:path>
                <a:path w="559435" h="304800">
                  <a:moveTo>
                    <a:pt x="9144" y="304800"/>
                  </a:moveTo>
                  <a:lnTo>
                    <a:pt x="551688" y="3048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22413" y="3719321"/>
              <a:ext cx="0" cy="2057400"/>
            </a:xfrm>
            <a:custGeom>
              <a:avLst/>
              <a:gdLst/>
              <a:ahLst/>
              <a:cxnLst/>
              <a:rect l="l" t="t" r="r" b="b"/>
              <a:pathLst>
                <a:path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ln w="28956">
              <a:solidFill>
                <a:srgbClr val="FFF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31407" y="4114799"/>
              <a:ext cx="914400" cy="152400"/>
            </a:xfrm>
            <a:custGeom>
              <a:avLst/>
              <a:gdLst/>
              <a:ahLst/>
              <a:cxnLst/>
              <a:rect l="l" t="t" r="r" b="b"/>
              <a:pathLst>
                <a:path w="914400" h="152400">
                  <a:moveTo>
                    <a:pt x="91439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914399" y="152400"/>
                  </a:lnTo>
                  <a:lnTo>
                    <a:pt x="914399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31407" y="4114799"/>
              <a:ext cx="914400" cy="152400"/>
            </a:xfrm>
            <a:custGeom>
              <a:avLst/>
              <a:gdLst/>
              <a:ahLst/>
              <a:cxnLst/>
              <a:rect l="l" t="t" r="r" b="b"/>
              <a:pathLst>
                <a:path w="914400" h="152400">
                  <a:moveTo>
                    <a:pt x="0" y="152400"/>
                  </a:moveTo>
                  <a:lnTo>
                    <a:pt x="914399" y="152400"/>
                  </a:lnTo>
                  <a:lnTo>
                    <a:pt x="914399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91733" y="4115561"/>
              <a:ext cx="2220595" cy="1524000"/>
            </a:xfrm>
            <a:custGeom>
              <a:avLst/>
              <a:gdLst/>
              <a:ahLst/>
              <a:cxnLst/>
              <a:rect l="l" t="t" r="r" b="b"/>
              <a:pathLst>
                <a:path w="2220595" h="1524000">
                  <a:moveTo>
                    <a:pt x="0" y="152400"/>
                  </a:moveTo>
                  <a:lnTo>
                    <a:pt x="457200" y="152400"/>
                  </a:lnTo>
                </a:path>
                <a:path w="2220595" h="1524000">
                  <a:moveTo>
                    <a:pt x="448055" y="9143"/>
                  </a:moveTo>
                  <a:lnTo>
                    <a:pt x="448055" y="161544"/>
                  </a:lnTo>
                </a:path>
                <a:path w="2220595" h="1524000">
                  <a:moveTo>
                    <a:pt x="438912" y="0"/>
                  </a:moveTo>
                  <a:lnTo>
                    <a:pt x="896112" y="0"/>
                  </a:lnTo>
                </a:path>
                <a:path w="2220595" h="1524000">
                  <a:moveTo>
                    <a:pt x="885443" y="0"/>
                  </a:moveTo>
                  <a:lnTo>
                    <a:pt x="1342643" y="0"/>
                  </a:lnTo>
                </a:path>
                <a:path w="2220595" h="1524000">
                  <a:moveTo>
                    <a:pt x="1333499" y="152400"/>
                  </a:moveTo>
                  <a:lnTo>
                    <a:pt x="1790699" y="152400"/>
                  </a:lnTo>
                </a:path>
                <a:path w="2220595" h="1524000">
                  <a:moveTo>
                    <a:pt x="1342643" y="0"/>
                  </a:moveTo>
                  <a:lnTo>
                    <a:pt x="1342643" y="152400"/>
                  </a:lnTo>
                </a:path>
                <a:path w="2220595" h="1524000">
                  <a:moveTo>
                    <a:pt x="1763267" y="152400"/>
                  </a:moveTo>
                  <a:lnTo>
                    <a:pt x="2220467" y="152400"/>
                  </a:lnTo>
                </a:path>
                <a:path w="2220595" h="1524000">
                  <a:moveTo>
                    <a:pt x="573024" y="914400"/>
                  </a:moveTo>
                  <a:lnTo>
                    <a:pt x="573024" y="1066800"/>
                  </a:lnTo>
                </a:path>
                <a:path w="2220595" h="1524000">
                  <a:moveTo>
                    <a:pt x="565403" y="914400"/>
                  </a:moveTo>
                  <a:lnTo>
                    <a:pt x="1740408" y="914400"/>
                  </a:lnTo>
                </a:path>
                <a:path w="2220595" h="1524000">
                  <a:moveTo>
                    <a:pt x="1748027" y="1066800"/>
                  </a:moveTo>
                  <a:lnTo>
                    <a:pt x="2205227" y="1066800"/>
                  </a:lnTo>
                </a:path>
                <a:path w="2220595" h="1524000">
                  <a:moveTo>
                    <a:pt x="568451" y="1371600"/>
                  </a:moveTo>
                  <a:lnTo>
                    <a:pt x="568451" y="1524000"/>
                  </a:lnTo>
                </a:path>
                <a:path w="2220595" h="1524000">
                  <a:moveTo>
                    <a:pt x="1748027" y="1371600"/>
                  </a:moveTo>
                  <a:lnTo>
                    <a:pt x="1748027" y="1524000"/>
                  </a:lnTo>
                </a:path>
                <a:path w="2220595" h="1524000">
                  <a:moveTo>
                    <a:pt x="568451" y="1524000"/>
                  </a:moveTo>
                  <a:lnTo>
                    <a:pt x="1025651" y="1524000"/>
                  </a:lnTo>
                </a:path>
                <a:path w="2220595" h="1524000">
                  <a:moveTo>
                    <a:pt x="986027" y="1524000"/>
                  </a:moveTo>
                  <a:lnTo>
                    <a:pt x="1748027" y="1524000"/>
                  </a:lnTo>
                </a:path>
                <a:path w="2220595" h="1524000">
                  <a:moveTo>
                    <a:pt x="1748027" y="1371600"/>
                  </a:moveTo>
                  <a:lnTo>
                    <a:pt x="2205227" y="13716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841373" y="134188"/>
            <a:ext cx="5462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Clocked R-S </a:t>
            </a:r>
            <a:r>
              <a:rPr sz="4400" b="0" spc="-5" dirty="0">
                <a:latin typeface="Arial"/>
                <a:cs typeface="Arial"/>
              </a:rPr>
              <a:t>Flip</a:t>
            </a:r>
            <a:r>
              <a:rPr sz="4400" b="0" spc="-7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Flop</a:t>
            </a:r>
            <a:endParaRPr sz="4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540" y="1167129"/>
            <a:ext cx="79095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  <a:tab pos="5445125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	Wiring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Diagram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3540" y="3148964"/>
            <a:ext cx="2128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36433" y="3148964"/>
            <a:ext cx="3076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Arial"/>
                <a:cs typeface="Arial"/>
              </a:rPr>
              <a:t>Waveform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Diagram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75175" y="4066413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</a:t>
            </a: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npu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97375" y="4861958"/>
            <a:ext cx="1072515" cy="8001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45"/>
              </a:spcBef>
            </a:pPr>
            <a:r>
              <a:rPr sz="1600" b="1" spc="-5" dirty="0">
                <a:latin typeface="Arial"/>
                <a:cs typeface="Arial"/>
              </a:rPr>
              <a:t>Q</a:t>
            </a:r>
            <a:endParaRPr sz="16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Output</a:t>
            </a:r>
            <a:r>
              <a:rPr sz="1800" b="1" spc="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b="1" spc="-7" baseline="-13888" dirty="0">
                <a:latin typeface="Arial"/>
                <a:cs typeface="Arial"/>
              </a:rPr>
              <a:t>Q</a:t>
            </a:r>
            <a:endParaRPr sz="2400" baseline="-13888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61228" y="4067936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61228" y="4525517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67705" y="5461253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28584" y="4021963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38109" y="4174363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28584" y="449199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38109" y="464439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9186" y="4939665"/>
            <a:ext cx="105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19186" y="5406644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28584" y="5559044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9740" y="2693035"/>
            <a:ext cx="57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R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59820" y="2686557"/>
            <a:ext cx="984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lementary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36394" y="1627073"/>
            <a:ext cx="7766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5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Out</a:t>
            </a: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p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ut</a:t>
            </a:r>
            <a:endParaRPr sz="1800">
              <a:latin typeface="Arial"/>
              <a:cs typeface="Arial"/>
            </a:endParaRPr>
          </a:p>
          <a:p>
            <a:pPr marL="503555">
              <a:lnSpc>
                <a:spcPts val="1855"/>
              </a:lnSpc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2742" y="1627073"/>
            <a:ext cx="666115" cy="89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5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marL="113030">
              <a:lnSpc>
                <a:spcPts val="1855"/>
              </a:lnSpc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Set</a:t>
            </a:r>
            <a:r>
              <a:rPr sz="16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6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985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Clock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34796" y="2119883"/>
            <a:ext cx="105156" cy="105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34796" y="2929127"/>
            <a:ext cx="105156" cy="105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38705" y="286740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7844" y="2476500"/>
            <a:ext cx="105156" cy="105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129283" y="1891283"/>
          <a:ext cx="1530350" cy="1295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555">
                <a:tc rowSpan="3">
                  <a:txBody>
                    <a:bodyPr/>
                    <a:lstStyle/>
                    <a:p>
                      <a:pPr marL="42545" marR="45085" indent="9525">
                        <a:lnSpc>
                          <a:spcPts val="2980"/>
                        </a:lnSpc>
                        <a:spcBef>
                          <a:spcPts val="135"/>
                        </a:spcBef>
                        <a:tabLst>
                          <a:tab pos="702945" algn="l"/>
                        </a:tabLst>
                      </a:pPr>
                      <a:r>
                        <a:rPr sz="2400" b="1" baseline="-10416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2400" b="1" spc="-7" baseline="-1041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F	</a:t>
                      </a:r>
                      <a:r>
                        <a:rPr sz="2400" b="1" baseline="-10416" dirty="0">
                          <a:latin typeface="Arial"/>
                          <a:cs typeface="Arial"/>
                        </a:rPr>
                        <a:t>Q 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400"/>
                        </a:spcBef>
                        <a:tabLst>
                          <a:tab pos="70040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R	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20955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762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5650991" y="1524000"/>
            <a:ext cx="2731008" cy="1741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4577" y="463372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59" h="152400">
                <a:moveTo>
                  <a:pt x="144780" y="0"/>
                </a:moveTo>
                <a:lnTo>
                  <a:pt x="144780" y="152400"/>
                </a:lnTo>
              </a:path>
              <a:path w="441959" h="152400">
                <a:moveTo>
                  <a:pt x="0" y="152400"/>
                </a:moveTo>
                <a:lnTo>
                  <a:pt x="152400" y="152400"/>
                </a:lnTo>
              </a:path>
              <a:path w="441959" h="152400">
                <a:moveTo>
                  <a:pt x="289559" y="152400"/>
                </a:moveTo>
                <a:lnTo>
                  <a:pt x="441959" y="152400"/>
                </a:lnTo>
              </a:path>
              <a:path w="441959" h="152400">
                <a:moveTo>
                  <a:pt x="297180" y="0"/>
                </a:moveTo>
                <a:lnTo>
                  <a:pt x="297180" y="152400"/>
                </a:lnTo>
              </a:path>
              <a:path w="441959" h="152400">
                <a:moveTo>
                  <a:pt x="144780" y="12191"/>
                </a:moveTo>
                <a:lnTo>
                  <a:pt x="297180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83741" y="51061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0" y="152400"/>
                </a:lnTo>
              </a:path>
              <a:path w="152400" h="152400">
                <a:moveTo>
                  <a:pt x="0" y="12192"/>
                </a:moveTo>
                <a:lnTo>
                  <a:pt x="152400" y="121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83741" y="55633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0" y="152400"/>
                </a:lnTo>
              </a:path>
              <a:path w="152400" h="152400">
                <a:moveTo>
                  <a:pt x="0" y="12191"/>
                </a:moveTo>
                <a:lnTo>
                  <a:pt x="152400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83741" y="60205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0" y="152400"/>
                </a:lnTo>
              </a:path>
              <a:path w="152400" h="152400">
                <a:moveTo>
                  <a:pt x="0" y="12191"/>
                </a:moveTo>
                <a:lnTo>
                  <a:pt x="152400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38112" y="3788378"/>
          <a:ext cx="4015740" cy="2514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marL="65405" marR="57785" algn="ctr">
                        <a:lnSpc>
                          <a:spcPct val="103299"/>
                        </a:lnSpc>
                        <a:spcBef>
                          <a:spcPts val="300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Mode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of   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Ope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ati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5575" marR="123825" indent="-24765">
                        <a:lnSpc>
                          <a:spcPct val="110000"/>
                        </a:lnSpc>
                        <a:spcBef>
                          <a:spcPts val="215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5745" marR="125095" indent="-114935">
                        <a:lnSpc>
                          <a:spcPct val="110000"/>
                        </a:lnSpc>
                        <a:spcBef>
                          <a:spcPts val="215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39395" marR="123189" indent="-109855">
                        <a:lnSpc>
                          <a:spcPct val="110000"/>
                        </a:lnSpc>
                        <a:spcBef>
                          <a:spcPts val="215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71755" indent="-160020">
                        <a:lnSpc>
                          <a:spcPct val="110000"/>
                        </a:lnSpc>
                        <a:spcBef>
                          <a:spcPts val="215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36854" marR="70485" indent="-158750">
                        <a:lnSpc>
                          <a:spcPct val="110000"/>
                        </a:lnSpc>
                        <a:spcBef>
                          <a:spcPts val="215"/>
                        </a:spcBef>
                      </a:pPr>
                      <a:r>
                        <a:rPr sz="1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  </a:t>
                      </a: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Hold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69850" indent="133985">
                        <a:lnSpc>
                          <a:spcPct val="110000"/>
                        </a:lnSpc>
                        <a:spcBef>
                          <a:spcPts val="235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No 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Change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37">
                <a:tc rowSpan="3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Reset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8419" marR="50800" algn="ctr">
                        <a:lnSpc>
                          <a:spcPct val="105000"/>
                        </a:lnSpc>
                        <a:spcBef>
                          <a:spcPts val="290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Reset</a:t>
                      </a:r>
                      <a:r>
                        <a:rPr sz="9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 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cleared 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611">
                <a:tc row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Set to</a:t>
                      </a:r>
                      <a:r>
                        <a:rPr sz="9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0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774">
                <a:tc rowSpan="3">
                  <a:txBody>
                    <a:bodyPr/>
                    <a:lstStyle/>
                    <a:p>
                      <a:pPr marL="255904" marR="57150" indent="-1905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Prohibi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 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87960" marR="98425" indent="-82550">
                        <a:lnSpc>
                          <a:spcPct val="110200"/>
                        </a:lnSpc>
                        <a:spcBef>
                          <a:spcPts val="23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9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not  use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6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4956428" y="3686936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CLK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471921" y="3720084"/>
            <a:ext cx="2353310" cy="1462405"/>
            <a:chOff x="5471921" y="3720084"/>
            <a:chExt cx="2353310" cy="1462405"/>
          </a:xfrm>
        </p:grpSpPr>
        <p:sp>
          <p:nvSpPr>
            <p:cNvPr id="54" name="object 54"/>
            <p:cNvSpPr/>
            <p:nvPr/>
          </p:nvSpPr>
          <p:spPr>
            <a:xfrm>
              <a:off x="5471921" y="3726942"/>
              <a:ext cx="2353310" cy="184785"/>
            </a:xfrm>
            <a:custGeom>
              <a:avLst/>
              <a:gdLst/>
              <a:ahLst/>
              <a:cxnLst/>
              <a:rect l="l" t="t" r="r" b="b"/>
              <a:pathLst>
                <a:path w="2353309" h="184785">
                  <a:moveTo>
                    <a:pt x="143255" y="22859"/>
                  </a:moveTo>
                  <a:lnTo>
                    <a:pt x="143255" y="175259"/>
                  </a:lnTo>
                </a:path>
                <a:path w="2353309" h="184785">
                  <a:moveTo>
                    <a:pt x="288036" y="18287"/>
                  </a:moveTo>
                  <a:lnTo>
                    <a:pt x="288036" y="170687"/>
                  </a:lnTo>
                </a:path>
                <a:path w="2353309" h="184785">
                  <a:moveTo>
                    <a:pt x="143255" y="170687"/>
                  </a:moveTo>
                  <a:lnTo>
                    <a:pt x="295655" y="170687"/>
                  </a:lnTo>
                </a:path>
                <a:path w="2353309" h="184785">
                  <a:moveTo>
                    <a:pt x="432815" y="170687"/>
                  </a:moveTo>
                  <a:lnTo>
                    <a:pt x="585215" y="170687"/>
                  </a:lnTo>
                </a:path>
                <a:path w="2353309" h="184785">
                  <a:moveTo>
                    <a:pt x="440436" y="18287"/>
                  </a:moveTo>
                  <a:lnTo>
                    <a:pt x="440436" y="170687"/>
                  </a:lnTo>
                </a:path>
                <a:path w="2353309" h="184785">
                  <a:moveTo>
                    <a:pt x="288036" y="32003"/>
                  </a:moveTo>
                  <a:lnTo>
                    <a:pt x="440436" y="32003"/>
                  </a:lnTo>
                </a:path>
                <a:path w="2353309" h="184785">
                  <a:moveTo>
                    <a:pt x="882395" y="184403"/>
                  </a:moveTo>
                  <a:lnTo>
                    <a:pt x="882395" y="32003"/>
                  </a:lnTo>
                </a:path>
                <a:path w="2353309" h="184785">
                  <a:moveTo>
                    <a:pt x="1027176" y="32003"/>
                  </a:moveTo>
                  <a:lnTo>
                    <a:pt x="874776" y="32003"/>
                  </a:lnTo>
                </a:path>
                <a:path w="2353309" h="184785">
                  <a:moveTo>
                    <a:pt x="737615" y="32003"/>
                  </a:moveTo>
                  <a:lnTo>
                    <a:pt x="585215" y="32003"/>
                  </a:lnTo>
                </a:path>
                <a:path w="2353309" h="184785">
                  <a:moveTo>
                    <a:pt x="729995" y="184403"/>
                  </a:moveTo>
                  <a:lnTo>
                    <a:pt x="729995" y="32003"/>
                  </a:lnTo>
                </a:path>
                <a:path w="2353309" h="184785">
                  <a:moveTo>
                    <a:pt x="882395" y="170687"/>
                  </a:moveTo>
                  <a:lnTo>
                    <a:pt x="729995" y="170687"/>
                  </a:lnTo>
                </a:path>
                <a:path w="2353309" h="184785">
                  <a:moveTo>
                    <a:pt x="580643" y="19811"/>
                  </a:moveTo>
                  <a:lnTo>
                    <a:pt x="580643" y="172211"/>
                  </a:lnTo>
                </a:path>
                <a:path w="2353309" h="184785">
                  <a:moveTo>
                    <a:pt x="1027176" y="19811"/>
                  </a:moveTo>
                  <a:lnTo>
                    <a:pt x="1027176" y="172211"/>
                  </a:lnTo>
                </a:path>
                <a:path w="2353309" h="184785">
                  <a:moveTo>
                    <a:pt x="1173479" y="7619"/>
                  </a:moveTo>
                  <a:lnTo>
                    <a:pt x="1173479" y="160019"/>
                  </a:lnTo>
                </a:path>
                <a:path w="2353309" h="184785">
                  <a:moveTo>
                    <a:pt x="1030224" y="160019"/>
                  </a:moveTo>
                  <a:lnTo>
                    <a:pt x="1182624" y="160019"/>
                  </a:lnTo>
                </a:path>
                <a:path w="2353309" h="184785">
                  <a:moveTo>
                    <a:pt x="1318259" y="160019"/>
                  </a:moveTo>
                  <a:lnTo>
                    <a:pt x="1470659" y="160019"/>
                  </a:lnTo>
                </a:path>
                <a:path w="2353309" h="184785">
                  <a:moveTo>
                    <a:pt x="1325879" y="7619"/>
                  </a:moveTo>
                  <a:lnTo>
                    <a:pt x="1325879" y="160019"/>
                  </a:lnTo>
                </a:path>
                <a:path w="2353309" h="184785">
                  <a:moveTo>
                    <a:pt x="1173479" y="19811"/>
                  </a:moveTo>
                  <a:lnTo>
                    <a:pt x="1325879" y="19811"/>
                  </a:lnTo>
                </a:path>
                <a:path w="2353309" h="184785">
                  <a:moveTo>
                    <a:pt x="1760220" y="160019"/>
                  </a:moveTo>
                  <a:lnTo>
                    <a:pt x="1760220" y="7619"/>
                  </a:lnTo>
                </a:path>
                <a:path w="2353309" h="184785">
                  <a:moveTo>
                    <a:pt x="1905000" y="7619"/>
                  </a:moveTo>
                  <a:lnTo>
                    <a:pt x="1752600" y="7619"/>
                  </a:lnTo>
                </a:path>
                <a:path w="2353309" h="184785">
                  <a:moveTo>
                    <a:pt x="1615439" y="7619"/>
                  </a:moveTo>
                  <a:lnTo>
                    <a:pt x="1463039" y="7619"/>
                  </a:lnTo>
                </a:path>
                <a:path w="2353309" h="184785">
                  <a:moveTo>
                    <a:pt x="1607820" y="160019"/>
                  </a:moveTo>
                  <a:lnTo>
                    <a:pt x="1607820" y="7619"/>
                  </a:lnTo>
                </a:path>
                <a:path w="2353309" h="184785">
                  <a:moveTo>
                    <a:pt x="1760220" y="147827"/>
                  </a:moveTo>
                  <a:lnTo>
                    <a:pt x="1607820" y="147827"/>
                  </a:lnTo>
                </a:path>
                <a:path w="2353309" h="184785">
                  <a:moveTo>
                    <a:pt x="2057400" y="0"/>
                  </a:moveTo>
                  <a:lnTo>
                    <a:pt x="2057400" y="152399"/>
                  </a:lnTo>
                </a:path>
                <a:path w="2353309" h="184785">
                  <a:moveTo>
                    <a:pt x="1912620" y="152399"/>
                  </a:moveTo>
                  <a:lnTo>
                    <a:pt x="2065020" y="152399"/>
                  </a:lnTo>
                </a:path>
                <a:path w="2353309" h="184785">
                  <a:moveTo>
                    <a:pt x="2200655" y="152399"/>
                  </a:moveTo>
                  <a:lnTo>
                    <a:pt x="2353055" y="152399"/>
                  </a:lnTo>
                </a:path>
                <a:path w="2353309" h="184785">
                  <a:moveTo>
                    <a:pt x="2209800" y="0"/>
                  </a:moveTo>
                  <a:lnTo>
                    <a:pt x="2209800" y="152399"/>
                  </a:lnTo>
                </a:path>
                <a:path w="2353309" h="184785">
                  <a:moveTo>
                    <a:pt x="2057400" y="12191"/>
                  </a:moveTo>
                  <a:lnTo>
                    <a:pt x="2209800" y="12191"/>
                  </a:lnTo>
                </a:path>
                <a:path w="2353309" h="184785">
                  <a:moveTo>
                    <a:pt x="1470659" y="7619"/>
                  </a:moveTo>
                  <a:lnTo>
                    <a:pt x="1470659" y="160019"/>
                  </a:lnTo>
                </a:path>
                <a:path w="2353309" h="184785">
                  <a:moveTo>
                    <a:pt x="1905000" y="0"/>
                  </a:moveTo>
                  <a:lnTo>
                    <a:pt x="1905000" y="152399"/>
                  </a:lnTo>
                </a:path>
                <a:path w="2353309" h="184785">
                  <a:moveTo>
                    <a:pt x="152400" y="32003"/>
                  </a:moveTo>
                  <a:lnTo>
                    <a:pt x="0" y="3200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18603" y="4572000"/>
              <a:ext cx="628015" cy="152400"/>
            </a:xfrm>
            <a:custGeom>
              <a:avLst/>
              <a:gdLst/>
              <a:ahLst/>
              <a:cxnLst/>
              <a:rect l="l" t="t" r="r" b="b"/>
              <a:pathLst>
                <a:path w="628015" h="152400">
                  <a:moveTo>
                    <a:pt x="627888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627888" y="152400"/>
                  </a:lnTo>
                  <a:lnTo>
                    <a:pt x="627888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18603" y="4572000"/>
              <a:ext cx="628015" cy="152400"/>
            </a:xfrm>
            <a:custGeom>
              <a:avLst/>
              <a:gdLst/>
              <a:ahLst/>
              <a:cxnLst/>
              <a:rect l="l" t="t" r="r" b="b"/>
              <a:pathLst>
                <a:path w="628015" h="152400">
                  <a:moveTo>
                    <a:pt x="0" y="152400"/>
                  </a:moveTo>
                  <a:lnTo>
                    <a:pt x="627888" y="152400"/>
                  </a:lnTo>
                  <a:lnTo>
                    <a:pt x="627888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487161" y="4572762"/>
              <a:ext cx="2242185" cy="609600"/>
            </a:xfrm>
            <a:custGeom>
              <a:avLst/>
              <a:gdLst/>
              <a:ahLst/>
              <a:cxnLst/>
              <a:rect l="l" t="t" r="r" b="b"/>
              <a:pathLst>
                <a:path w="2242184" h="609600">
                  <a:moveTo>
                    <a:pt x="451103" y="152400"/>
                  </a:moveTo>
                  <a:lnTo>
                    <a:pt x="908303" y="152400"/>
                  </a:lnTo>
                </a:path>
                <a:path w="2242184" h="609600">
                  <a:moveTo>
                    <a:pt x="1632204" y="0"/>
                  </a:moveTo>
                  <a:lnTo>
                    <a:pt x="1632204" y="152400"/>
                  </a:lnTo>
                </a:path>
                <a:path w="2242184" h="609600">
                  <a:moveTo>
                    <a:pt x="899160" y="152400"/>
                  </a:moveTo>
                  <a:lnTo>
                    <a:pt x="1356360" y="152400"/>
                  </a:lnTo>
                </a:path>
                <a:path w="2242184" h="609600">
                  <a:moveTo>
                    <a:pt x="1624584" y="0"/>
                  </a:moveTo>
                  <a:lnTo>
                    <a:pt x="1795271" y="0"/>
                  </a:lnTo>
                </a:path>
                <a:path w="2242184" h="609600">
                  <a:moveTo>
                    <a:pt x="1784604" y="0"/>
                  </a:moveTo>
                  <a:lnTo>
                    <a:pt x="2241804" y="0"/>
                  </a:lnTo>
                </a:path>
                <a:path w="2242184" h="609600">
                  <a:moveTo>
                    <a:pt x="0" y="152400"/>
                  </a:moveTo>
                  <a:lnTo>
                    <a:pt x="457200" y="152400"/>
                  </a:lnTo>
                </a:path>
                <a:path w="2242184" h="609600">
                  <a:moveTo>
                    <a:pt x="1335023" y="152400"/>
                  </a:moveTo>
                  <a:lnTo>
                    <a:pt x="1639823" y="152400"/>
                  </a:lnTo>
                </a:path>
                <a:path w="2242184" h="609600">
                  <a:moveTo>
                    <a:pt x="1752599" y="457200"/>
                  </a:moveTo>
                  <a:lnTo>
                    <a:pt x="1752599" y="6096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253232" y="1197356"/>
            <a:ext cx="166116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Arial"/>
                <a:cs typeface="Arial"/>
              </a:rPr>
              <a:t>Output FF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operates  </a:t>
            </a:r>
            <a:r>
              <a:rPr sz="1400" b="1" spc="-10" dirty="0">
                <a:latin typeface="Arial"/>
                <a:cs typeface="Arial"/>
              </a:rPr>
              <a:t>Synchronously</a:t>
            </a:r>
            <a:endParaRPr sz="14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in step </a:t>
            </a:r>
            <a:r>
              <a:rPr sz="1400" b="1" spc="5" dirty="0">
                <a:latin typeface="Arial"/>
                <a:cs typeface="Arial"/>
              </a:rPr>
              <a:t>with</a:t>
            </a:r>
            <a:r>
              <a:rPr sz="1400" b="1" spc="-1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clock.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0221" y="483234"/>
            <a:ext cx="2543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Questions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7335520" cy="324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319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Q. What type of waveform is used in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flip  </a:t>
            </a:r>
            <a:r>
              <a:rPr sz="3200" spc="-5" dirty="0">
                <a:latin typeface="Arial"/>
                <a:cs typeface="Arial"/>
              </a:rPr>
              <a:t>flops?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Arial"/>
                <a:cs typeface="Arial"/>
              </a:rPr>
              <a:t>A. </a:t>
            </a:r>
            <a:r>
              <a:rPr sz="3200" spc="-5" dirty="0">
                <a:latin typeface="Arial"/>
                <a:cs typeface="Arial"/>
              </a:rPr>
              <a:t>Square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Waves.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Arial"/>
                <a:cs typeface="Arial"/>
              </a:rPr>
              <a:t>Q. What </a:t>
            </a:r>
            <a:r>
              <a:rPr sz="3200" spc="-5" dirty="0">
                <a:latin typeface="Arial"/>
                <a:cs typeface="Arial"/>
              </a:rPr>
              <a:t>does </a:t>
            </a:r>
            <a:r>
              <a:rPr sz="3200" dirty="0">
                <a:latin typeface="Arial"/>
                <a:cs typeface="Arial"/>
              </a:rPr>
              <a:t>the RS </a:t>
            </a:r>
            <a:r>
              <a:rPr sz="3200" spc="-5" dirty="0">
                <a:latin typeface="Arial"/>
                <a:cs typeface="Arial"/>
              </a:rPr>
              <a:t>stand </a:t>
            </a:r>
            <a:r>
              <a:rPr sz="3200" dirty="0">
                <a:latin typeface="Arial"/>
                <a:cs typeface="Arial"/>
              </a:rPr>
              <a:t>for in the</a:t>
            </a:r>
            <a:r>
              <a:rPr sz="3200" spc="-1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RS  Flip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Flop?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Arial"/>
                <a:cs typeface="Arial"/>
              </a:rPr>
              <a:t>A. Reset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Set.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8782" y="100025"/>
            <a:ext cx="2727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D Flip</a:t>
            </a:r>
            <a:r>
              <a:rPr sz="4400" b="0" spc="-9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Flop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167129"/>
            <a:ext cx="2503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6329" y="1167129"/>
            <a:ext cx="2477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Wiring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Diagram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1543" y="2616835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9820" y="2610357"/>
            <a:ext cx="984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lementary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7522" y="1672196"/>
            <a:ext cx="285115" cy="8362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1225"/>
              </a:spcBef>
            </a:pP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u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38705" y="279120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10362" y="1815083"/>
          <a:ext cx="2082165" cy="1295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555">
                <a:tc>
                  <a:txBody>
                    <a:bodyPr/>
                    <a:lstStyle/>
                    <a:p>
                      <a:pPr marL="13970">
                        <a:lnSpc>
                          <a:spcPts val="1860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215"/>
                        </a:spcBef>
                        <a:tabLst>
                          <a:tab pos="70294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	Q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FF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  <a:spcBef>
                          <a:spcPts val="1510"/>
                        </a:spcBef>
                        <a:tabLst>
                          <a:tab pos="70040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CLK	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39370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nput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lock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541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spc="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0005" marR="120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3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83540" y="3225164"/>
            <a:ext cx="2128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5148" y="3225164"/>
            <a:ext cx="2219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Similar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Wiring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742" y="221995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4082" y="1171702"/>
            <a:ext cx="1164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Arial"/>
                <a:cs typeface="Arial"/>
              </a:rPr>
              <a:t>Also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called: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5585" y="1415542"/>
            <a:ext cx="14795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Delay FF</a:t>
            </a:r>
            <a:endParaRPr sz="16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Data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FF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1600" b="1" spc="-15" dirty="0">
                <a:latin typeface="Arial"/>
                <a:cs typeface="Arial"/>
              </a:rPr>
              <a:t>D-type </a:t>
            </a:r>
            <a:r>
              <a:rPr sz="1600" b="1" spc="-5" dirty="0">
                <a:latin typeface="Arial"/>
                <a:cs typeface="Arial"/>
              </a:rPr>
              <a:t>Latches  </a:t>
            </a:r>
            <a:r>
              <a:rPr sz="1600" b="1" spc="-10" dirty="0">
                <a:latin typeface="Arial"/>
                <a:cs typeface="Arial"/>
              </a:rPr>
              <a:t>‘Delayed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9029" y="2391282"/>
            <a:ext cx="1231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Clock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Pulse’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50991" y="1534667"/>
            <a:ext cx="2731008" cy="1741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7400" y="3733837"/>
            <a:ext cx="586105" cy="713740"/>
          </a:xfrm>
          <a:custGeom>
            <a:avLst/>
            <a:gdLst/>
            <a:ahLst/>
            <a:cxnLst/>
            <a:rect l="l" t="t" r="r" b="b"/>
            <a:pathLst>
              <a:path w="586105" h="713739">
                <a:moveTo>
                  <a:pt x="585787" y="0"/>
                </a:moveTo>
                <a:lnTo>
                  <a:pt x="0" y="0"/>
                </a:lnTo>
                <a:lnTo>
                  <a:pt x="0" y="713193"/>
                </a:lnTo>
                <a:lnTo>
                  <a:pt x="585787" y="713193"/>
                </a:lnTo>
                <a:lnTo>
                  <a:pt x="5857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14312" y="3719512"/>
          <a:ext cx="2414905" cy="1611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030"/>
                        </a:lnSpc>
                        <a:spcBef>
                          <a:spcPts val="335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88900">
                        <a:lnSpc>
                          <a:spcPts val="1989"/>
                        </a:lnSpc>
                      </a:pPr>
                      <a:r>
                        <a:rPr sz="2700" b="1" spc="-7" baseline="-1697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r>
                        <a:rPr sz="12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n+1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305561" y="45727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59" h="152400">
                <a:moveTo>
                  <a:pt x="297180" y="152400"/>
                </a:moveTo>
                <a:lnTo>
                  <a:pt x="297180" y="0"/>
                </a:lnTo>
              </a:path>
              <a:path w="441959" h="152400">
                <a:moveTo>
                  <a:pt x="441959" y="0"/>
                </a:moveTo>
                <a:lnTo>
                  <a:pt x="289560" y="0"/>
                </a:lnTo>
              </a:path>
              <a:path w="441959" h="152400">
                <a:moveTo>
                  <a:pt x="152400" y="0"/>
                </a:moveTo>
                <a:lnTo>
                  <a:pt x="0" y="0"/>
                </a:lnTo>
              </a:path>
              <a:path w="441959" h="152400">
                <a:moveTo>
                  <a:pt x="144780" y="152400"/>
                </a:moveTo>
                <a:lnTo>
                  <a:pt x="144780" y="0"/>
                </a:lnTo>
              </a:path>
              <a:path w="441959" h="152400">
                <a:moveTo>
                  <a:pt x="297180" y="140207"/>
                </a:moveTo>
                <a:lnTo>
                  <a:pt x="144780" y="14020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2566" y="398754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89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7087361" y="4024884"/>
            <a:ext cx="1981200" cy="1324610"/>
            <a:chOff x="7087361" y="4024884"/>
            <a:chExt cx="1981200" cy="1324610"/>
          </a:xfrm>
        </p:grpSpPr>
        <p:sp>
          <p:nvSpPr>
            <p:cNvPr id="22" name="object 22"/>
            <p:cNvSpPr/>
            <p:nvPr/>
          </p:nvSpPr>
          <p:spPr>
            <a:xfrm>
              <a:off x="7620761" y="4039362"/>
              <a:ext cx="914400" cy="1295400"/>
            </a:xfrm>
            <a:custGeom>
              <a:avLst/>
              <a:gdLst/>
              <a:ahLst/>
              <a:cxnLst/>
              <a:rect l="l" t="t" r="r" b="b"/>
              <a:pathLst>
                <a:path w="914400" h="1295400">
                  <a:moveTo>
                    <a:pt x="0" y="1295400"/>
                  </a:moveTo>
                  <a:lnTo>
                    <a:pt x="914400" y="1295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7361" y="4296918"/>
              <a:ext cx="1981200" cy="809625"/>
            </a:xfrm>
            <a:custGeom>
              <a:avLst/>
              <a:gdLst/>
              <a:ahLst/>
              <a:cxnLst/>
              <a:rect l="l" t="t" r="r" b="b"/>
              <a:pathLst>
                <a:path w="1981200" h="809625">
                  <a:moveTo>
                    <a:pt x="0" y="0"/>
                  </a:moveTo>
                  <a:lnTo>
                    <a:pt x="533400" y="0"/>
                  </a:lnTo>
                </a:path>
                <a:path w="1981200" h="809625">
                  <a:moveTo>
                    <a:pt x="0" y="809243"/>
                  </a:moveTo>
                  <a:lnTo>
                    <a:pt x="533400" y="809243"/>
                  </a:lnTo>
                </a:path>
                <a:path w="1981200" h="809625">
                  <a:moveTo>
                    <a:pt x="1447800" y="809243"/>
                  </a:moveTo>
                  <a:lnTo>
                    <a:pt x="1981200" y="809243"/>
                  </a:lnTo>
                </a:path>
                <a:path w="1981200" h="809625">
                  <a:moveTo>
                    <a:pt x="1447800" y="0"/>
                  </a:moveTo>
                  <a:lnTo>
                    <a:pt x="1981200" y="0"/>
                  </a:lnTo>
                </a:path>
                <a:path w="1981200" h="809625">
                  <a:moveTo>
                    <a:pt x="1228344" y="704087"/>
                  </a:moveTo>
                  <a:lnTo>
                    <a:pt x="1380744" y="70408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74609" y="4063390"/>
            <a:ext cx="821690" cy="118491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  <a:tabLst>
                <a:tab pos="650875" algn="l"/>
              </a:tabLst>
            </a:pPr>
            <a:r>
              <a:rPr sz="1600" b="1" spc="-5" dirty="0">
                <a:latin typeface="Arial"/>
                <a:cs typeface="Arial"/>
              </a:rPr>
              <a:t>D	Q</a:t>
            </a:r>
            <a:endParaRPr sz="16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930"/>
              </a:spcBef>
            </a:pPr>
            <a:r>
              <a:rPr sz="1600" b="1" spc="-10" dirty="0">
                <a:latin typeface="Arial"/>
                <a:cs typeface="Arial"/>
              </a:rPr>
              <a:t>FF</a:t>
            </a:r>
            <a:endParaRPr sz="1600">
              <a:latin typeface="Arial"/>
              <a:cs typeface="Arial"/>
            </a:endParaRPr>
          </a:p>
          <a:p>
            <a:pPr marL="8890">
              <a:lnSpc>
                <a:spcPct val="100000"/>
              </a:lnSpc>
              <a:spcBef>
                <a:spcPts val="1505"/>
              </a:spcBef>
              <a:tabLst>
                <a:tab pos="647065" algn="l"/>
              </a:tabLst>
            </a:pPr>
            <a:r>
              <a:rPr sz="1600" b="1" spc="-5" dirty="0">
                <a:latin typeface="Arial"/>
                <a:cs typeface="Arial"/>
              </a:rPr>
              <a:t>C</a:t>
            </a:r>
            <a:r>
              <a:rPr sz="1600" b="1" spc="-15" dirty="0">
                <a:latin typeface="Arial"/>
                <a:cs typeface="Arial"/>
              </a:rPr>
              <a:t>L</a:t>
            </a:r>
            <a:r>
              <a:rPr sz="1600" b="1" spc="-5" dirty="0">
                <a:latin typeface="Arial"/>
                <a:cs typeface="Arial"/>
              </a:rPr>
              <a:t>K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5" dirty="0">
                <a:latin typeface="Arial"/>
                <a:cs typeface="Arial"/>
              </a:rPr>
              <a:t>Q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05401" y="4024757"/>
            <a:ext cx="2115820" cy="1324610"/>
            <a:chOff x="4605401" y="4024757"/>
            <a:chExt cx="2115820" cy="1324610"/>
          </a:xfrm>
        </p:grpSpPr>
        <p:sp>
          <p:nvSpPr>
            <p:cNvPr id="26" name="object 26"/>
            <p:cNvSpPr/>
            <p:nvPr/>
          </p:nvSpPr>
          <p:spPr>
            <a:xfrm>
              <a:off x="5258562" y="4039362"/>
              <a:ext cx="914400" cy="1295400"/>
            </a:xfrm>
            <a:custGeom>
              <a:avLst/>
              <a:gdLst/>
              <a:ahLst/>
              <a:cxnLst/>
              <a:rect l="l" t="t" r="r" b="b"/>
              <a:pathLst>
                <a:path w="914400" h="1295400">
                  <a:moveTo>
                    <a:pt x="0" y="1295400"/>
                  </a:moveTo>
                  <a:lnTo>
                    <a:pt x="914400" y="1295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20006" y="4296918"/>
              <a:ext cx="2086610" cy="809625"/>
            </a:xfrm>
            <a:custGeom>
              <a:avLst/>
              <a:gdLst/>
              <a:ahLst/>
              <a:cxnLst/>
              <a:rect l="l" t="t" r="r" b="b"/>
              <a:pathLst>
                <a:path w="2086609" h="809625">
                  <a:moveTo>
                    <a:pt x="105156" y="0"/>
                  </a:moveTo>
                  <a:lnTo>
                    <a:pt x="638556" y="0"/>
                  </a:lnTo>
                </a:path>
                <a:path w="2086609" h="809625">
                  <a:moveTo>
                    <a:pt x="0" y="809243"/>
                  </a:moveTo>
                  <a:lnTo>
                    <a:pt x="638556" y="809243"/>
                  </a:lnTo>
                </a:path>
                <a:path w="2086609" h="809625">
                  <a:moveTo>
                    <a:pt x="1552956" y="809243"/>
                  </a:moveTo>
                  <a:lnTo>
                    <a:pt x="2086355" y="809243"/>
                  </a:lnTo>
                </a:path>
                <a:path w="2086609" h="809625">
                  <a:moveTo>
                    <a:pt x="1552956" y="0"/>
                  </a:moveTo>
                  <a:lnTo>
                    <a:pt x="2086355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321553" y="4978984"/>
            <a:ext cx="159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63158" y="4182236"/>
            <a:ext cx="1708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Q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59728" y="4978984"/>
            <a:ext cx="1708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Q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25161" y="4648961"/>
            <a:ext cx="1381125" cy="352425"/>
          </a:xfrm>
          <a:custGeom>
            <a:avLst/>
            <a:gdLst/>
            <a:ahLst/>
            <a:cxnLst/>
            <a:rect l="l" t="t" r="r" b="b"/>
            <a:pathLst>
              <a:path w="1381125" h="352425">
                <a:moveTo>
                  <a:pt x="1228343" y="352044"/>
                </a:moveTo>
                <a:lnTo>
                  <a:pt x="1380743" y="352044"/>
                </a:lnTo>
              </a:path>
              <a:path w="1381125" h="352425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77230" y="4009415"/>
            <a:ext cx="56832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indent="8890">
              <a:lnSpc>
                <a:spcPct val="155000"/>
              </a:lnSpc>
              <a:spcBef>
                <a:spcPts val="100"/>
              </a:spcBef>
            </a:pPr>
            <a:r>
              <a:rPr sz="2400" b="1" spc="-7" baseline="-10416" dirty="0">
                <a:latin typeface="Arial"/>
                <a:cs typeface="Arial"/>
              </a:rPr>
              <a:t>S </a:t>
            </a:r>
            <a:r>
              <a:rPr sz="1600" b="1" spc="-10" dirty="0">
                <a:latin typeface="Arial"/>
                <a:cs typeface="Arial"/>
              </a:rPr>
              <a:t>FF  </a:t>
            </a:r>
            <a:r>
              <a:rPr sz="1600" b="1" spc="-5" dirty="0">
                <a:latin typeface="Arial"/>
                <a:cs typeface="Arial"/>
              </a:rPr>
              <a:t>CLK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10761" y="4282440"/>
            <a:ext cx="914400" cy="1022985"/>
            <a:chOff x="3810761" y="4282440"/>
            <a:chExt cx="914400" cy="1022985"/>
          </a:xfrm>
        </p:grpSpPr>
        <p:sp>
          <p:nvSpPr>
            <p:cNvPr id="34" name="object 34"/>
            <p:cNvSpPr/>
            <p:nvPr/>
          </p:nvSpPr>
          <p:spPr>
            <a:xfrm>
              <a:off x="3810761" y="4296918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33899" y="5055108"/>
              <a:ext cx="105155" cy="1051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91761" y="4909566"/>
              <a:ext cx="337185" cy="381000"/>
            </a:xfrm>
            <a:custGeom>
              <a:avLst/>
              <a:gdLst/>
              <a:ahLst/>
              <a:cxnLst/>
              <a:rect l="l" t="t" r="r" b="b"/>
              <a:pathLst>
                <a:path w="337185" h="381000">
                  <a:moveTo>
                    <a:pt x="0" y="0"/>
                  </a:moveTo>
                  <a:lnTo>
                    <a:pt x="336803" y="1904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79341" y="4299966"/>
              <a:ext cx="304800" cy="806450"/>
            </a:xfrm>
            <a:custGeom>
              <a:avLst/>
              <a:gdLst/>
              <a:ahLst/>
              <a:cxnLst/>
              <a:rect l="l" t="t" r="r" b="b"/>
              <a:pathLst>
                <a:path w="304800" h="806450">
                  <a:moveTo>
                    <a:pt x="7620" y="0"/>
                  </a:moveTo>
                  <a:lnTo>
                    <a:pt x="7620" y="806195"/>
                  </a:lnTo>
                </a:path>
                <a:path w="304800" h="806450">
                  <a:moveTo>
                    <a:pt x="0" y="806195"/>
                  </a:moveTo>
                  <a:lnTo>
                    <a:pt x="304800" y="806195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713981" y="4376115"/>
            <a:ext cx="2578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=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5561" y="50299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59" h="152400">
                <a:moveTo>
                  <a:pt x="297180" y="152400"/>
                </a:moveTo>
                <a:lnTo>
                  <a:pt x="297180" y="0"/>
                </a:lnTo>
              </a:path>
              <a:path w="441959" h="152400">
                <a:moveTo>
                  <a:pt x="441959" y="0"/>
                </a:moveTo>
                <a:lnTo>
                  <a:pt x="289560" y="0"/>
                </a:lnTo>
              </a:path>
              <a:path w="441959" h="152400">
                <a:moveTo>
                  <a:pt x="152400" y="0"/>
                </a:moveTo>
                <a:lnTo>
                  <a:pt x="0" y="0"/>
                </a:lnTo>
              </a:path>
              <a:path w="441959" h="152400">
                <a:moveTo>
                  <a:pt x="144780" y="152400"/>
                </a:moveTo>
                <a:lnTo>
                  <a:pt x="144780" y="0"/>
                </a:lnTo>
              </a:path>
              <a:path w="441959" h="152400">
                <a:moveTo>
                  <a:pt x="297180" y="140207"/>
                </a:moveTo>
                <a:lnTo>
                  <a:pt x="144780" y="14020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4689" y="69291"/>
            <a:ext cx="2752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7474 D Flip</a:t>
            </a:r>
            <a:r>
              <a:rPr sz="2800" spc="-35" dirty="0"/>
              <a:t> </a:t>
            </a:r>
            <a:r>
              <a:rPr sz="2800" spc="-5" dirty="0"/>
              <a:t>Flop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3540" y="3072764"/>
            <a:ext cx="2128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543" y="2162682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38705" y="226085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27522" y="1291196"/>
            <a:ext cx="1016635" cy="11404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1225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ut</a:t>
            </a:r>
            <a:endParaRPr sz="18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  <a:spcBef>
                <a:spcPts val="470"/>
              </a:spcBef>
            </a:pPr>
            <a:r>
              <a:rPr sz="1600" b="1" spc="-5" dirty="0">
                <a:latin typeface="Arial"/>
                <a:cs typeface="Arial"/>
              </a:rPr>
              <a:t>lementary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1838705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9112" y="3490912"/>
          <a:ext cx="7162800" cy="2633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367">
                <a:tc rowSpan="3">
                  <a:txBody>
                    <a:bodyPr/>
                    <a:lstStyle/>
                    <a:p>
                      <a:pPr marL="297180" marR="291465" indent="101600">
                        <a:lnSpc>
                          <a:spcPct val="11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Mode of  O</a:t>
                      </a:r>
                      <a:r>
                        <a:rPr sz="18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8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Asynchronous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Synchronous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3848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85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200" b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2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Reset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Prohibited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8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 to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H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Reset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 to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H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346575" y="859281"/>
            <a:ext cx="470471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Note: The asynchronous </a:t>
            </a:r>
            <a:r>
              <a:rPr sz="2800" dirty="0">
                <a:latin typeface="Times New Roman"/>
                <a:cs typeface="Times New Roman"/>
              </a:rPr>
              <a:t>inputs  </a:t>
            </a:r>
            <a:r>
              <a:rPr sz="2800" spc="-5" dirty="0">
                <a:latin typeface="Times New Roman"/>
                <a:cs typeface="Times New Roman"/>
              </a:rPr>
              <a:t>(PS &amp; CLR) Override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synchronous </a:t>
            </a:r>
            <a:r>
              <a:rPr sz="2800" dirty="0">
                <a:latin typeface="Times New Roman"/>
                <a:cs typeface="Times New Roman"/>
              </a:rPr>
              <a:t>inputs </a:t>
            </a:r>
            <a:r>
              <a:rPr sz="2800" spc="-5" dirty="0">
                <a:latin typeface="Times New Roman"/>
                <a:cs typeface="Times New Roman"/>
              </a:rPr>
              <a:t>(D &amp; </a:t>
            </a:r>
            <a:r>
              <a:rPr sz="2800" spc="-10" dirty="0">
                <a:latin typeface="Times New Roman"/>
                <a:cs typeface="Times New Roman"/>
              </a:rPr>
              <a:t>CLK)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72128" y="5601461"/>
            <a:ext cx="86868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72128" y="5868161"/>
            <a:ext cx="86868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7981" y="1143761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3540" y="571254"/>
            <a:ext cx="2503170" cy="79311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</a:t>
            </a:r>
            <a:endParaRPr sz="2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75"/>
              </a:spcBef>
            </a:pPr>
            <a:r>
              <a:rPr sz="1600" b="1" spc="-5" dirty="0">
                <a:latin typeface="Arial"/>
                <a:cs typeface="Arial"/>
              </a:rPr>
              <a:t>Preset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61338" y="1143761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66700"/>
                </a:moveTo>
                <a:lnTo>
                  <a:pt x="2988" y="251852"/>
                </a:lnTo>
                <a:lnTo>
                  <a:pt x="11144" y="239744"/>
                </a:lnTo>
                <a:lnTo>
                  <a:pt x="23252" y="231588"/>
                </a:lnTo>
                <a:lnTo>
                  <a:pt x="38100" y="228600"/>
                </a:lnTo>
                <a:lnTo>
                  <a:pt x="52947" y="231588"/>
                </a:lnTo>
                <a:lnTo>
                  <a:pt x="65055" y="239744"/>
                </a:lnTo>
                <a:lnTo>
                  <a:pt x="73211" y="251852"/>
                </a:lnTo>
                <a:lnTo>
                  <a:pt x="76200" y="266700"/>
                </a:lnTo>
                <a:lnTo>
                  <a:pt x="73211" y="281547"/>
                </a:lnTo>
                <a:lnTo>
                  <a:pt x="65055" y="293655"/>
                </a:lnTo>
                <a:lnTo>
                  <a:pt x="52947" y="301811"/>
                </a:lnTo>
                <a:lnTo>
                  <a:pt x="38100" y="304800"/>
                </a:lnTo>
                <a:lnTo>
                  <a:pt x="23252" y="301811"/>
                </a:lnTo>
                <a:lnTo>
                  <a:pt x="11144" y="293655"/>
                </a:lnTo>
                <a:lnTo>
                  <a:pt x="2988" y="281547"/>
                </a:lnTo>
                <a:lnTo>
                  <a:pt x="0" y="266700"/>
                </a:lnTo>
                <a:close/>
              </a:path>
              <a:path w="76200" h="304800">
                <a:moveTo>
                  <a:pt x="39624" y="0"/>
                </a:moveTo>
                <a:lnTo>
                  <a:pt x="39624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7981" y="2820161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228600"/>
                </a:moveTo>
                <a:lnTo>
                  <a:pt x="990600" y="228600"/>
                </a:lnTo>
              </a:path>
              <a:path w="990600" h="228600">
                <a:moveTo>
                  <a:pt x="982980" y="0"/>
                </a:moveTo>
                <a:lnTo>
                  <a:pt x="98298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2516" y="2740532"/>
            <a:ext cx="532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Clear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61338" y="27439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10362" y="1434083"/>
          <a:ext cx="2082165" cy="12953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555">
                <a:tc>
                  <a:txBody>
                    <a:bodyPr/>
                    <a:lstStyle/>
                    <a:p>
                      <a:pPr marL="13970">
                        <a:lnSpc>
                          <a:spcPts val="1860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5"/>
                        </a:spcBef>
                      </a:pPr>
                      <a:r>
                        <a:rPr sz="2400" b="1" spc="-7" baseline="-39930" dirty="0">
                          <a:latin typeface="Arial"/>
                          <a:cs typeface="Arial"/>
                        </a:rPr>
                        <a:t>D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PS </a:t>
                      </a:r>
                      <a:r>
                        <a:rPr sz="2400" b="1" spc="-7" baseline="-39930" dirty="0">
                          <a:latin typeface="Arial"/>
                          <a:cs typeface="Arial"/>
                        </a:rPr>
                        <a:t>Q</a:t>
                      </a:r>
                      <a:endParaRPr sz="2400" baseline="-3993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 marR="39370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04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FF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51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spc="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800" b="1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39">
                <a:tc>
                  <a:txBody>
                    <a:bodyPr/>
                    <a:lstStyle/>
                    <a:p>
                      <a:pPr marL="109855">
                        <a:lnSpc>
                          <a:spcPts val="1875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lock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700405" algn="l"/>
                        </a:tabLst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CLK	</a:t>
                      </a:r>
                      <a:r>
                        <a:rPr sz="2400" b="1" spc="-7" baseline="-6944" dirty="0">
                          <a:latin typeface="Arial"/>
                          <a:cs typeface="Arial"/>
                        </a:rPr>
                        <a:t>Q</a:t>
                      </a:r>
                      <a:endParaRPr sz="2400" baseline="-6944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ts val="187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8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770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CLR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7111745" y="4299965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89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5236" y="483234"/>
            <a:ext cx="6112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D (Delay) Flip Flop</a:t>
            </a:r>
            <a:r>
              <a:rPr sz="4400" b="0" spc="-10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Uses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8072755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4345" marR="5080" indent="-46228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74980" algn="l"/>
                <a:tab pos="2957195" algn="l"/>
                <a:tab pos="4358005" algn="l"/>
                <a:tab pos="6298565" algn="l"/>
                <a:tab pos="7743190" algn="l"/>
              </a:tabLst>
            </a:pPr>
            <a:r>
              <a:rPr sz="3200" dirty="0">
                <a:latin typeface="Arial"/>
                <a:cs typeface="Arial"/>
              </a:rPr>
              <a:t>Se</a:t>
            </a:r>
            <a:r>
              <a:rPr sz="3200" spc="-15" dirty="0">
                <a:latin typeface="Arial"/>
                <a:cs typeface="Arial"/>
              </a:rPr>
              <a:t>q</a:t>
            </a:r>
            <a:r>
              <a:rPr sz="3200" dirty="0">
                <a:latin typeface="Arial"/>
                <a:cs typeface="Arial"/>
              </a:rPr>
              <a:t>u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nt</a:t>
            </a:r>
            <a:r>
              <a:rPr sz="3200" spc="-15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al	lo</a:t>
            </a:r>
            <a:r>
              <a:rPr sz="3200" spc="-15" dirty="0">
                <a:latin typeface="Arial"/>
                <a:cs typeface="Arial"/>
              </a:rPr>
              <a:t>g</a:t>
            </a:r>
            <a:r>
              <a:rPr sz="3200" dirty="0">
                <a:latin typeface="Arial"/>
                <a:cs typeface="Arial"/>
              </a:rPr>
              <a:t>ic	d</a:t>
            </a:r>
            <a:r>
              <a:rPr sz="3200" spc="-25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vices	</a:t>
            </a:r>
            <a:r>
              <a:rPr sz="3200" spc="-20" dirty="0">
                <a:latin typeface="Arial"/>
                <a:cs typeface="Arial"/>
              </a:rPr>
              <a:t>u</a:t>
            </a:r>
            <a:r>
              <a:rPr sz="3200" dirty="0">
                <a:latin typeface="Arial"/>
                <a:cs typeface="Arial"/>
              </a:rPr>
              <a:t>sed	</a:t>
            </a:r>
            <a:r>
              <a:rPr sz="3200" spc="-5" dirty="0">
                <a:latin typeface="Arial"/>
                <a:cs typeface="Arial"/>
              </a:rPr>
              <a:t>in  temporary memory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devices.</a:t>
            </a:r>
            <a:endParaRPr sz="3200">
              <a:latin typeface="Arial"/>
              <a:cs typeface="Arial"/>
            </a:endParaRPr>
          </a:p>
          <a:p>
            <a:pPr marL="474345" marR="6350" indent="-462280">
              <a:lnSpc>
                <a:spcPct val="100000"/>
              </a:lnSpc>
              <a:spcBef>
                <a:spcPts val="765"/>
              </a:spcBef>
              <a:buFont typeface="Wingdings"/>
              <a:buChar char=""/>
              <a:tabLst>
                <a:tab pos="474980" algn="l"/>
              </a:tabLst>
            </a:pPr>
            <a:r>
              <a:rPr sz="3200" dirty="0">
                <a:latin typeface="Arial"/>
                <a:cs typeface="Arial"/>
              </a:rPr>
              <a:t>Wired </a:t>
            </a:r>
            <a:r>
              <a:rPr sz="3200" spc="-5" dirty="0">
                <a:latin typeface="Arial"/>
                <a:cs typeface="Arial"/>
              </a:rPr>
              <a:t>together </a:t>
            </a:r>
            <a:r>
              <a:rPr sz="3200" dirty="0">
                <a:latin typeface="Arial"/>
                <a:cs typeface="Arial"/>
              </a:rPr>
              <a:t>to form </a:t>
            </a:r>
            <a:r>
              <a:rPr sz="3200" spc="-5" dirty="0">
                <a:latin typeface="Arial"/>
                <a:cs typeface="Arial"/>
              </a:rPr>
              <a:t>shift registers </a:t>
            </a:r>
            <a:r>
              <a:rPr sz="3200" spc="-10" dirty="0">
                <a:latin typeface="Arial"/>
                <a:cs typeface="Arial"/>
              </a:rPr>
              <a:t>and  </a:t>
            </a:r>
            <a:r>
              <a:rPr sz="3200" spc="-5" dirty="0">
                <a:latin typeface="Arial"/>
                <a:cs typeface="Arial"/>
              </a:rPr>
              <a:t>storage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registers.</a:t>
            </a:r>
            <a:endParaRPr sz="3200">
              <a:latin typeface="Arial"/>
              <a:cs typeface="Arial"/>
            </a:endParaRPr>
          </a:p>
          <a:p>
            <a:pPr marL="474345" marR="5080" indent="-462280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474980" algn="l"/>
                <a:tab pos="1892935" algn="l"/>
                <a:tab pos="2861310" algn="l"/>
                <a:tab pos="3850640" algn="l"/>
                <a:tab pos="5583555" algn="l"/>
                <a:tab pos="6889750" algn="l"/>
                <a:tab pos="7383780" algn="l"/>
              </a:tabLst>
            </a:pPr>
            <a:r>
              <a:rPr sz="3200" dirty="0">
                <a:latin typeface="Arial"/>
                <a:cs typeface="Arial"/>
              </a:rPr>
              <a:t>Del</a:t>
            </a:r>
            <a:r>
              <a:rPr sz="3200" spc="-15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ys	d</a:t>
            </a:r>
            <a:r>
              <a:rPr sz="3200" spc="-10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ta	fr</a:t>
            </a:r>
            <a:r>
              <a:rPr sz="3200" spc="-20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m	re</a:t>
            </a:r>
            <a:r>
              <a:rPr sz="3200" spc="-25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5" dirty="0">
                <a:latin typeface="Arial"/>
                <a:cs typeface="Arial"/>
              </a:rPr>
              <a:t>h</a:t>
            </a:r>
            <a:r>
              <a:rPr sz="3200" dirty="0">
                <a:latin typeface="Arial"/>
                <a:cs typeface="Arial"/>
              </a:rPr>
              <a:t>ing	o</a:t>
            </a:r>
            <a:r>
              <a:rPr sz="3200" spc="-10" dirty="0">
                <a:latin typeface="Arial"/>
                <a:cs typeface="Arial"/>
              </a:rPr>
              <a:t>u</a:t>
            </a:r>
            <a:r>
              <a:rPr sz="3200" dirty="0">
                <a:latin typeface="Arial"/>
                <a:cs typeface="Arial"/>
              </a:rPr>
              <a:t>tp</a:t>
            </a:r>
            <a:r>
              <a:rPr sz="3200" spc="-15" dirty="0">
                <a:latin typeface="Arial"/>
                <a:cs typeface="Arial"/>
              </a:rPr>
              <a:t>u</a:t>
            </a:r>
            <a:r>
              <a:rPr sz="3200" dirty="0">
                <a:latin typeface="Arial"/>
                <a:cs typeface="Arial"/>
              </a:rPr>
              <a:t>t	Q	o</a:t>
            </a:r>
            <a:r>
              <a:rPr sz="3200" spc="-25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e  clock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pulse.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107391"/>
            <a:ext cx="2178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J-K Flip</a:t>
            </a:r>
            <a:r>
              <a:rPr sz="2800" spc="-55" dirty="0"/>
              <a:t> </a:t>
            </a:r>
            <a:r>
              <a:rPr sz="2800" spc="-5" dirty="0"/>
              <a:t>Flop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3540" y="633729"/>
            <a:ext cx="2878455" cy="737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2996564"/>
            <a:ext cx="2128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1402" y="46489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79" y="0"/>
                </a:moveTo>
                <a:lnTo>
                  <a:pt x="144779" y="152400"/>
                </a:lnTo>
              </a:path>
              <a:path w="441960" h="152400">
                <a:moveTo>
                  <a:pt x="0" y="152400"/>
                </a:moveTo>
                <a:lnTo>
                  <a:pt x="152400" y="152400"/>
                </a:lnTo>
              </a:path>
              <a:path w="441960" h="152400">
                <a:moveTo>
                  <a:pt x="289559" y="152400"/>
                </a:moveTo>
                <a:lnTo>
                  <a:pt x="441959" y="152400"/>
                </a:lnTo>
              </a:path>
              <a:path w="441960" h="152400">
                <a:moveTo>
                  <a:pt x="297179" y="0"/>
                </a:moveTo>
                <a:lnTo>
                  <a:pt x="297179" y="152400"/>
                </a:lnTo>
              </a:path>
              <a:path w="441960" h="152400">
                <a:moveTo>
                  <a:pt x="144779" y="12192"/>
                </a:moveTo>
                <a:lnTo>
                  <a:pt x="297179" y="121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1402" y="50299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79" y="0"/>
                </a:moveTo>
                <a:lnTo>
                  <a:pt x="144779" y="152400"/>
                </a:lnTo>
              </a:path>
              <a:path w="441960" h="152400">
                <a:moveTo>
                  <a:pt x="0" y="152400"/>
                </a:moveTo>
                <a:lnTo>
                  <a:pt x="152400" y="152400"/>
                </a:lnTo>
              </a:path>
              <a:path w="441960" h="152400">
                <a:moveTo>
                  <a:pt x="289559" y="152400"/>
                </a:moveTo>
                <a:lnTo>
                  <a:pt x="441959" y="152400"/>
                </a:lnTo>
              </a:path>
              <a:path w="441960" h="152400">
                <a:moveTo>
                  <a:pt x="297179" y="0"/>
                </a:moveTo>
                <a:lnTo>
                  <a:pt x="297179" y="152400"/>
                </a:lnTo>
              </a:path>
              <a:path w="441960" h="152400">
                <a:moveTo>
                  <a:pt x="144779" y="12192"/>
                </a:moveTo>
                <a:lnTo>
                  <a:pt x="297179" y="121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90512" y="3600386"/>
          <a:ext cx="6324599" cy="2503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239">
                <a:tc rowSpan="2">
                  <a:txBody>
                    <a:bodyPr/>
                    <a:lstStyle/>
                    <a:p>
                      <a:pPr marL="85090" marR="77470" indent="-1270" algn="ctr">
                        <a:lnSpc>
                          <a:spcPct val="105100"/>
                        </a:lnSpc>
                        <a:spcBef>
                          <a:spcPts val="235"/>
                        </a:spcBef>
                      </a:pP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Mode </a:t>
                      </a: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eratio  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88709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Effect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J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Hold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846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No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b="1" spc="-5" dirty="0">
                          <a:latin typeface="Arial"/>
                          <a:cs typeface="Arial"/>
                        </a:rPr>
                        <a:t>Change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No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b="1" spc="-5" dirty="0">
                          <a:latin typeface="Arial"/>
                          <a:cs typeface="Arial"/>
                        </a:rPr>
                        <a:t>Change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No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b="1" spc="-5" dirty="0">
                          <a:latin typeface="Arial"/>
                          <a:cs typeface="Arial"/>
                        </a:rPr>
                        <a:t>Change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Reset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846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 marR="75565" indent="78740">
                        <a:lnSpc>
                          <a:spcPct val="110000"/>
                        </a:lnSpc>
                        <a:spcBef>
                          <a:spcPts val="220"/>
                        </a:spcBef>
                      </a:pPr>
                      <a:r>
                        <a:rPr sz="1000" b="1" spc="-5" dirty="0">
                          <a:latin typeface="Arial"/>
                          <a:cs typeface="Arial"/>
                        </a:rPr>
                        <a:t>Reset or  cleared to</a:t>
                      </a:r>
                      <a:r>
                        <a:rPr sz="10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34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Set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798">
                <a:tc rowSpan="2"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Toggle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Toggle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Toggle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8260" marR="41910" indent="89535">
                        <a:lnSpc>
                          <a:spcPct val="110000"/>
                        </a:lnSpc>
                        <a:spcBef>
                          <a:spcPts val="23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Changed to 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Opposite</a:t>
                      </a:r>
                      <a:r>
                        <a:rPr sz="9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State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6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264648" y="2274569"/>
            <a:ext cx="1107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ple</a:t>
            </a:r>
            <a:r>
              <a:rPr sz="1600" b="1" spc="-10" dirty="0">
                <a:latin typeface="Arial"/>
                <a:cs typeface="Arial"/>
              </a:rPr>
              <a:t>m</a:t>
            </a:r>
            <a:r>
              <a:rPr sz="1600" b="1" spc="-5" dirty="0">
                <a:latin typeface="Arial"/>
                <a:cs typeface="Arial"/>
              </a:rPr>
              <a:t>en</a:t>
            </a:r>
            <a:r>
              <a:rPr sz="1600" b="1" spc="-1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r</a:t>
            </a:r>
            <a:r>
              <a:rPr sz="1600" b="1" spc="-5" dirty="0"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9884" y="1365630"/>
            <a:ext cx="194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9423" y="1071753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O</a:t>
            </a: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u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tp</a:t>
            </a:r>
            <a:r>
              <a:rPr sz="1800" b="1" spc="5" dirty="0">
                <a:solidFill>
                  <a:srgbClr val="0033CC"/>
                </a:solidFill>
                <a:latin typeface="Arial"/>
                <a:cs typeface="Arial"/>
              </a:rPr>
              <a:t>u</a:t>
            </a: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0258" y="248488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03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865882" y="1377696"/>
          <a:ext cx="2420620" cy="1470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084">
                <a:tc>
                  <a:txBody>
                    <a:bodyPr/>
                    <a:lstStyle/>
                    <a:p>
                      <a:pPr marR="56515" algn="r">
                        <a:lnSpc>
                          <a:spcPts val="18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391160" indent="-314325">
                        <a:lnSpc>
                          <a:spcPct val="100000"/>
                        </a:lnSpc>
                        <a:spcBef>
                          <a:spcPts val="990"/>
                        </a:spcBef>
                        <a:buAutoNum type="alphaUcPeriod" startAt="10"/>
                        <a:tabLst>
                          <a:tab pos="390525" algn="l"/>
                          <a:tab pos="391160" algn="l"/>
                          <a:tab pos="869315" algn="l"/>
                        </a:tabLst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FF	</a:t>
                      </a:r>
                      <a:r>
                        <a:rPr sz="2400" b="1" spc="-7" baseline="-12152" dirty="0">
                          <a:latin typeface="Arial"/>
                          <a:cs typeface="Arial"/>
                        </a:rPr>
                        <a:t>Q</a:t>
                      </a:r>
                      <a:endParaRPr sz="2400" baseline="-12152">
                        <a:latin typeface="Arial"/>
                        <a:cs typeface="Arial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865505" indent="-774065">
                        <a:lnSpc>
                          <a:spcPct val="100000"/>
                        </a:lnSpc>
                        <a:buAutoNum type="alphaUcPeriod" startAt="11"/>
                        <a:tabLst>
                          <a:tab pos="865505" algn="l"/>
                          <a:tab pos="866140" algn="l"/>
                        </a:tabLst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57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8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12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Clock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57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21336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83"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605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57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57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310" y="0"/>
            <a:ext cx="350075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7476 J-K </a:t>
            </a:r>
            <a:r>
              <a:rPr sz="3200" dirty="0"/>
              <a:t>Flip</a:t>
            </a:r>
            <a:r>
              <a:rPr sz="3200" spc="-95" dirty="0"/>
              <a:t> </a:t>
            </a:r>
            <a:r>
              <a:rPr sz="3200" dirty="0"/>
              <a:t>Flop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3540" y="481329"/>
            <a:ext cx="2503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Logic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Symbol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6712" y="3257486"/>
          <a:ext cx="7162800" cy="2987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367">
                <a:tc rowSpan="3">
                  <a:txBody>
                    <a:bodyPr/>
                    <a:lstStyle/>
                    <a:p>
                      <a:pPr marL="297180" marR="291465" indent="101600">
                        <a:lnSpc>
                          <a:spcPct val="11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Mode of  O</a:t>
                      </a:r>
                      <a:r>
                        <a:rPr sz="1800" b="1" spc="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8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INPUTS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OUTPUTS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Asynchronous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Synchronous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PS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J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200" b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2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Reset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Prohibited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Hold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Change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Change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Reset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Set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15" dirty="0">
                          <a:latin typeface="Arial"/>
                          <a:cs typeface="Arial"/>
                        </a:rPr>
                        <a:t>Toggle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Opposite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State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84575" y="827659"/>
            <a:ext cx="51473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Note: 7476 uses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entire pulse to  transfer data from J &amp; K 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9871" y="1680794"/>
            <a:ext cx="3509645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260">
              <a:lnSpc>
                <a:spcPts val="324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to Q &amp; Q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1800"/>
              </a:lnSpc>
            </a:pPr>
            <a:r>
              <a:rPr sz="1600" b="1" spc="-5" dirty="0">
                <a:latin typeface="Arial"/>
                <a:cs typeface="Arial"/>
              </a:rPr>
              <a:t>lementary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7522" y="1276604"/>
            <a:ext cx="194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42" y="1092453"/>
            <a:ext cx="2258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6250" algn="l"/>
              </a:tabLst>
            </a:pPr>
            <a:r>
              <a:rPr sz="1200" b="1" dirty="0">
                <a:solidFill>
                  <a:srgbClr val="0033CC"/>
                </a:solidFill>
                <a:latin typeface="Arial"/>
                <a:cs typeface="Arial"/>
              </a:rPr>
              <a:t>Input	Out</a:t>
            </a:r>
            <a:r>
              <a:rPr sz="1200" b="1" spc="-5" dirty="0">
                <a:solidFill>
                  <a:srgbClr val="0033CC"/>
                </a:solidFill>
                <a:latin typeface="Arial"/>
                <a:cs typeface="Arial"/>
              </a:rPr>
              <a:t>p</a:t>
            </a:r>
            <a:r>
              <a:rPr sz="1200" b="1" dirty="0">
                <a:solidFill>
                  <a:srgbClr val="0033CC"/>
                </a:solidFill>
                <a:latin typeface="Arial"/>
                <a:cs typeface="Arial"/>
              </a:rPr>
              <a:t>ut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789" y="1644472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8705" y="225780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7981" y="991361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2140" y="943102"/>
            <a:ext cx="645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Preset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61338" y="991361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66700"/>
                </a:moveTo>
                <a:lnTo>
                  <a:pt x="2988" y="251852"/>
                </a:lnTo>
                <a:lnTo>
                  <a:pt x="11144" y="239744"/>
                </a:lnTo>
                <a:lnTo>
                  <a:pt x="23252" y="231588"/>
                </a:lnTo>
                <a:lnTo>
                  <a:pt x="38100" y="228600"/>
                </a:lnTo>
                <a:lnTo>
                  <a:pt x="52947" y="231588"/>
                </a:lnTo>
                <a:lnTo>
                  <a:pt x="65055" y="239744"/>
                </a:lnTo>
                <a:lnTo>
                  <a:pt x="73211" y="251852"/>
                </a:lnTo>
                <a:lnTo>
                  <a:pt x="76200" y="266700"/>
                </a:lnTo>
                <a:lnTo>
                  <a:pt x="73211" y="281547"/>
                </a:lnTo>
                <a:lnTo>
                  <a:pt x="65055" y="293655"/>
                </a:lnTo>
                <a:lnTo>
                  <a:pt x="52947" y="301811"/>
                </a:lnTo>
                <a:lnTo>
                  <a:pt x="38100" y="304800"/>
                </a:lnTo>
                <a:lnTo>
                  <a:pt x="23252" y="301811"/>
                </a:lnTo>
                <a:lnTo>
                  <a:pt x="11144" y="293655"/>
                </a:lnTo>
                <a:lnTo>
                  <a:pt x="2988" y="281547"/>
                </a:lnTo>
                <a:lnTo>
                  <a:pt x="0" y="266700"/>
                </a:lnTo>
                <a:close/>
              </a:path>
              <a:path w="76200" h="304800">
                <a:moveTo>
                  <a:pt x="39624" y="0"/>
                </a:moveTo>
                <a:lnTo>
                  <a:pt x="39624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7981" y="2667761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228600"/>
                </a:moveTo>
                <a:lnTo>
                  <a:pt x="990600" y="228600"/>
                </a:lnTo>
              </a:path>
              <a:path w="990600" h="228600">
                <a:moveTo>
                  <a:pt x="982980" y="0"/>
                </a:moveTo>
                <a:lnTo>
                  <a:pt x="98298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3540" y="2588132"/>
            <a:ext cx="2129155" cy="69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>
              <a:lnSpc>
                <a:spcPts val="1905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Clear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ts val="3345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Arial"/>
                <a:cs typeface="Arial"/>
              </a:rPr>
              <a:t>Truth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61338" y="25915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10362" y="1281683"/>
          <a:ext cx="2063750" cy="130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555">
                <a:tc>
                  <a:txBody>
                    <a:bodyPr/>
                    <a:lstStyle/>
                    <a:p>
                      <a:pPr marR="9525" algn="r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42545" marR="45085" indent="9525">
                        <a:lnSpc>
                          <a:spcPts val="2980"/>
                        </a:lnSpc>
                        <a:spcBef>
                          <a:spcPts val="130"/>
                        </a:spcBef>
                        <a:tabLst>
                          <a:tab pos="299720" algn="l"/>
                          <a:tab pos="702945" algn="l"/>
                        </a:tabLst>
                      </a:pPr>
                      <a:r>
                        <a:rPr sz="2400" b="1" baseline="-10416" dirty="0">
                          <a:latin typeface="Arial"/>
                          <a:cs typeface="Arial"/>
                        </a:rPr>
                        <a:t>J	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F	</a:t>
                      </a:r>
                      <a:r>
                        <a:rPr sz="2400" b="1" baseline="-10416" dirty="0">
                          <a:latin typeface="Arial"/>
                          <a:cs typeface="Arial"/>
                        </a:rPr>
                        <a:t>Q 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CLK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ts val="1855"/>
                        </a:lnSpc>
                      </a:pPr>
                      <a:r>
                        <a:rPr sz="2400" b="1" spc="-7" baseline="26041" dirty="0">
                          <a:latin typeface="Arial"/>
                          <a:cs typeface="Arial"/>
                        </a:rPr>
                        <a:t>K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CLR</a:t>
                      </a:r>
                      <a:r>
                        <a:rPr sz="1600" b="1" spc="-3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7" baseline="26041" dirty="0">
                          <a:latin typeface="Arial"/>
                          <a:cs typeface="Arial"/>
                        </a:rPr>
                        <a:t>Q</a:t>
                      </a:r>
                      <a:endParaRPr sz="2400" baseline="26041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20955">
                        <a:lnSpc>
                          <a:spcPts val="186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Norm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R="19685" algn="r">
                        <a:lnSpc>
                          <a:spcPts val="1860"/>
                        </a:lnSpc>
                        <a:spcBef>
                          <a:spcPts val="81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ck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762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Comp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9525" algn="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Data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6979157" y="406374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8956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26229" y="5206746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80" y="0"/>
                </a:moveTo>
                <a:lnTo>
                  <a:pt x="144780" y="152399"/>
                </a:lnTo>
              </a:path>
              <a:path w="441960" h="152400">
                <a:moveTo>
                  <a:pt x="0" y="152399"/>
                </a:moveTo>
                <a:lnTo>
                  <a:pt x="152400" y="152399"/>
                </a:lnTo>
              </a:path>
              <a:path w="441960" h="152400">
                <a:moveTo>
                  <a:pt x="289560" y="152399"/>
                </a:moveTo>
                <a:lnTo>
                  <a:pt x="441960" y="152399"/>
                </a:lnTo>
              </a:path>
              <a:path w="441960" h="152400">
                <a:moveTo>
                  <a:pt x="297180" y="0"/>
                </a:moveTo>
                <a:lnTo>
                  <a:pt x="297180" y="152399"/>
                </a:lnTo>
              </a:path>
              <a:path w="441960" h="152400">
                <a:moveTo>
                  <a:pt x="144780" y="12191"/>
                </a:moveTo>
                <a:lnTo>
                  <a:pt x="297180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15561" y="54871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79" y="0"/>
                </a:moveTo>
                <a:lnTo>
                  <a:pt x="144779" y="152400"/>
                </a:lnTo>
              </a:path>
              <a:path w="441960" h="152400">
                <a:moveTo>
                  <a:pt x="0" y="152400"/>
                </a:moveTo>
                <a:lnTo>
                  <a:pt x="152400" y="152400"/>
                </a:lnTo>
              </a:path>
              <a:path w="441960" h="152400">
                <a:moveTo>
                  <a:pt x="289560" y="152400"/>
                </a:moveTo>
                <a:lnTo>
                  <a:pt x="441960" y="152400"/>
                </a:lnTo>
              </a:path>
              <a:path w="441960" h="152400">
                <a:moveTo>
                  <a:pt x="297179" y="0"/>
                </a:moveTo>
                <a:lnTo>
                  <a:pt x="297179" y="152400"/>
                </a:lnTo>
              </a:path>
              <a:path w="441960" h="152400">
                <a:moveTo>
                  <a:pt x="144779" y="12191"/>
                </a:moveTo>
                <a:lnTo>
                  <a:pt x="297179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15561" y="5747765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79" y="0"/>
                </a:moveTo>
                <a:lnTo>
                  <a:pt x="144779" y="152400"/>
                </a:lnTo>
              </a:path>
              <a:path w="441960" h="152400">
                <a:moveTo>
                  <a:pt x="0" y="152400"/>
                </a:moveTo>
                <a:lnTo>
                  <a:pt x="152400" y="152400"/>
                </a:lnTo>
              </a:path>
              <a:path w="441960" h="152400">
                <a:moveTo>
                  <a:pt x="289560" y="152400"/>
                </a:moveTo>
                <a:lnTo>
                  <a:pt x="441960" y="152400"/>
                </a:lnTo>
              </a:path>
              <a:path w="441960" h="152400">
                <a:moveTo>
                  <a:pt x="297179" y="0"/>
                </a:moveTo>
                <a:lnTo>
                  <a:pt x="297179" y="152400"/>
                </a:lnTo>
              </a:path>
              <a:path w="441960" h="152400">
                <a:moveTo>
                  <a:pt x="144779" y="12192"/>
                </a:moveTo>
                <a:lnTo>
                  <a:pt x="297179" y="1219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15561" y="6020561"/>
            <a:ext cx="441959" cy="152400"/>
          </a:xfrm>
          <a:custGeom>
            <a:avLst/>
            <a:gdLst/>
            <a:ahLst/>
            <a:cxnLst/>
            <a:rect l="l" t="t" r="r" b="b"/>
            <a:pathLst>
              <a:path w="441960" h="152400">
                <a:moveTo>
                  <a:pt x="144779" y="0"/>
                </a:moveTo>
                <a:lnTo>
                  <a:pt x="144779" y="152400"/>
                </a:lnTo>
              </a:path>
              <a:path w="441960" h="152400">
                <a:moveTo>
                  <a:pt x="0" y="152400"/>
                </a:moveTo>
                <a:lnTo>
                  <a:pt x="152400" y="152400"/>
                </a:lnTo>
              </a:path>
              <a:path w="441960" h="152400">
                <a:moveTo>
                  <a:pt x="289560" y="152400"/>
                </a:moveTo>
                <a:lnTo>
                  <a:pt x="441960" y="152400"/>
                </a:lnTo>
              </a:path>
              <a:path w="441960" h="152400">
                <a:moveTo>
                  <a:pt x="297179" y="0"/>
                </a:moveTo>
                <a:lnTo>
                  <a:pt x="297179" y="152400"/>
                </a:lnTo>
              </a:path>
              <a:path w="441960" h="152400">
                <a:moveTo>
                  <a:pt x="144779" y="12191"/>
                </a:moveTo>
                <a:lnTo>
                  <a:pt x="297179" y="1219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77917" y="175336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713" y="483234"/>
            <a:ext cx="4592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J-K Flip </a:t>
            </a:r>
            <a:r>
              <a:rPr sz="4400" b="0" spc="-5" dirty="0">
                <a:latin typeface="Arial"/>
                <a:cs typeface="Arial"/>
              </a:rPr>
              <a:t>Flop</a:t>
            </a:r>
            <a:r>
              <a:rPr sz="4400" b="0" spc="-70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Uses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8071484" cy="2660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353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6235" algn="l"/>
                <a:tab pos="2301875" algn="l"/>
                <a:tab pos="3208655" algn="l"/>
                <a:tab pos="4365625" algn="l"/>
                <a:tab pos="5342890" algn="l"/>
                <a:tab pos="6002655" algn="l"/>
                <a:tab pos="7719059" algn="l"/>
              </a:tabLst>
            </a:pPr>
            <a:r>
              <a:rPr sz="3200" dirty="0">
                <a:latin typeface="Arial"/>
                <a:cs typeface="Arial"/>
              </a:rPr>
              <a:t>Unive</a:t>
            </a:r>
            <a:r>
              <a:rPr sz="3200" spc="-20" dirty="0">
                <a:latin typeface="Arial"/>
                <a:cs typeface="Arial"/>
              </a:rPr>
              <a:t>r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15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l	Flip	Fl</a:t>
            </a:r>
            <a:r>
              <a:rPr sz="3200" spc="-10" dirty="0">
                <a:latin typeface="Arial"/>
                <a:cs typeface="Arial"/>
              </a:rPr>
              <a:t>op</a:t>
            </a:r>
            <a:r>
              <a:rPr sz="3200" dirty="0">
                <a:latin typeface="Arial"/>
                <a:cs typeface="Arial"/>
              </a:rPr>
              <a:t>.	H</a:t>
            </a:r>
            <a:r>
              <a:rPr sz="3200" spc="-20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s	all	</a:t>
            </a:r>
            <a:r>
              <a:rPr sz="3200" spc="-20" dirty="0">
                <a:latin typeface="Arial"/>
                <a:cs typeface="Arial"/>
              </a:rPr>
              <a:t>f</a:t>
            </a:r>
            <a:r>
              <a:rPr sz="3200" dirty="0">
                <a:latin typeface="Arial"/>
                <a:cs typeface="Arial"/>
              </a:rPr>
              <a:t>eat</a:t>
            </a:r>
            <a:r>
              <a:rPr sz="3200" spc="-15" dirty="0">
                <a:latin typeface="Arial"/>
                <a:cs typeface="Arial"/>
              </a:rPr>
              <a:t>u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15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	</a:t>
            </a:r>
            <a:r>
              <a:rPr sz="3200" spc="-10" dirty="0">
                <a:latin typeface="Arial"/>
                <a:cs typeface="Arial"/>
              </a:rPr>
              <a:t>of  </a:t>
            </a:r>
            <a:r>
              <a:rPr sz="3200" spc="-5" dirty="0">
                <a:latin typeface="Arial"/>
                <a:cs typeface="Arial"/>
              </a:rPr>
              <a:t>other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FF.</a:t>
            </a:r>
            <a:endParaRPr sz="32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Wingdings"/>
              <a:buChar char=""/>
              <a:tabLst>
                <a:tab pos="356235" algn="l"/>
              </a:tabLst>
            </a:pPr>
            <a:r>
              <a:rPr sz="3200" spc="-5" dirty="0">
                <a:latin typeface="Arial"/>
                <a:cs typeface="Arial"/>
              </a:rPr>
              <a:t>When being used only in the toggle </a:t>
            </a:r>
            <a:r>
              <a:rPr sz="3200" spc="-10" dirty="0">
                <a:latin typeface="Arial"/>
                <a:cs typeface="Arial"/>
              </a:rPr>
              <a:t>mode,  </a:t>
            </a:r>
            <a:r>
              <a:rPr sz="3200" spc="-5" dirty="0">
                <a:latin typeface="Arial"/>
                <a:cs typeface="Arial"/>
              </a:rPr>
              <a:t>commonly called </a:t>
            </a:r>
            <a:r>
              <a:rPr sz="3200" dirty="0">
                <a:latin typeface="Arial"/>
                <a:cs typeface="Arial"/>
              </a:rPr>
              <a:t>a T Flip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Flop.</a:t>
            </a:r>
            <a:endParaRPr sz="32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Wingdings"/>
              <a:buChar char=""/>
              <a:tabLst>
                <a:tab pos="356235" algn="l"/>
              </a:tabLst>
            </a:pPr>
            <a:r>
              <a:rPr sz="3200" spc="-5" dirty="0">
                <a:latin typeface="Arial"/>
                <a:cs typeface="Arial"/>
              </a:rPr>
              <a:t>Most commonly </a:t>
            </a:r>
            <a:r>
              <a:rPr sz="3200" dirty="0">
                <a:latin typeface="Arial"/>
                <a:cs typeface="Arial"/>
              </a:rPr>
              <a:t>used </a:t>
            </a:r>
            <a:r>
              <a:rPr sz="3200" spc="-5" dirty="0">
                <a:latin typeface="Arial"/>
                <a:cs typeface="Arial"/>
              </a:rPr>
              <a:t>as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counters.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6113" y="301193"/>
            <a:ext cx="5811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5" dirty="0">
                <a:latin typeface="Arial"/>
                <a:cs typeface="Arial"/>
              </a:rPr>
              <a:t>JK Flip-Flop from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D-Latch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57782"/>
            <a:ext cx="77019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"/>
                <a:cs typeface="Arial"/>
              </a:rPr>
              <a:t>Same </a:t>
            </a:r>
            <a:r>
              <a:rPr sz="3200" spc="-10" dirty="0">
                <a:latin typeface="Arial"/>
                <a:cs typeface="Arial"/>
              </a:rPr>
              <a:t>as </a:t>
            </a:r>
            <a:r>
              <a:rPr sz="3200" spc="-5" dirty="0">
                <a:latin typeface="Arial"/>
                <a:cs typeface="Arial"/>
              </a:rPr>
              <a:t>RS-Latch except “toggle” on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600" y="2634995"/>
            <a:ext cx="990600" cy="1219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Latch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5837" y="2096833"/>
            <a:ext cx="6791325" cy="1685925"/>
            <a:chOff x="985837" y="2096833"/>
            <a:chExt cx="6791325" cy="1685925"/>
          </a:xfrm>
        </p:grpSpPr>
        <p:sp>
          <p:nvSpPr>
            <p:cNvPr id="6" name="object 6"/>
            <p:cNvSpPr/>
            <p:nvPr/>
          </p:nvSpPr>
          <p:spPr>
            <a:xfrm>
              <a:off x="5562600" y="358139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81600" y="2939795"/>
              <a:ext cx="381000" cy="718185"/>
            </a:xfrm>
            <a:custGeom>
              <a:avLst/>
              <a:gdLst/>
              <a:ahLst/>
              <a:cxnLst/>
              <a:rect l="l" t="t" r="r" b="b"/>
              <a:pathLst>
                <a:path w="381000" h="718185">
                  <a:moveTo>
                    <a:pt x="152400" y="717803"/>
                  </a:moveTo>
                  <a:lnTo>
                    <a:pt x="381000" y="717803"/>
                  </a:lnTo>
                </a:path>
                <a:path w="381000" h="71818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600" y="2787395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143000" y="152400"/>
                  </a:moveTo>
                  <a:lnTo>
                    <a:pt x="1524000" y="152400"/>
                  </a:lnTo>
                </a:path>
                <a:path w="1524000" h="304800">
                  <a:moveTo>
                    <a:pt x="0" y="304800"/>
                  </a:moveTo>
                  <a:lnTo>
                    <a:pt x="533400" y="304800"/>
                  </a:lnTo>
                </a:path>
                <a:path w="1524000" h="3048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8600" y="2634995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2634995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0600" y="2253995"/>
              <a:ext cx="2667000" cy="304800"/>
            </a:xfrm>
            <a:custGeom>
              <a:avLst/>
              <a:gdLst/>
              <a:ahLst/>
              <a:cxnLst/>
              <a:rect l="l" t="t" r="r" b="b"/>
              <a:pathLst>
                <a:path w="2667000" h="304800">
                  <a:moveTo>
                    <a:pt x="2286000" y="152400"/>
                  </a:moveTo>
                  <a:lnTo>
                    <a:pt x="2667000" y="152400"/>
                  </a:lnTo>
                </a:path>
                <a:path w="2667000" h="304800">
                  <a:moveTo>
                    <a:pt x="0" y="304800"/>
                  </a:moveTo>
                  <a:lnTo>
                    <a:pt x="1524000" y="304800"/>
                  </a:lnTo>
                </a:path>
                <a:path w="2667000" h="304800">
                  <a:moveTo>
                    <a:pt x="1143000" y="0"/>
                  </a:moveTo>
                  <a:lnTo>
                    <a:pt x="1524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4600" y="2101595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7600" y="2406395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33600" y="3320795"/>
              <a:ext cx="1524000" cy="304800"/>
            </a:xfrm>
            <a:custGeom>
              <a:avLst/>
              <a:gdLst/>
              <a:ahLst/>
              <a:cxnLst/>
              <a:rect l="l" t="t" r="r" b="b"/>
              <a:pathLst>
                <a:path w="1524000" h="304800">
                  <a:moveTo>
                    <a:pt x="1143000" y="152400"/>
                  </a:moveTo>
                  <a:lnTo>
                    <a:pt x="1524000" y="152400"/>
                  </a:lnTo>
                </a:path>
                <a:path w="1524000" h="304800">
                  <a:moveTo>
                    <a:pt x="0" y="304799"/>
                  </a:moveTo>
                  <a:lnTo>
                    <a:pt x="381000" y="304799"/>
                  </a:lnTo>
                </a:path>
                <a:path w="1524000" h="3048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4600" y="3168395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381000" y="0"/>
                  </a:lnTo>
                  <a:lnTo>
                    <a:pt x="432703" y="2783"/>
                  </a:lnTo>
                  <a:lnTo>
                    <a:pt x="482291" y="10892"/>
                  </a:lnTo>
                  <a:lnTo>
                    <a:pt x="529310" y="23961"/>
                  </a:lnTo>
                  <a:lnTo>
                    <a:pt x="573306" y="41627"/>
                  </a:lnTo>
                  <a:lnTo>
                    <a:pt x="613825" y="63527"/>
                  </a:lnTo>
                  <a:lnTo>
                    <a:pt x="650414" y="89296"/>
                  </a:lnTo>
                  <a:lnTo>
                    <a:pt x="682619" y="118571"/>
                  </a:lnTo>
                  <a:lnTo>
                    <a:pt x="709986" y="150988"/>
                  </a:lnTo>
                  <a:lnTo>
                    <a:pt x="732061" y="186183"/>
                  </a:lnTo>
                  <a:lnTo>
                    <a:pt x="748391" y="223793"/>
                  </a:lnTo>
                  <a:lnTo>
                    <a:pt x="758522" y="263453"/>
                  </a:lnTo>
                  <a:lnTo>
                    <a:pt x="762000" y="304800"/>
                  </a:lnTo>
                  <a:lnTo>
                    <a:pt x="758522" y="346146"/>
                  </a:lnTo>
                  <a:lnTo>
                    <a:pt x="748391" y="385806"/>
                  </a:lnTo>
                  <a:lnTo>
                    <a:pt x="732061" y="423416"/>
                  </a:lnTo>
                  <a:lnTo>
                    <a:pt x="709986" y="458611"/>
                  </a:lnTo>
                  <a:lnTo>
                    <a:pt x="682619" y="491028"/>
                  </a:lnTo>
                  <a:lnTo>
                    <a:pt x="650414" y="520303"/>
                  </a:lnTo>
                  <a:lnTo>
                    <a:pt x="613825" y="546072"/>
                  </a:lnTo>
                  <a:lnTo>
                    <a:pt x="573306" y="567972"/>
                  </a:lnTo>
                  <a:lnTo>
                    <a:pt x="529310" y="585638"/>
                  </a:lnTo>
                  <a:lnTo>
                    <a:pt x="482291" y="598707"/>
                  </a:lnTo>
                  <a:lnTo>
                    <a:pt x="432703" y="606816"/>
                  </a:lnTo>
                  <a:lnTo>
                    <a:pt x="381000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600" y="3092195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53200" y="2939795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53200" y="365759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42340" y="3843909"/>
            <a:ext cx="367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2409" y="2789681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5733" y="3462909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90600" y="1595627"/>
            <a:ext cx="6482080" cy="2905125"/>
            <a:chOff x="990600" y="1595627"/>
            <a:chExt cx="6482080" cy="2905125"/>
          </a:xfrm>
        </p:grpSpPr>
        <p:sp>
          <p:nvSpPr>
            <p:cNvPr id="23" name="object 23"/>
            <p:cNvSpPr/>
            <p:nvPr/>
          </p:nvSpPr>
          <p:spPr>
            <a:xfrm>
              <a:off x="990600" y="1872995"/>
              <a:ext cx="5943600" cy="2362200"/>
            </a:xfrm>
            <a:custGeom>
              <a:avLst/>
              <a:gdLst/>
              <a:ahLst/>
              <a:cxnLst/>
              <a:rect l="l" t="t" r="r" b="b"/>
              <a:pathLst>
                <a:path w="5943600" h="2362200">
                  <a:moveTo>
                    <a:pt x="5791200" y="1066800"/>
                  </a:moveTo>
                  <a:lnTo>
                    <a:pt x="5791200" y="2362199"/>
                  </a:lnTo>
                </a:path>
                <a:path w="5943600" h="2362200">
                  <a:moveTo>
                    <a:pt x="5943600" y="0"/>
                  </a:moveTo>
                  <a:lnTo>
                    <a:pt x="5943600" y="1784603"/>
                  </a:lnTo>
                </a:path>
                <a:path w="5943600" h="2362200">
                  <a:moveTo>
                    <a:pt x="5943600" y="0"/>
                  </a:moveTo>
                  <a:lnTo>
                    <a:pt x="1143000" y="0"/>
                  </a:lnTo>
                </a:path>
                <a:path w="5943600" h="2362200">
                  <a:moveTo>
                    <a:pt x="1143000" y="0"/>
                  </a:moveTo>
                  <a:lnTo>
                    <a:pt x="1143000" y="381000"/>
                  </a:lnTo>
                </a:path>
                <a:path w="5943600" h="2362200">
                  <a:moveTo>
                    <a:pt x="5791200" y="2362199"/>
                  </a:moveTo>
                  <a:lnTo>
                    <a:pt x="1143000" y="2362199"/>
                  </a:lnTo>
                </a:path>
                <a:path w="5943600" h="2362200">
                  <a:moveTo>
                    <a:pt x="1143000" y="1752599"/>
                  </a:moveTo>
                  <a:lnTo>
                    <a:pt x="1143000" y="2362199"/>
                  </a:lnTo>
                </a:path>
                <a:path w="5943600" h="2362200">
                  <a:moveTo>
                    <a:pt x="0" y="1447800"/>
                  </a:moveTo>
                  <a:lnTo>
                    <a:pt x="1524000" y="1447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6400" y="30921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0" y="457200"/>
                  </a:lnTo>
                  <a:lnTo>
                    <a:pt x="45720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76400" y="30921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2286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29027" y="3240023"/>
              <a:ext cx="161544" cy="161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1028" y="2859024"/>
              <a:ext cx="128016" cy="1280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34784" y="35052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9200" y="1600199"/>
              <a:ext cx="6248400" cy="2895600"/>
            </a:xfrm>
            <a:custGeom>
              <a:avLst/>
              <a:gdLst/>
              <a:ahLst/>
              <a:cxnLst/>
              <a:rect l="l" t="t" r="r" b="b"/>
              <a:pathLst>
                <a:path w="6248400" h="2895600">
                  <a:moveTo>
                    <a:pt x="0" y="2895600"/>
                  </a:moveTo>
                  <a:lnTo>
                    <a:pt x="6248400" y="2895600"/>
                  </a:lnTo>
                  <a:lnTo>
                    <a:pt x="6248400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90600" y="3657600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0" y="304800"/>
                  </a:moveTo>
                  <a:lnTo>
                    <a:pt x="4343400" y="304800"/>
                  </a:lnTo>
                </a:path>
                <a:path w="4343400" h="304800">
                  <a:moveTo>
                    <a:pt x="4343400" y="0"/>
                  </a:moveTo>
                  <a:lnTo>
                    <a:pt x="43434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64540" y="2364104"/>
            <a:ext cx="109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J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9792" y="3126104"/>
            <a:ext cx="144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K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90600" y="5373623"/>
            <a:ext cx="386080" cy="161925"/>
            <a:chOff x="990600" y="5373623"/>
            <a:chExt cx="386080" cy="161925"/>
          </a:xfrm>
        </p:grpSpPr>
        <p:sp>
          <p:nvSpPr>
            <p:cNvPr id="34" name="object 34"/>
            <p:cNvSpPr/>
            <p:nvPr/>
          </p:nvSpPr>
          <p:spPr>
            <a:xfrm>
              <a:off x="1219200" y="537819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1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0600" y="5454395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37463" y="5336540"/>
            <a:ext cx="367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90600" y="499719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90600" y="591159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219200" y="4844796"/>
            <a:ext cx="990600" cy="1219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365"/>
              </a:spcBef>
              <a:tabLst>
                <a:tab pos="572770" algn="l"/>
              </a:tabLst>
            </a:pPr>
            <a:r>
              <a:rPr sz="1600" spc="-5" dirty="0">
                <a:latin typeface="Tahoma"/>
                <a:cs typeface="Tahoma"/>
              </a:rPr>
              <a:t>J	Q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60"/>
              </a:spcBef>
            </a:pPr>
            <a:r>
              <a:rPr sz="1600" spc="-25" dirty="0">
                <a:latin typeface="Tahoma"/>
                <a:cs typeface="Tahoma"/>
              </a:rPr>
              <a:t>JK-FF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Tahoma"/>
              <a:cs typeface="Tahoma"/>
            </a:endParaRPr>
          </a:p>
          <a:p>
            <a:pPr marL="92710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209800" y="499719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272028" y="4796028"/>
          <a:ext cx="2590164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CLK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J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K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Q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X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X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Toggle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680" y="283210"/>
            <a:ext cx="5104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Toggle </a:t>
            </a:r>
            <a:r>
              <a:rPr sz="2800" spc="-5" dirty="0"/>
              <a:t>Flip-Flop from</a:t>
            </a:r>
            <a:r>
              <a:rPr sz="2800" spc="70" dirty="0"/>
              <a:t> </a:t>
            </a:r>
            <a:r>
              <a:rPr sz="2800" spc="-5" dirty="0"/>
              <a:t>D-Latch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07340" y="630682"/>
            <a:ext cx="789495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Toggles </a:t>
            </a:r>
            <a:r>
              <a:rPr sz="3200" dirty="0">
                <a:latin typeface="Arial"/>
                <a:cs typeface="Arial"/>
              </a:rPr>
              <a:t>stored value if T = 1 </a:t>
            </a:r>
            <a:r>
              <a:rPr sz="3200" spc="-5" dirty="0">
                <a:latin typeface="Arial"/>
                <a:cs typeface="Arial"/>
              </a:rPr>
              <a:t>when </a:t>
            </a:r>
            <a:r>
              <a:rPr sz="3200" dirty="0">
                <a:latin typeface="Arial"/>
                <a:cs typeface="Arial"/>
              </a:rPr>
              <a:t>CLK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  </a:t>
            </a:r>
            <a:r>
              <a:rPr sz="3200" spc="-5" dirty="0">
                <a:latin typeface="Arial"/>
                <a:cs typeface="Arial"/>
              </a:rPr>
              <a:t>high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9600" y="2330195"/>
            <a:ext cx="990600" cy="12192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latin typeface="Tahoma"/>
                <a:cs typeface="Tahoma"/>
              </a:rPr>
              <a:t>D</a:t>
            </a:r>
            <a:endParaRPr sz="16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600" spc="-10" dirty="0">
                <a:latin typeface="Tahoma"/>
                <a:cs typeface="Tahoma"/>
              </a:rPr>
              <a:t>Latch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4600" y="1671827"/>
            <a:ext cx="3733800" cy="2066925"/>
            <a:chOff x="2514600" y="1671827"/>
            <a:chExt cx="3733800" cy="2066925"/>
          </a:xfrm>
        </p:grpSpPr>
        <p:sp>
          <p:nvSpPr>
            <p:cNvPr id="6" name="object 6"/>
            <p:cNvSpPr/>
            <p:nvPr/>
          </p:nvSpPr>
          <p:spPr>
            <a:xfrm>
              <a:off x="4419600" y="3276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4600" y="2438400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914400"/>
                  </a:moveTo>
                  <a:lnTo>
                    <a:pt x="1905000" y="914400"/>
                  </a:lnTo>
                </a:path>
                <a:path w="1905000" h="914400">
                  <a:moveTo>
                    <a:pt x="1524000" y="213360"/>
                  </a:moveTo>
                  <a:lnTo>
                    <a:pt x="1905000" y="213360"/>
                  </a:lnTo>
                </a:path>
                <a:path w="1905000" h="914400">
                  <a:moveTo>
                    <a:pt x="1143000" y="196596"/>
                  </a:moveTo>
                  <a:lnTo>
                    <a:pt x="1524000" y="196596"/>
                  </a:lnTo>
                </a:path>
                <a:path w="1905000" h="914400">
                  <a:moveTo>
                    <a:pt x="0" y="381000"/>
                  </a:moveTo>
                  <a:lnTo>
                    <a:pt x="914400" y="381000"/>
                  </a:lnTo>
                </a:path>
                <a:path w="1905000" h="914400">
                  <a:moveTo>
                    <a:pt x="533400" y="0"/>
                  </a:moveTo>
                  <a:lnTo>
                    <a:pt x="10668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234695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800" y="2346959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609600"/>
                  </a:moveTo>
                  <a:lnTo>
                    <a:pt x="65753" y="608480"/>
                  </a:lnTo>
                  <a:lnTo>
                    <a:pt x="129952" y="605183"/>
                  </a:lnTo>
                  <a:lnTo>
                    <a:pt x="192369" y="599801"/>
                  </a:lnTo>
                  <a:lnTo>
                    <a:pt x="252774" y="592424"/>
                  </a:lnTo>
                  <a:lnTo>
                    <a:pt x="310939" y="583145"/>
                  </a:lnTo>
                  <a:lnTo>
                    <a:pt x="366635" y="572055"/>
                  </a:lnTo>
                  <a:lnTo>
                    <a:pt x="419633" y="559246"/>
                  </a:lnTo>
                  <a:lnTo>
                    <a:pt x="469706" y="544809"/>
                  </a:lnTo>
                  <a:lnTo>
                    <a:pt x="516624" y="528836"/>
                  </a:lnTo>
                  <a:lnTo>
                    <a:pt x="560159" y="511419"/>
                  </a:lnTo>
                  <a:lnTo>
                    <a:pt x="600082" y="492650"/>
                  </a:lnTo>
                  <a:lnTo>
                    <a:pt x="636164" y="472619"/>
                  </a:lnTo>
                  <a:lnTo>
                    <a:pt x="668177" y="451420"/>
                  </a:lnTo>
                  <a:lnTo>
                    <a:pt x="719081" y="405879"/>
                  </a:lnTo>
                  <a:lnTo>
                    <a:pt x="750965" y="356761"/>
                  </a:lnTo>
                  <a:lnTo>
                    <a:pt x="762000" y="304800"/>
                  </a:lnTo>
                  <a:lnTo>
                    <a:pt x="759203" y="278509"/>
                  </a:lnTo>
                  <a:lnTo>
                    <a:pt x="737515" y="227877"/>
                  </a:lnTo>
                  <a:lnTo>
                    <a:pt x="695892" y="180457"/>
                  </a:lnTo>
                  <a:lnTo>
                    <a:pt x="636164" y="136980"/>
                  </a:lnTo>
                  <a:lnTo>
                    <a:pt x="600082" y="116949"/>
                  </a:lnTo>
                  <a:lnTo>
                    <a:pt x="560159" y="98180"/>
                  </a:lnTo>
                  <a:lnTo>
                    <a:pt x="516624" y="80763"/>
                  </a:lnTo>
                  <a:lnTo>
                    <a:pt x="469706" y="64790"/>
                  </a:lnTo>
                  <a:lnTo>
                    <a:pt x="419633" y="50353"/>
                  </a:lnTo>
                  <a:lnTo>
                    <a:pt x="366635" y="37544"/>
                  </a:lnTo>
                  <a:lnTo>
                    <a:pt x="310939" y="26454"/>
                  </a:lnTo>
                  <a:lnTo>
                    <a:pt x="252774" y="17175"/>
                  </a:lnTo>
                  <a:lnTo>
                    <a:pt x="192369" y="9798"/>
                  </a:lnTo>
                  <a:lnTo>
                    <a:pt x="129952" y="4416"/>
                  </a:lnTo>
                  <a:lnTo>
                    <a:pt x="65753" y="1119"/>
                  </a:lnTo>
                  <a:lnTo>
                    <a:pt x="0" y="0"/>
                  </a:lnTo>
                  <a:lnTo>
                    <a:pt x="29894" y="42784"/>
                  </a:lnTo>
                  <a:lnTo>
                    <a:pt x="55190" y="85919"/>
                  </a:lnTo>
                  <a:lnTo>
                    <a:pt x="75887" y="129345"/>
                  </a:lnTo>
                  <a:lnTo>
                    <a:pt x="91984" y="173005"/>
                  </a:lnTo>
                  <a:lnTo>
                    <a:pt x="103482" y="216839"/>
                  </a:lnTo>
                  <a:lnTo>
                    <a:pt x="110381" y="260790"/>
                  </a:lnTo>
                  <a:lnTo>
                    <a:pt x="112680" y="304799"/>
                  </a:lnTo>
                  <a:lnTo>
                    <a:pt x="110381" y="348809"/>
                  </a:lnTo>
                  <a:lnTo>
                    <a:pt x="103482" y="392760"/>
                  </a:lnTo>
                  <a:lnTo>
                    <a:pt x="91984" y="436594"/>
                  </a:lnTo>
                  <a:lnTo>
                    <a:pt x="75887" y="480254"/>
                  </a:lnTo>
                  <a:lnTo>
                    <a:pt x="55190" y="523680"/>
                  </a:lnTo>
                  <a:lnTo>
                    <a:pt x="29894" y="566815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10200" y="2590800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1905000"/>
              <a:ext cx="2590800" cy="685800"/>
            </a:xfrm>
            <a:custGeom>
              <a:avLst/>
              <a:gdLst/>
              <a:ahLst/>
              <a:cxnLst/>
              <a:rect l="l" t="t" r="r" b="b"/>
              <a:pathLst>
                <a:path w="2590800" h="685800">
                  <a:moveTo>
                    <a:pt x="2590800" y="0"/>
                  </a:moveTo>
                  <a:lnTo>
                    <a:pt x="2590800" y="685800"/>
                  </a:lnTo>
                </a:path>
                <a:path w="2590800" h="685800">
                  <a:moveTo>
                    <a:pt x="2590800" y="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8027" y="2510027"/>
              <a:ext cx="128016" cy="1280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1676399"/>
              <a:ext cx="2971800" cy="2057400"/>
            </a:xfrm>
            <a:custGeom>
              <a:avLst/>
              <a:gdLst/>
              <a:ahLst/>
              <a:cxnLst/>
              <a:rect l="l" t="t" r="r" b="b"/>
              <a:pathLst>
                <a:path w="2971800" h="2057400">
                  <a:moveTo>
                    <a:pt x="0" y="2057400"/>
                  </a:moveTo>
                  <a:lnTo>
                    <a:pt x="2971800" y="20574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8000" y="1905000"/>
              <a:ext cx="304800" cy="1051560"/>
            </a:xfrm>
            <a:custGeom>
              <a:avLst/>
              <a:gdLst/>
              <a:ahLst/>
              <a:cxnLst/>
              <a:rect l="l" t="t" r="r" b="b"/>
              <a:pathLst>
                <a:path w="304800" h="1051560">
                  <a:moveTo>
                    <a:pt x="0" y="0"/>
                  </a:moveTo>
                  <a:lnTo>
                    <a:pt x="0" y="533400"/>
                  </a:lnTo>
                </a:path>
                <a:path w="304800" h="1051560">
                  <a:moveTo>
                    <a:pt x="152400" y="441960"/>
                  </a:moveTo>
                  <a:lnTo>
                    <a:pt x="219436" y="468107"/>
                  </a:lnTo>
                  <a:lnTo>
                    <a:pt x="247732" y="498473"/>
                  </a:lnTo>
                  <a:lnTo>
                    <a:pt x="271329" y="538305"/>
                  </a:lnTo>
                  <a:lnTo>
                    <a:pt x="289315" y="586056"/>
                  </a:lnTo>
                  <a:lnTo>
                    <a:pt x="300776" y="640182"/>
                  </a:lnTo>
                  <a:lnTo>
                    <a:pt x="304800" y="699135"/>
                  </a:lnTo>
                  <a:lnTo>
                    <a:pt x="304800" y="794385"/>
                  </a:lnTo>
                  <a:lnTo>
                    <a:pt x="300776" y="853337"/>
                  </a:lnTo>
                  <a:lnTo>
                    <a:pt x="289315" y="907463"/>
                  </a:lnTo>
                  <a:lnTo>
                    <a:pt x="271329" y="955214"/>
                  </a:lnTo>
                  <a:lnTo>
                    <a:pt x="247732" y="995046"/>
                  </a:lnTo>
                  <a:lnTo>
                    <a:pt x="219436" y="1025412"/>
                  </a:lnTo>
                  <a:lnTo>
                    <a:pt x="187354" y="1044765"/>
                  </a:lnTo>
                  <a:lnTo>
                    <a:pt x="152400" y="105156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60194" y="3202000"/>
            <a:ext cx="36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8028" y="2395854"/>
            <a:ext cx="168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8794" y="2700654"/>
            <a:ext cx="1441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62237" y="4535233"/>
            <a:ext cx="1228725" cy="1228725"/>
            <a:chOff x="2662237" y="4535233"/>
            <a:chExt cx="1228725" cy="1228725"/>
          </a:xfrm>
        </p:grpSpPr>
        <p:sp>
          <p:nvSpPr>
            <p:cNvPr id="19" name="object 19"/>
            <p:cNvSpPr/>
            <p:nvPr/>
          </p:nvSpPr>
          <p:spPr>
            <a:xfrm>
              <a:off x="2895600" y="4539996"/>
              <a:ext cx="990600" cy="1219200"/>
            </a:xfrm>
            <a:custGeom>
              <a:avLst/>
              <a:gdLst/>
              <a:ahLst/>
              <a:cxnLst/>
              <a:rect l="l" t="t" r="r" b="b"/>
              <a:pathLst>
                <a:path w="990600" h="1219200">
                  <a:moveTo>
                    <a:pt x="0" y="1219199"/>
                  </a:moveTo>
                  <a:lnTo>
                    <a:pt x="990600" y="1219199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121919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5600" y="545439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199"/>
                  </a:lnTo>
                  <a:lnTo>
                    <a:pt x="0" y="152399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67000" y="553059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14117" y="5016500"/>
            <a:ext cx="138430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latin typeface="Tahoma"/>
                <a:cs typeface="Tahoma"/>
              </a:rPr>
              <a:t>T</a:t>
            </a:r>
            <a:r>
              <a:rPr sz="1600" spc="-10" dirty="0">
                <a:latin typeface="Tahoma"/>
                <a:cs typeface="Tahoma"/>
              </a:rPr>
              <a:t>-FF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latin typeface="Tahoma"/>
                <a:cs typeface="Tahoma"/>
              </a:rPr>
              <a:t>CLK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67000" y="472440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228600" y="0"/>
                </a:lnTo>
              </a:path>
              <a:path w="1447800">
                <a:moveTo>
                  <a:pt x="1219200" y="0"/>
                </a:moveTo>
                <a:lnTo>
                  <a:pt x="14478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89198" y="4606290"/>
            <a:ext cx="131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97275" y="4606290"/>
            <a:ext cx="1562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ahoma"/>
                <a:cs typeface="Tahoma"/>
              </a:rPr>
              <a:t>Q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948428" y="4491228"/>
          <a:ext cx="25908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CLK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Q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24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X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0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6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change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Toggle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3809" y="1824355"/>
            <a:ext cx="151828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"/>
                <a:cs typeface="Arial"/>
              </a:rPr>
              <a:t>End  </a:t>
            </a:r>
            <a:r>
              <a:rPr sz="4400" b="0" spc="-5" dirty="0">
                <a:latin typeface="Arial"/>
                <a:cs typeface="Arial"/>
              </a:rPr>
              <a:t>of  </a:t>
            </a:r>
            <a:r>
              <a:rPr sz="4400" b="0" dirty="0">
                <a:latin typeface="Arial"/>
                <a:cs typeface="Arial"/>
              </a:rPr>
              <a:t>Uni</a:t>
            </a:r>
            <a:r>
              <a:rPr sz="4400" b="0" spc="5" dirty="0">
                <a:latin typeface="Arial"/>
                <a:cs typeface="Arial"/>
              </a:rPr>
              <a:t>t</a:t>
            </a:r>
            <a:r>
              <a:rPr sz="4400" b="0" spc="-5" dirty="0">
                <a:latin typeface="Arial"/>
                <a:cs typeface="Arial"/>
              </a:rPr>
              <a:t>-</a:t>
            </a:r>
            <a:r>
              <a:rPr sz="4400" b="0" dirty="0">
                <a:latin typeface="Arial"/>
                <a:cs typeface="Arial"/>
              </a:rPr>
              <a:t>3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</TotalTime>
  <Words>5474</Words>
  <Application>Microsoft Office PowerPoint</Application>
  <PresentationFormat>On-screen Show (4:3)</PresentationFormat>
  <Paragraphs>1514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Arial</vt:lpstr>
      <vt:lpstr>Calibri</vt:lpstr>
      <vt:lpstr>Tahoma</vt:lpstr>
      <vt:lpstr>Times New Roman</vt:lpstr>
      <vt:lpstr>Wingdings</vt:lpstr>
      <vt:lpstr>Office Theme</vt:lpstr>
      <vt:lpstr>Analog  and</vt:lpstr>
      <vt:lpstr>UNIT- 3</vt:lpstr>
      <vt:lpstr>Sequential Logic</vt:lpstr>
      <vt:lpstr>Sequential Logic</vt:lpstr>
      <vt:lpstr>Sequential Logic</vt:lpstr>
      <vt:lpstr>PowerPoint Presentation</vt:lpstr>
      <vt:lpstr>High Level Triggering</vt:lpstr>
      <vt:lpstr>Low Level Triggering</vt:lpstr>
      <vt:lpstr>Positive Edge Triggering</vt:lpstr>
      <vt:lpstr>Negative Edge Triggering</vt:lpstr>
      <vt:lpstr>Sequential Logic</vt:lpstr>
      <vt:lpstr>Sequential Logic</vt:lpstr>
      <vt:lpstr>Sequential Logic</vt:lpstr>
      <vt:lpstr>Sequential Logic</vt:lpstr>
      <vt:lpstr>Sequential Logic</vt:lpstr>
      <vt:lpstr>Sequential Logic</vt:lpstr>
      <vt:lpstr>Bistable- Flip Flops made with NORs</vt:lpstr>
      <vt:lpstr>Bistable- Flip Flops made with NANDs</vt:lpstr>
      <vt:lpstr>Sequential Logic</vt:lpstr>
      <vt:lpstr>Sequential Logic</vt:lpstr>
      <vt:lpstr>Sequential Logic</vt:lpstr>
      <vt:lpstr>Sequential Logic</vt:lpstr>
      <vt:lpstr>PowerPoint Presentation</vt:lpstr>
      <vt:lpstr>Sequential Logic</vt:lpstr>
      <vt:lpstr>Sequential Logic</vt:lpstr>
      <vt:lpstr>Sequential Logic</vt:lpstr>
      <vt:lpstr>J-K Flip-Flop</vt:lpstr>
      <vt:lpstr>J-K Flip-Flop</vt:lpstr>
      <vt:lpstr>J-K Flip-Flop</vt:lpstr>
      <vt:lpstr>Sequential Logic</vt:lpstr>
      <vt:lpstr>Master-Slave J-K Flip-Flop</vt:lpstr>
      <vt:lpstr>Master-Slave Flip-Flop</vt:lpstr>
      <vt:lpstr>Master-Slave Edge-Triggered Flip-Flop</vt:lpstr>
      <vt:lpstr>D-Type Flip-Flop</vt:lpstr>
      <vt:lpstr>Sequential Logic</vt:lpstr>
      <vt:lpstr>Sequential Logic</vt:lpstr>
      <vt:lpstr>Sequential Logic</vt:lpstr>
      <vt:lpstr>Sequential Logic</vt:lpstr>
      <vt:lpstr>PowerPoint Presentation</vt:lpstr>
      <vt:lpstr>PowerPoint Presentation</vt:lpstr>
      <vt:lpstr>Sequential Logic</vt:lpstr>
      <vt:lpstr>Sequential Logic</vt:lpstr>
      <vt:lpstr>Sequential Logic</vt:lpstr>
      <vt:lpstr>Sequential Logic</vt:lpstr>
      <vt:lpstr>Sequential Logic</vt:lpstr>
      <vt:lpstr>Summary of the Types of Flip-flop Behavior</vt:lpstr>
      <vt:lpstr>Sequential Logic</vt:lpstr>
      <vt:lpstr>Sequential Logic</vt:lpstr>
      <vt:lpstr>Sequential Logic</vt:lpstr>
      <vt:lpstr>Flip-Flop Conversion</vt:lpstr>
      <vt:lpstr>Clock Pulse Definition</vt:lpstr>
      <vt:lpstr>Sequential Logic</vt:lpstr>
      <vt:lpstr>Flip-flop</vt:lpstr>
      <vt:lpstr>Flip-flop</vt:lpstr>
      <vt:lpstr>Sequential Logic</vt:lpstr>
      <vt:lpstr>Sequential Logic</vt:lpstr>
      <vt:lpstr>Sequential Logic</vt:lpstr>
      <vt:lpstr>Basic shift register functions</vt:lpstr>
      <vt:lpstr>Serial in/serial out shift registers</vt:lpstr>
      <vt:lpstr>Serial in/serial out shift registers</vt:lpstr>
      <vt:lpstr>SISO Shift Register</vt:lpstr>
      <vt:lpstr>Example: Show the states of the 5-bit shift register for the  specified data input and clock waveforms. The register is  initially cleared.</vt:lpstr>
      <vt:lpstr>Serial in/parallel out shift  registers</vt:lpstr>
      <vt:lpstr>Shift Register</vt:lpstr>
      <vt:lpstr>Serial in/parallel out shift  registers</vt:lpstr>
      <vt:lpstr>Parallel In/Serial Out Shift</vt:lpstr>
      <vt:lpstr>Parallel In/Serial Out Shift  Registers 4-bit parallel in/serial out</vt:lpstr>
      <vt:lpstr>Parallel In/Parallel Out Shift  Registers</vt:lpstr>
      <vt:lpstr>Parallel In/Parallel Out Shift  Registers</vt:lpstr>
      <vt:lpstr>Bidirectional Shift Register</vt:lpstr>
      <vt:lpstr>Sequential Logic</vt:lpstr>
      <vt:lpstr>Sequential Logic</vt:lpstr>
      <vt:lpstr>PowerPoint Presentation</vt:lpstr>
      <vt:lpstr>Basic RS Flip-Flop (NAND)</vt:lpstr>
      <vt:lpstr>RS-Latch as Cross-Coupled NOR Gates</vt:lpstr>
      <vt:lpstr>Level-Sensitive RS-Latch</vt:lpstr>
      <vt:lpstr>Level-Sensitive D-Latch</vt:lpstr>
      <vt:lpstr>Master-Slave Edge-Triggered Flip-Flop</vt:lpstr>
      <vt:lpstr>R-S Flip Flop</vt:lpstr>
      <vt:lpstr>Clocked R-S Flip Flop</vt:lpstr>
      <vt:lpstr>Questions</vt:lpstr>
      <vt:lpstr>D Flip Flop</vt:lpstr>
      <vt:lpstr>7474 D Flip Flop</vt:lpstr>
      <vt:lpstr>D (Delay) Flip Flop Uses</vt:lpstr>
      <vt:lpstr>J-K Flip Flop</vt:lpstr>
      <vt:lpstr>7476 J-K Flip Flop</vt:lpstr>
      <vt:lpstr>J-K Flip Flop Uses</vt:lpstr>
      <vt:lpstr>JK Flip-Flop from D-Latch</vt:lpstr>
      <vt:lpstr>Toggle Flip-Flop from D-Latch</vt:lpstr>
      <vt:lpstr>End  of  Unit-3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viit</dc:creator>
  <cp:lastModifiedBy>admin</cp:lastModifiedBy>
  <cp:revision>21</cp:revision>
  <dcterms:created xsi:type="dcterms:W3CDTF">2020-07-13T14:30:43Z</dcterms:created>
  <dcterms:modified xsi:type="dcterms:W3CDTF">2020-09-30T04:16:28Z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2020-07-13T00:00:00Z</vt:filetime>
  </property>
</Properties>
</file>